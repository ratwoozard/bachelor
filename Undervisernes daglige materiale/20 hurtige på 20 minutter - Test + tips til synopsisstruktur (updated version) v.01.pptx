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256" r:id="rId2"/>
    <p:sldId id="268" r:id="rId3"/>
    <p:sldId id="604" r:id="rId4"/>
    <p:sldId id="600" r:id="rId5"/>
    <p:sldId id="601" r:id="rId6"/>
    <p:sldId id="602" r:id="rId7"/>
    <p:sldId id="603" r:id="rId8"/>
    <p:sldId id="556" r:id="rId9"/>
    <p:sldId id="305" r:id="rId10"/>
    <p:sldId id="595" r:id="rId11"/>
    <p:sldId id="484" r:id="rId12"/>
    <p:sldId id="486" r:id="rId13"/>
    <p:sldId id="485" r:id="rId14"/>
    <p:sldId id="487" r:id="rId15"/>
    <p:sldId id="507" r:id="rId16"/>
    <p:sldId id="506" r:id="rId17"/>
    <p:sldId id="945" r:id="rId18"/>
    <p:sldId id="502" r:id="rId19"/>
    <p:sldId id="508" r:id="rId20"/>
    <p:sldId id="509" r:id="rId21"/>
    <p:sldId id="950" r:id="rId22"/>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80540" autoAdjust="0"/>
  </p:normalViewPr>
  <p:slideViewPr>
    <p:cSldViewPr snapToGrid="0">
      <p:cViewPr varScale="1">
        <p:scale>
          <a:sx n="66" d="100"/>
          <a:sy n="66" d="100"/>
        </p:scale>
        <p:origin x="116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772657-4714-C64B-9D5A-B39D71A5CD45}" type="datetimeFigureOut">
              <a:rPr lang="da-DK" smtClean="0"/>
              <a:t>05-03-2026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6CA56F-1EBC-9941-B5BA-4E9972BCEAD0}" type="slidenum">
              <a:rPr lang="da-DK" smtClean="0"/>
              <a:t>‹nr.›</a:t>
            </a:fld>
            <a:endParaRPr lang="da-DK"/>
          </a:p>
        </p:txBody>
      </p:sp>
    </p:spTree>
    <p:extLst>
      <p:ext uri="{BB962C8B-B14F-4D97-AF65-F5344CB8AC3E}">
        <p14:creationId xmlns:p14="http://schemas.microsoft.com/office/powerpoint/2010/main" val="4045476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4820290F-6FB2-4B98-9C20-10E3E6C33B9D}" type="slidenum">
              <a:rPr lang="en-US" smtClean="0"/>
              <a:t>1</a:t>
            </a:fld>
            <a:endParaRPr lang="en-US"/>
          </a:p>
        </p:txBody>
      </p:sp>
    </p:spTree>
    <p:extLst>
      <p:ext uri="{BB962C8B-B14F-4D97-AF65-F5344CB8AC3E}">
        <p14:creationId xmlns:p14="http://schemas.microsoft.com/office/powerpoint/2010/main" val="3652216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936CA56F-1EBC-9941-B5BA-4E9972BCEAD0}" type="slidenum">
              <a:rPr lang="da-DK" smtClean="0"/>
              <a:t>3</a:t>
            </a:fld>
            <a:endParaRPr lang="da-DK"/>
          </a:p>
        </p:txBody>
      </p:sp>
    </p:spTree>
    <p:extLst>
      <p:ext uri="{BB962C8B-B14F-4D97-AF65-F5344CB8AC3E}">
        <p14:creationId xmlns:p14="http://schemas.microsoft.com/office/powerpoint/2010/main" val="3211445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146F1-5892-E2E0-6E50-FEA16DF3EBF2}"/>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D38A4E0C-3CBA-B464-D215-DBD99EB6E27C}"/>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DEFCC88A-5CAC-6390-966A-673F576C8A7C}"/>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B641B543-5079-FE2F-DE98-AE9F6C50A3A2}"/>
              </a:ext>
            </a:extLst>
          </p:cNvPr>
          <p:cNvSpPr>
            <a:spLocks noGrp="1"/>
          </p:cNvSpPr>
          <p:nvPr>
            <p:ph type="sldNum" sz="quarter" idx="5"/>
          </p:nvPr>
        </p:nvSpPr>
        <p:spPr/>
        <p:txBody>
          <a:bodyPr/>
          <a:lstStyle/>
          <a:p>
            <a:fld id="{4820290F-6FB2-4B98-9C20-10E3E6C33B9D}" type="slidenum">
              <a:rPr lang="en-US" smtClean="0"/>
              <a:t>4</a:t>
            </a:fld>
            <a:endParaRPr lang="en-US"/>
          </a:p>
        </p:txBody>
      </p:sp>
    </p:spTree>
    <p:extLst>
      <p:ext uri="{BB962C8B-B14F-4D97-AF65-F5344CB8AC3E}">
        <p14:creationId xmlns:p14="http://schemas.microsoft.com/office/powerpoint/2010/main" val="1072238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1959C-86AF-EEB5-ADB9-8B6DA508712E}"/>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D71D709B-8E0C-0C8B-4AD4-750502687994}"/>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4957A86A-59F4-0834-BF40-CF5617D3EB13}"/>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02B777DE-625E-37EF-80E0-BA5D31FA73C9}"/>
              </a:ext>
            </a:extLst>
          </p:cNvPr>
          <p:cNvSpPr>
            <a:spLocks noGrp="1"/>
          </p:cNvSpPr>
          <p:nvPr>
            <p:ph type="sldNum" sz="quarter" idx="5"/>
          </p:nvPr>
        </p:nvSpPr>
        <p:spPr/>
        <p:txBody>
          <a:bodyPr/>
          <a:lstStyle/>
          <a:p>
            <a:fld id="{4820290F-6FB2-4B98-9C20-10E3E6C33B9D}" type="slidenum">
              <a:rPr lang="en-US" smtClean="0"/>
              <a:t>5</a:t>
            </a:fld>
            <a:endParaRPr lang="en-US"/>
          </a:p>
        </p:txBody>
      </p:sp>
    </p:spTree>
    <p:extLst>
      <p:ext uri="{BB962C8B-B14F-4D97-AF65-F5344CB8AC3E}">
        <p14:creationId xmlns:p14="http://schemas.microsoft.com/office/powerpoint/2010/main" val="536612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CA504-31D0-2A79-24BB-ADD6A72E96BE}"/>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3A468801-5742-0B42-0EA0-9C5C7AE14AF9}"/>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1B71E712-8A37-CAE4-A6BB-1818DD486945}"/>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48EAF1E3-1D25-BFCC-925A-AD66142C4C56}"/>
              </a:ext>
            </a:extLst>
          </p:cNvPr>
          <p:cNvSpPr>
            <a:spLocks noGrp="1"/>
          </p:cNvSpPr>
          <p:nvPr>
            <p:ph type="sldNum" sz="quarter" idx="5"/>
          </p:nvPr>
        </p:nvSpPr>
        <p:spPr/>
        <p:txBody>
          <a:bodyPr/>
          <a:lstStyle/>
          <a:p>
            <a:fld id="{4820290F-6FB2-4B98-9C20-10E3E6C33B9D}" type="slidenum">
              <a:rPr lang="en-US" smtClean="0"/>
              <a:t>6</a:t>
            </a:fld>
            <a:endParaRPr lang="en-US"/>
          </a:p>
        </p:txBody>
      </p:sp>
    </p:spTree>
    <p:extLst>
      <p:ext uri="{BB962C8B-B14F-4D97-AF65-F5344CB8AC3E}">
        <p14:creationId xmlns:p14="http://schemas.microsoft.com/office/powerpoint/2010/main" val="632241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DBE0C-E566-57B9-2854-679AE6D64963}"/>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EBA6853B-9D61-7321-0E48-0C4A89C9C6A1}"/>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054C9AF0-4522-D86C-4E2C-6FF8F465E438}"/>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B1762936-5011-00CD-CA23-33D3EE00770D}"/>
              </a:ext>
            </a:extLst>
          </p:cNvPr>
          <p:cNvSpPr>
            <a:spLocks noGrp="1"/>
          </p:cNvSpPr>
          <p:nvPr>
            <p:ph type="sldNum" sz="quarter" idx="5"/>
          </p:nvPr>
        </p:nvSpPr>
        <p:spPr/>
        <p:txBody>
          <a:bodyPr/>
          <a:lstStyle/>
          <a:p>
            <a:fld id="{4820290F-6FB2-4B98-9C20-10E3E6C33B9D}" type="slidenum">
              <a:rPr lang="en-US" smtClean="0"/>
              <a:t>7</a:t>
            </a:fld>
            <a:endParaRPr lang="en-US"/>
          </a:p>
        </p:txBody>
      </p:sp>
    </p:spTree>
    <p:extLst>
      <p:ext uri="{BB962C8B-B14F-4D97-AF65-F5344CB8AC3E}">
        <p14:creationId xmlns:p14="http://schemas.microsoft.com/office/powerpoint/2010/main" val="3744800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en-US" dirty="0"/>
          </a:p>
        </p:txBody>
      </p:sp>
      <p:sp>
        <p:nvSpPr>
          <p:cNvPr id="4" name="Pladsholder til slidenummer 3"/>
          <p:cNvSpPr>
            <a:spLocks noGrp="1"/>
          </p:cNvSpPr>
          <p:nvPr>
            <p:ph type="sldNum" sz="quarter" idx="5"/>
          </p:nvPr>
        </p:nvSpPr>
        <p:spPr/>
        <p:txBody>
          <a:bodyPr/>
          <a:lstStyle/>
          <a:p>
            <a:fld id="{4820290F-6FB2-4B98-9C20-10E3E6C33B9D}" type="slidenum">
              <a:rPr lang="en-US" smtClean="0"/>
              <a:t>8</a:t>
            </a:fld>
            <a:endParaRPr lang="en-US"/>
          </a:p>
        </p:txBody>
      </p:sp>
    </p:spTree>
    <p:extLst>
      <p:ext uri="{BB962C8B-B14F-4D97-AF65-F5344CB8AC3E}">
        <p14:creationId xmlns:p14="http://schemas.microsoft.com/office/powerpoint/2010/main" val="2990211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en-US" dirty="0"/>
          </a:p>
        </p:txBody>
      </p:sp>
      <p:sp>
        <p:nvSpPr>
          <p:cNvPr id="4" name="Pladsholder til slidenummer 3"/>
          <p:cNvSpPr>
            <a:spLocks noGrp="1"/>
          </p:cNvSpPr>
          <p:nvPr>
            <p:ph type="sldNum" sz="quarter" idx="5"/>
          </p:nvPr>
        </p:nvSpPr>
        <p:spPr/>
        <p:txBody>
          <a:bodyPr/>
          <a:lstStyle/>
          <a:p>
            <a:fld id="{4820290F-6FB2-4B98-9C20-10E3E6C33B9D}" type="slidenum">
              <a:rPr lang="en-US" smtClean="0"/>
              <a:t>9</a:t>
            </a:fld>
            <a:endParaRPr lang="en-US"/>
          </a:p>
        </p:txBody>
      </p:sp>
    </p:spTree>
    <p:extLst>
      <p:ext uri="{BB962C8B-B14F-4D97-AF65-F5344CB8AC3E}">
        <p14:creationId xmlns:p14="http://schemas.microsoft.com/office/powerpoint/2010/main" val="1488001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11571-5744-8A06-FE88-DBB406BB4DFC}"/>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62ACC6EF-3C1A-BF3E-539C-D0CB8A19B3DA}"/>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35FB5589-1479-DD46-3598-5F65C8958F61}"/>
              </a:ext>
            </a:extLst>
          </p:cNvPr>
          <p:cNvSpPr>
            <a:spLocks noGrp="1"/>
          </p:cNvSpPr>
          <p:nvPr>
            <p:ph type="body" idx="1"/>
          </p:nvPr>
        </p:nvSpPr>
        <p:spPr/>
        <p:txBody>
          <a:bodyPr/>
          <a:lstStyle/>
          <a:p>
            <a:endParaRPr lang="da-DK" noProof="0" dirty="0"/>
          </a:p>
        </p:txBody>
      </p:sp>
      <p:sp>
        <p:nvSpPr>
          <p:cNvPr id="4" name="Pladsholder til slidenummer 3">
            <a:extLst>
              <a:ext uri="{FF2B5EF4-FFF2-40B4-BE49-F238E27FC236}">
                <a16:creationId xmlns:a16="http://schemas.microsoft.com/office/drawing/2014/main" id="{7C4D1EA7-A038-7459-45F8-209E9524A11D}"/>
              </a:ext>
            </a:extLst>
          </p:cNvPr>
          <p:cNvSpPr>
            <a:spLocks noGrp="1"/>
          </p:cNvSpPr>
          <p:nvPr>
            <p:ph type="sldNum" sz="quarter" idx="5"/>
          </p:nvPr>
        </p:nvSpPr>
        <p:spPr/>
        <p:txBody>
          <a:bodyPr/>
          <a:lstStyle/>
          <a:p>
            <a:fld id="{4820290F-6FB2-4B98-9C20-10E3E6C33B9D}" type="slidenum">
              <a:rPr lang="en-US" smtClean="0"/>
              <a:t>10</a:t>
            </a:fld>
            <a:endParaRPr lang="en-US"/>
          </a:p>
        </p:txBody>
      </p:sp>
    </p:spTree>
    <p:extLst>
      <p:ext uri="{BB962C8B-B14F-4D97-AF65-F5344CB8AC3E}">
        <p14:creationId xmlns:p14="http://schemas.microsoft.com/office/powerpoint/2010/main" val="3028784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8399E-B02E-3362-D185-5101C93D5359}"/>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913244A7-8E24-A8F4-052F-857BBC1F8308}"/>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EF6AA4F6-A335-C225-2DA8-75B02A829E63}"/>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CF5B74BB-03C6-8491-9DAC-CE88005AAAF5}"/>
              </a:ext>
            </a:extLst>
          </p:cNvPr>
          <p:cNvSpPr>
            <a:spLocks noGrp="1"/>
          </p:cNvSpPr>
          <p:nvPr>
            <p:ph type="sldNum" sz="quarter" idx="5"/>
          </p:nvPr>
        </p:nvSpPr>
        <p:spPr/>
        <p:txBody>
          <a:bodyPr/>
          <a:lstStyle/>
          <a:p>
            <a:fld id="{4820290F-6FB2-4B98-9C20-10E3E6C33B9D}" type="slidenum">
              <a:rPr lang="en-US" smtClean="0"/>
              <a:t>17</a:t>
            </a:fld>
            <a:endParaRPr lang="en-US"/>
          </a:p>
        </p:txBody>
      </p:sp>
    </p:spTree>
    <p:extLst>
      <p:ext uri="{BB962C8B-B14F-4D97-AF65-F5344CB8AC3E}">
        <p14:creationId xmlns:p14="http://schemas.microsoft.com/office/powerpoint/2010/main" val="2821120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a-DK"/>
          </a:p>
        </p:txBody>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4C4AF0F-EE0D-1845-93FB-EEFFFDCDA580}"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89155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da-DK"/>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a-DK"/>
          </a:p>
        </p:txBody>
      </p:sp>
      <p:sp>
        <p:nvSpPr>
          <p:cNvPr id="4" name="Date Placeholder 3"/>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5" name="Footer Placeholder 4"/>
          <p:cNvSpPr>
            <a:spLocks noGrp="1"/>
          </p:cNvSpPr>
          <p:nvPr>
            <p:ph type="ftr" sz="quarter" idx="11"/>
          </p:nvPr>
        </p:nvSpPr>
        <p:spPr/>
        <p:txBody>
          <a:bodyPr/>
          <a:lstStyle/>
          <a:p>
            <a:endParaRPr lang="da-DK">
              <a:solidFill>
                <a:prstClr val="black">
                  <a:tint val="75000"/>
                </a:prstClr>
              </a:solidFill>
            </a:endParaRPr>
          </a:p>
        </p:txBody>
      </p:sp>
      <p:sp>
        <p:nvSpPr>
          <p:cNvPr id="6" name="Slide Number Placeholder 5"/>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278094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a-DK"/>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5" name="Footer Placeholder 4"/>
          <p:cNvSpPr>
            <a:spLocks noGrp="1"/>
          </p:cNvSpPr>
          <p:nvPr>
            <p:ph type="ftr" sz="quarter" idx="11"/>
          </p:nvPr>
        </p:nvSpPr>
        <p:spPr/>
        <p:txBody>
          <a:bodyPr/>
          <a:lstStyle/>
          <a:p>
            <a:endParaRPr lang="da-DK">
              <a:solidFill>
                <a:prstClr val="black">
                  <a:tint val="75000"/>
                </a:prstClr>
              </a:solidFill>
            </a:endParaRPr>
          </a:p>
        </p:txBody>
      </p:sp>
      <p:sp>
        <p:nvSpPr>
          <p:cNvPr id="6" name="Slide Number Placeholder 5"/>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2686515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da-DK"/>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5" name="Footer Placeholder 4"/>
          <p:cNvSpPr>
            <a:spLocks noGrp="1"/>
          </p:cNvSpPr>
          <p:nvPr>
            <p:ph type="ftr" sz="quarter" idx="11"/>
          </p:nvPr>
        </p:nvSpPr>
        <p:spPr/>
        <p:txBody>
          <a:bodyPr/>
          <a:lstStyle/>
          <a:p>
            <a:endParaRPr lang="da-DK">
              <a:solidFill>
                <a:prstClr val="black">
                  <a:tint val="75000"/>
                </a:prstClr>
              </a:solidFill>
            </a:endParaRPr>
          </a:p>
        </p:txBody>
      </p:sp>
      <p:sp>
        <p:nvSpPr>
          <p:cNvPr id="6" name="Slide Number Placeholder 5"/>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1219487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a-DK"/>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Date Placeholder 4"/>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6" name="Footer Placeholder 5"/>
          <p:cNvSpPr>
            <a:spLocks noGrp="1"/>
          </p:cNvSpPr>
          <p:nvPr>
            <p:ph type="ftr" sz="quarter" idx="11"/>
          </p:nvPr>
        </p:nvSpPr>
        <p:spPr/>
        <p:txBody>
          <a:bodyPr/>
          <a:lstStyle/>
          <a:p>
            <a:endParaRPr lang="da-DK">
              <a:solidFill>
                <a:prstClr val="black">
                  <a:tint val="75000"/>
                </a:prstClr>
              </a:solidFill>
            </a:endParaRPr>
          </a:p>
        </p:txBody>
      </p:sp>
      <p:sp>
        <p:nvSpPr>
          <p:cNvPr id="7" name="Slide Number Placeholder 6"/>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2778575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da-DK"/>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7" name="Date Placeholder 6"/>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8" name="Footer Placeholder 7"/>
          <p:cNvSpPr>
            <a:spLocks noGrp="1"/>
          </p:cNvSpPr>
          <p:nvPr>
            <p:ph type="ftr" sz="quarter" idx="11"/>
          </p:nvPr>
        </p:nvSpPr>
        <p:spPr/>
        <p:txBody>
          <a:bodyPr/>
          <a:lstStyle/>
          <a:p>
            <a:endParaRPr lang="da-DK">
              <a:solidFill>
                <a:prstClr val="black">
                  <a:tint val="75000"/>
                </a:prstClr>
              </a:solidFill>
            </a:endParaRPr>
          </a:p>
        </p:txBody>
      </p:sp>
      <p:sp>
        <p:nvSpPr>
          <p:cNvPr id="9" name="Slide Number Placeholder 8"/>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748185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a-DK"/>
          </a:p>
        </p:txBody>
      </p:sp>
      <p:sp>
        <p:nvSpPr>
          <p:cNvPr id="3" name="Date Placeholder 2"/>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4" name="Footer Placeholder 3"/>
          <p:cNvSpPr>
            <a:spLocks noGrp="1"/>
          </p:cNvSpPr>
          <p:nvPr>
            <p:ph type="ftr" sz="quarter" idx="11"/>
          </p:nvPr>
        </p:nvSpPr>
        <p:spPr/>
        <p:txBody>
          <a:bodyPr/>
          <a:lstStyle/>
          <a:p>
            <a:endParaRPr lang="da-DK">
              <a:solidFill>
                <a:prstClr val="black">
                  <a:tint val="75000"/>
                </a:prstClr>
              </a:solidFill>
            </a:endParaRPr>
          </a:p>
        </p:txBody>
      </p:sp>
      <p:sp>
        <p:nvSpPr>
          <p:cNvPr id="5" name="Slide Number Placeholder 4"/>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2640066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3" name="Footer Placeholder 2"/>
          <p:cNvSpPr>
            <a:spLocks noGrp="1"/>
          </p:cNvSpPr>
          <p:nvPr>
            <p:ph type="ftr" sz="quarter" idx="11"/>
          </p:nvPr>
        </p:nvSpPr>
        <p:spPr/>
        <p:txBody>
          <a:bodyPr/>
          <a:lstStyle/>
          <a:p>
            <a:endParaRPr lang="da-DK">
              <a:solidFill>
                <a:prstClr val="black">
                  <a:tint val="75000"/>
                </a:prstClr>
              </a:solidFill>
            </a:endParaRPr>
          </a:p>
        </p:txBody>
      </p:sp>
      <p:sp>
        <p:nvSpPr>
          <p:cNvPr id="4" name="Slide Number Placeholder 3"/>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315295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da-DK"/>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6" name="Footer Placeholder 5"/>
          <p:cNvSpPr>
            <a:spLocks noGrp="1"/>
          </p:cNvSpPr>
          <p:nvPr>
            <p:ph type="ftr" sz="quarter" idx="11"/>
          </p:nvPr>
        </p:nvSpPr>
        <p:spPr/>
        <p:txBody>
          <a:bodyPr/>
          <a:lstStyle/>
          <a:p>
            <a:endParaRPr lang="da-DK">
              <a:solidFill>
                <a:prstClr val="black">
                  <a:tint val="75000"/>
                </a:prstClr>
              </a:solidFill>
            </a:endParaRPr>
          </a:p>
        </p:txBody>
      </p:sp>
      <p:sp>
        <p:nvSpPr>
          <p:cNvPr id="7" name="Slide Number Placeholder 6"/>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3644421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da-DK"/>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6" name="Footer Placeholder 5"/>
          <p:cNvSpPr>
            <a:spLocks noGrp="1"/>
          </p:cNvSpPr>
          <p:nvPr>
            <p:ph type="ftr" sz="quarter" idx="11"/>
          </p:nvPr>
        </p:nvSpPr>
        <p:spPr/>
        <p:txBody>
          <a:bodyPr/>
          <a:lstStyle/>
          <a:p>
            <a:endParaRPr lang="da-DK">
              <a:solidFill>
                <a:prstClr val="black">
                  <a:tint val="75000"/>
                </a:prstClr>
              </a:solidFill>
            </a:endParaRPr>
          </a:p>
        </p:txBody>
      </p:sp>
      <p:sp>
        <p:nvSpPr>
          <p:cNvPr id="7" name="Slide Number Placeholder 6"/>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44597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a-DK"/>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5" name="Footer Placeholder 4"/>
          <p:cNvSpPr>
            <a:spLocks noGrp="1"/>
          </p:cNvSpPr>
          <p:nvPr>
            <p:ph type="ftr" sz="quarter" idx="11"/>
          </p:nvPr>
        </p:nvSpPr>
        <p:spPr/>
        <p:txBody>
          <a:bodyPr/>
          <a:lstStyle/>
          <a:p>
            <a:endParaRPr lang="da-DK">
              <a:solidFill>
                <a:prstClr val="black">
                  <a:tint val="75000"/>
                </a:prstClr>
              </a:solidFill>
            </a:endParaRPr>
          </a:p>
        </p:txBody>
      </p:sp>
      <p:sp>
        <p:nvSpPr>
          <p:cNvPr id="6" name="Slide Number Placeholder 5"/>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3436621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da-DK"/>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p:cNvSpPr>
            <a:spLocks noGrp="1"/>
          </p:cNvSpPr>
          <p:nvPr>
            <p:ph type="dt" sz="half" idx="10"/>
          </p:nvPr>
        </p:nvSpPr>
        <p:spPr/>
        <p:txBody>
          <a:bodyPr/>
          <a:lstStyle/>
          <a:p>
            <a:fld id="{ACA892A1-DC64-42DB-AF9F-8BF9171E81FD}" type="datetimeFigureOut">
              <a:rPr lang="da-DK">
                <a:solidFill>
                  <a:prstClr val="black">
                    <a:tint val="75000"/>
                  </a:prstClr>
                </a:solidFill>
              </a:rPr>
              <a:pPr/>
              <a:t>05-03-2026</a:t>
            </a:fld>
            <a:endParaRPr lang="da-DK">
              <a:solidFill>
                <a:prstClr val="black">
                  <a:tint val="75000"/>
                </a:prstClr>
              </a:solidFill>
            </a:endParaRPr>
          </a:p>
        </p:txBody>
      </p:sp>
      <p:sp>
        <p:nvSpPr>
          <p:cNvPr id="5" name="Footer Placeholder 4"/>
          <p:cNvSpPr>
            <a:spLocks noGrp="1"/>
          </p:cNvSpPr>
          <p:nvPr>
            <p:ph type="ftr" sz="quarter" idx="11"/>
          </p:nvPr>
        </p:nvSpPr>
        <p:spPr/>
        <p:txBody>
          <a:bodyPr/>
          <a:lstStyle/>
          <a:p>
            <a:endParaRPr lang="da-DK">
              <a:solidFill>
                <a:prstClr val="black">
                  <a:tint val="75000"/>
                </a:prstClr>
              </a:solidFill>
            </a:endParaRPr>
          </a:p>
        </p:txBody>
      </p:sp>
      <p:sp>
        <p:nvSpPr>
          <p:cNvPr id="6" name="Slide Number Placeholder 5"/>
          <p:cNvSpPr>
            <a:spLocks noGrp="1"/>
          </p:cNvSpPr>
          <p:nvPr>
            <p:ph type="sldNum" sz="quarter" idx="12"/>
          </p:nvPr>
        </p:nvSpPr>
        <p:spPr/>
        <p:txBody>
          <a:bodyPr/>
          <a:lstStyle/>
          <a:p>
            <a:fld id="{CAA4CC72-28DA-4DEB-8DEC-19F7329F0715}" type="slidenum">
              <a:rPr lang="da-DK">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7506090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alvt billede og tekst">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694944" y="905020"/>
            <a:ext cx="4947703" cy="736366"/>
          </a:xfrm>
          <a:prstGeom prst="rect">
            <a:avLst/>
          </a:prstGeom>
        </p:spPr>
        <p:txBody>
          <a:bodyPr vert="horz"/>
          <a:lstStyle>
            <a:lvl1pPr algn="l">
              <a:defRPr sz="3200" b="1" i="0" cap="all">
                <a:latin typeface="Verdana"/>
                <a:cs typeface="Calibri (Headings)"/>
              </a:defRPr>
            </a:lvl1pPr>
          </a:lstStyle>
          <a:p>
            <a:r>
              <a:rPr lang="da-DK" dirty="0"/>
              <a:t>Overskrift</a:t>
            </a:r>
            <a:endParaRPr lang="en-US" dirty="0"/>
          </a:p>
        </p:txBody>
      </p:sp>
      <p:sp>
        <p:nvSpPr>
          <p:cNvPr id="10" name="Text Placeholder 9"/>
          <p:cNvSpPr>
            <a:spLocks noGrp="1"/>
          </p:cNvSpPr>
          <p:nvPr>
            <p:ph type="body" sz="quarter" idx="10" hasCustomPrompt="1"/>
          </p:nvPr>
        </p:nvSpPr>
        <p:spPr>
          <a:xfrm>
            <a:off x="704133" y="1640895"/>
            <a:ext cx="4948653" cy="4648615"/>
          </a:xfrm>
          <a:prstGeom prst="rect">
            <a:avLst/>
          </a:prstGeom>
        </p:spPr>
        <p:txBody>
          <a:bodyPr vert="horz"/>
          <a:lstStyle>
            <a:lvl1pPr marL="0" indent="0">
              <a:spcBef>
                <a:spcPts val="1000"/>
              </a:spcBef>
              <a:buNone/>
              <a:defRPr sz="1800" b="1" i="0" cap="all">
                <a:latin typeface="Verdana"/>
              </a:defRPr>
            </a:lvl1pPr>
            <a:lvl2pPr marL="0" indent="0">
              <a:spcBef>
                <a:spcPts val="1000"/>
              </a:spcBef>
              <a:buNone/>
              <a:defRPr sz="1800" baseline="0">
                <a:latin typeface="Verdana"/>
              </a:defRPr>
            </a:lvl2pPr>
            <a:lvl3pPr marL="0" indent="0">
              <a:spcBef>
                <a:spcPts val="1000"/>
              </a:spcBef>
              <a:buNone/>
              <a:defRPr sz="1200">
                <a:latin typeface="Verdana"/>
              </a:defRPr>
            </a:lvl3pPr>
            <a:lvl4pPr marL="0" indent="0">
              <a:buNone/>
              <a:defRPr>
                <a:latin typeface="Verdana"/>
              </a:defRPr>
            </a:lvl4pPr>
            <a:lvl5pPr marL="0" indent="0">
              <a:buNone/>
              <a:defRPr>
                <a:latin typeface="Verdana"/>
              </a:defRPr>
            </a:lvl5pPr>
          </a:lstStyle>
          <a:p>
            <a:pPr lvl="0"/>
            <a:r>
              <a:rPr lang="da-DK" dirty="0"/>
              <a:t>Klik for at tilføje</a:t>
            </a:r>
          </a:p>
          <a:p>
            <a:pPr lvl="1"/>
            <a:r>
              <a:rPr lang="da-DK" dirty="0"/>
              <a:t>Brug indryk for at få mindre tekst</a:t>
            </a:r>
          </a:p>
          <a:p>
            <a:pPr lvl="2"/>
            <a:r>
              <a:rPr lang="da-DK" dirty="0"/>
              <a:t>Brug 3 indryk for endnu mindre tekst</a:t>
            </a:r>
          </a:p>
        </p:txBody>
      </p:sp>
      <p:sp>
        <p:nvSpPr>
          <p:cNvPr id="6" name="Picture Placeholder 5"/>
          <p:cNvSpPr>
            <a:spLocks noGrp="1"/>
          </p:cNvSpPr>
          <p:nvPr>
            <p:ph type="pic" sz="quarter" idx="11"/>
          </p:nvPr>
        </p:nvSpPr>
        <p:spPr>
          <a:xfrm>
            <a:off x="6316133" y="0"/>
            <a:ext cx="5875867" cy="6858000"/>
          </a:xfrm>
          <a:prstGeom prst="rect">
            <a:avLst/>
          </a:prstGeom>
        </p:spPr>
        <p:txBody>
          <a:bodyPr vert="horz"/>
          <a:lstStyle/>
          <a:p>
            <a:r>
              <a:rPr lang="da-DK"/>
              <a:t>Drag picture to placeholder or click icon to add</a:t>
            </a:r>
            <a:endParaRPr lang="en-US"/>
          </a:p>
        </p:txBody>
      </p:sp>
    </p:spTree>
    <p:extLst>
      <p:ext uri="{BB962C8B-B14F-4D97-AF65-F5344CB8AC3E}">
        <p14:creationId xmlns:p14="http://schemas.microsoft.com/office/powerpoint/2010/main" val="534020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impel tekst slide">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928484" y="912625"/>
            <a:ext cx="8415253" cy="736366"/>
          </a:xfrm>
          <a:prstGeom prst="rect">
            <a:avLst/>
          </a:prstGeom>
        </p:spPr>
        <p:txBody>
          <a:bodyPr vert="horz"/>
          <a:lstStyle>
            <a:lvl1pPr algn="l">
              <a:defRPr sz="3200" b="1" i="0" cap="all">
                <a:latin typeface="Verdana"/>
                <a:cs typeface="Calibri (Headings)"/>
              </a:defRPr>
            </a:lvl1pPr>
          </a:lstStyle>
          <a:p>
            <a:r>
              <a:rPr lang="da-DK" dirty="0"/>
              <a:t>Klik for at tilføje</a:t>
            </a:r>
            <a:endParaRPr lang="en-US" dirty="0"/>
          </a:p>
        </p:txBody>
      </p:sp>
      <p:sp>
        <p:nvSpPr>
          <p:cNvPr id="10" name="Text Placeholder 9"/>
          <p:cNvSpPr>
            <a:spLocks noGrp="1"/>
          </p:cNvSpPr>
          <p:nvPr>
            <p:ph type="body" sz="quarter" idx="10" hasCustomPrompt="1"/>
          </p:nvPr>
        </p:nvSpPr>
        <p:spPr>
          <a:xfrm>
            <a:off x="937673" y="1648500"/>
            <a:ext cx="8406064" cy="4641010"/>
          </a:xfrm>
          <a:prstGeom prst="rect">
            <a:avLst/>
          </a:prstGeom>
        </p:spPr>
        <p:txBody>
          <a:bodyPr vert="horz"/>
          <a:lstStyle>
            <a:lvl1pPr marL="0" indent="0">
              <a:spcBef>
                <a:spcPts val="1000"/>
              </a:spcBef>
              <a:buNone/>
              <a:defRPr sz="1800" b="1" i="0" cap="all" baseline="0">
                <a:latin typeface="Verdana"/>
              </a:defRPr>
            </a:lvl1pPr>
            <a:lvl2pPr marL="0" indent="0">
              <a:spcBef>
                <a:spcPts val="1000"/>
              </a:spcBef>
              <a:buNone/>
              <a:defRPr sz="1800" baseline="0">
                <a:latin typeface="Verdana"/>
              </a:defRPr>
            </a:lvl2pPr>
            <a:lvl3pPr marL="0" indent="0">
              <a:spcBef>
                <a:spcPts val="1000"/>
              </a:spcBef>
              <a:buNone/>
              <a:defRPr sz="1200">
                <a:latin typeface="Verdana"/>
              </a:defRPr>
            </a:lvl3pPr>
            <a:lvl4pPr marL="0" indent="0">
              <a:buNone/>
              <a:defRPr>
                <a:latin typeface="Verdana"/>
              </a:defRPr>
            </a:lvl4pPr>
            <a:lvl5pPr marL="0" indent="0">
              <a:buNone/>
              <a:defRPr>
                <a:latin typeface="Verdana"/>
              </a:defRPr>
            </a:lvl5pPr>
          </a:lstStyle>
          <a:p>
            <a:pPr lvl="0"/>
            <a:r>
              <a:rPr lang="da-DK" dirty="0"/>
              <a:t>Klik for at tilføje – brug indryk for at bruge mindre tekst-typer</a:t>
            </a:r>
          </a:p>
          <a:p>
            <a:pPr lvl="1"/>
            <a:r>
              <a:rPr lang="da-DK" dirty="0"/>
              <a:t>Brug indryk for at få mindre tekst</a:t>
            </a:r>
          </a:p>
          <a:p>
            <a:pPr lvl="2"/>
            <a:r>
              <a:rPr lang="da-DK" dirty="0"/>
              <a:t>Brug 3 indryk for endnu mindre tekst</a:t>
            </a:r>
          </a:p>
        </p:txBody>
      </p:sp>
    </p:spTree>
    <p:extLst>
      <p:ext uri="{BB962C8B-B14F-4D97-AF65-F5344CB8AC3E}">
        <p14:creationId xmlns:p14="http://schemas.microsoft.com/office/powerpoint/2010/main" val="1766479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da-DK"/>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A892A1-DC64-42DB-AF9F-8BF9171E81FD}" type="datetimeFigureOut">
              <a:rPr lang="da-DK" smtClean="0">
                <a:solidFill>
                  <a:prstClr val="black">
                    <a:tint val="75000"/>
                  </a:prstClr>
                </a:solidFill>
              </a:rPr>
              <a:pPr/>
              <a:t>05-03-2026</a:t>
            </a:fld>
            <a:endParaRPr lang="da-DK">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A4CC72-28DA-4DEB-8DEC-19F7329F0715}" type="slidenum">
              <a:rPr lang="da-DK" smtClean="0">
                <a:solidFill>
                  <a:prstClr val="black">
                    <a:tint val="75000"/>
                  </a:prstClr>
                </a:solidFill>
              </a:rPr>
              <a:pPr/>
              <a:t>‹nr.›</a:t>
            </a:fld>
            <a:endParaRPr lang="da-DK">
              <a:solidFill>
                <a:prstClr val="black">
                  <a:tint val="75000"/>
                </a:prstClr>
              </a:solidFill>
            </a:endParaRPr>
          </a:p>
        </p:txBody>
      </p:sp>
    </p:spTree>
    <p:extLst>
      <p:ext uri="{BB962C8B-B14F-4D97-AF65-F5344CB8AC3E}">
        <p14:creationId xmlns:p14="http://schemas.microsoft.com/office/powerpoint/2010/main" val="2880484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seij@kea.d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ufm.dk/publikationer/2015/filer/file"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lede 4">
            <a:extLst>
              <a:ext uri="{FF2B5EF4-FFF2-40B4-BE49-F238E27FC236}">
                <a16:creationId xmlns:a16="http://schemas.microsoft.com/office/drawing/2014/main" id="{BEED8265-AA8F-2754-D17B-12F1B89D8979}"/>
              </a:ext>
            </a:extLst>
          </p:cNvPr>
          <p:cNvPicPr>
            <a:picLocks noChangeAspect="1"/>
          </p:cNvPicPr>
          <p:nvPr/>
        </p:nvPicPr>
        <p:blipFill>
          <a:blip r:embed="rId3"/>
          <a:stretch>
            <a:fillRect/>
          </a:stretch>
        </p:blipFill>
        <p:spPr>
          <a:xfrm>
            <a:off x="0" y="890586"/>
            <a:ext cx="12191999" cy="5967413"/>
          </a:xfrm>
          <a:prstGeom prst="rect">
            <a:avLst/>
          </a:prstGeom>
        </p:spPr>
      </p:pic>
      <p:sp>
        <p:nvSpPr>
          <p:cNvPr id="2" name="Titel 1">
            <a:extLst>
              <a:ext uri="{FF2B5EF4-FFF2-40B4-BE49-F238E27FC236}">
                <a16:creationId xmlns:a16="http://schemas.microsoft.com/office/drawing/2014/main" id="{E9D7E036-D96F-420B-BBB5-7E31BABEDE6D}"/>
              </a:ext>
            </a:extLst>
          </p:cNvPr>
          <p:cNvSpPr>
            <a:spLocks noGrp="1"/>
          </p:cNvSpPr>
          <p:nvPr>
            <p:ph type="ctrTitle"/>
          </p:nvPr>
        </p:nvSpPr>
        <p:spPr>
          <a:xfrm>
            <a:off x="1" y="0"/>
            <a:ext cx="12191998" cy="890586"/>
          </a:xfrm>
          <a:solidFill>
            <a:srgbClr val="EBF58B"/>
          </a:solidFill>
        </p:spPr>
        <p:txBody>
          <a:bodyPr>
            <a:noAutofit/>
          </a:bodyPr>
          <a:lstStyle/>
          <a:p>
            <a:r>
              <a:rPr lang="da-DK" sz="5000" b="1" cap="none" dirty="0">
                <a:latin typeface="Verdana"/>
              </a:rPr>
              <a:t>PoS – Dag 10</a:t>
            </a:r>
            <a:endParaRPr lang="da-DK" sz="2500" b="1" dirty="0"/>
          </a:p>
        </p:txBody>
      </p:sp>
      <p:sp>
        <p:nvSpPr>
          <p:cNvPr id="6" name="Tekstfelt 5">
            <a:extLst>
              <a:ext uri="{FF2B5EF4-FFF2-40B4-BE49-F238E27FC236}">
                <a16:creationId xmlns:a16="http://schemas.microsoft.com/office/drawing/2014/main" id="{ED2E633F-9646-4FEC-B24E-E73E678C56D8}"/>
              </a:ext>
            </a:extLst>
          </p:cNvPr>
          <p:cNvSpPr txBox="1"/>
          <p:nvPr/>
        </p:nvSpPr>
        <p:spPr>
          <a:xfrm>
            <a:off x="10621408" y="5896828"/>
            <a:ext cx="1458097" cy="830997"/>
          </a:xfrm>
          <a:prstGeom prst="rect">
            <a:avLst/>
          </a:prstGeom>
          <a:solidFill>
            <a:schemeClr val="bg1">
              <a:lumMod val="85000"/>
              <a:alpha val="95000"/>
            </a:schemeClr>
          </a:solidFill>
        </p:spPr>
        <p:txBody>
          <a:bodyPr wrap="square" rtlCol="0">
            <a:spAutoFit/>
          </a:bodyPr>
          <a:lstStyle/>
          <a:p>
            <a:pPr algn="r"/>
            <a:r>
              <a:rPr lang="da-DK" sz="1200" i="1" dirty="0"/>
              <a:t>Seif Jakobsen</a:t>
            </a:r>
          </a:p>
          <a:p>
            <a:pPr algn="r"/>
            <a:r>
              <a:rPr lang="da-DK" sz="1200" i="1" dirty="0">
                <a:hlinkClick r:id="rId4"/>
              </a:rPr>
              <a:t>seij@kea.dk</a:t>
            </a:r>
            <a:endParaRPr lang="da-DK" sz="1200" i="1" dirty="0"/>
          </a:p>
          <a:p>
            <a:endParaRPr lang="da-DK" sz="1200" i="1" dirty="0"/>
          </a:p>
          <a:p>
            <a:r>
              <a:rPr lang="da-DK" sz="1200" i="1" dirty="0"/>
              <a:t>5. marts 2026</a:t>
            </a:r>
          </a:p>
        </p:txBody>
      </p:sp>
    </p:spTree>
    <p:extLst>
      <p:ext uri="{BB962C8B-B14F-4D97-AF65-F5344CB8AC3E}">
        <p14:creationId xmlns:p14="http://schemas.microsoft.com/office/powerpoint/2010/main" val="327000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DAFF86-08F1-4C12-8A67-875E78AF8A9B}"/>
              </a:ext>
            </a:extLst>
          </p:cNvPr>
          <p:cNvSpPr>
            <a:spLocks noGrp="1"/>
          </p:cNvSpPr>
          <p:nvPr>
            <p:ph type="title"/>
          </p:nvPr>
        </p:nvSpPr>
        <p:spPr>
          <a:xfrm>
            <a:off x="839788" y="16789"/>
            <a:ext cx="10515600" cy="1325563"/>
          </a:xfrm>
        </p:spPr>
        <p:txBody>
          <a:bodyPr/>
          <a:lstStyle/>
          <a:p>
            <a:r>
              <a:rPr lang="en-US" sz="4400" b="1" dirty="0">
                <a:latin typeface="+mn-lt"/>
              </a:rPr>
              <a:t>Agenda </a:t>
            </a:r>
            <a:endParaRPr lang="en-US" b="1" dirty="0">
              <a:latin typeface="+mn-lt"/>
            </a:endParaRPr>
          </a:p>
        </p:txBody>
      </p:sp>
      <p:sp>
        <p:nvSpPr>
          <p:cNvPr id="4" name="Pladsholder til indhold 3">
            <a:extLst>
              <a:ext uri="{FF2B5EF4-FFF2-40B4-BE49-F238E27FC236}">
                <a16:creationId xmlns:a16="http://schemas.microsoft.com/office/drawing/2014/main" id="{BC978475-EFA7-4A98-B749-CE855FCB5FAA}"/>
              </a:ext>
            </a:extLst>
          </p:cNvPr>
          <p:cNvSpPr>
            <a:spLocks noGrp="1"/>
          </p:cNvSpPr>
          <p:nvPr>
            <p:ph sz="half" idx="2"/>
          </p:nvPr>
        </p:nvSpPr>
        <p:spPr>
          <a:xfrm>
            <a:off x="290286" y="1187682"/>
            <a:ext cx="5707289" cy="5305193"/>
          </a:xfrm>
        </p:spPr>
        <p:txBody>
          <a:bodyPr>
            <a:noAutofit/>
          </a:bodyPr>
          <a:lstStyle/>
          <a:p>
            <a:pPr>
              <a:spcBef>
                <a:spcPts val="800"/>
              </a:spcBef>
              <a:spcAft>
                <a:spcPts val="800"/>
              </a:spcAft>
            </a:pPr>
            <a:r>
              <a:rPr lang="da-DK" sz="2500" b="1" dirty="0">
                <a:solidFill>
                  <a:srgbClr val="0000FF"/>
                </a:solidFill>
                <a:latin typeface="Calibri" panose="020F0502020204030204" pitchFamily="34" charset="0"/>
                <a:cs typeface="Times New Roman" panose="02020603050405020304" pitchFamily="18" charset="0"/>
              </a:rPr>
              <a:t>RECAP - moralfilosofier</a:t>
            </a:r>
          </a:p>
          <a:p>
            <a:pPr>
              <a:spcBef>
                <a:spcPts val="800"/>
              </a:spcBef>
              <a:spcAft>
                <a:spcPts val="800"/>
              </a:spcAft>
            </a:pPr>
            <a:r>
              <a:rPr lang="da-DK" sz="2500" b="1" dirty="0">
                <a:latin typeface="Calibri" panose="020F0502020204030204" pitchFamily="34" charset="0"/>
                <a:cs typeface="Times New Roman" panose="02020603050405020304" pitchFamily="18" charset="0"/>
              </a:rPr>
              <a:t>20 hurtige på 20 min.</a:t>
            </a:r>
          </a:p>
          <a:p>
            <a:pPr>
              <a:spcBef>
                <a:spcPts val="800"/>
              </a:spcBef>
              <a:spcAft>
                <a:spcPts val="800"/>
              </a:spcAft>
            </a:pPr>
            <a:r>
              <a:rPr lang="da-DK" sz="2500" b="1" dirty="0">
                <a:latin typeface="Calibri" panose="020F0502020204030204" pitchFamily="34" charset="0"/>
                <a:cs typeface="Times New Roman" panose="02020603050405020304" pitchFamily="18" charset="0"/>
              </a:rPr>
              <a:t>10 hurtige på 10 min. - ekstra</a:t>
            </a:r>
          </a:p>
          <a:p>
            <a:pPr>
              <a:spcBef>
                <a:spcPts val="800"/>
              </a:spcBef>
              <a:spcAft>
                <a:spcPts val="800"/>
              </a:spcAft>
            </a:pPr>
            <a:r>
              <a:rPr lang="da-DK" sz="2500" b="1" dirty="0">
                <a:latin typeface="Calibri" panose="020F0502020204030204" pitchFamily="34" charset="0"/>
                <a:cs typeface="Times New Roman" panose="02020603050405020304" pitchFamily="18" charset="0"/>
              </a:rPr>
              <a:t>Eksamens case og formalia ift. synopsis</a:t>
            </a:r>
          </a:p>
          <a:p>
            <a:pPr>
              <a:spcBef>
                <a:spcPts val="800"/>
              </a:spcBef>
              <a:spcAft>
                <a:spcPts val="800"/>
              </a:spcAft>
            </a:pPr>
            <a:r>
              <a:rPr lang="da-DK" sz="2500" b="1" dirty="0">
                <a:latin typeface="Calibri" panose="020F0502020204030204" pitchFamily="34" charset="0"/>
                <a:cs typeface="Times New Roman" panose="02020603050405020304" pitchFamily="18" charset="0"/>
              </a:rPr>
              <a:t>Gennemgang af opbygning af researchdesign trinvis fra et problem</a:t>
            </a:r>
          </a:p>
          <a:p>
            <a:pPr>
              <a:spcBef>
                <a:spcPts val="800"/>
              </a:spcBef>
              <a:spcAft>
                <a:spcPts val="800"/>
              </a:spcAft>
            </a:pPr>
            <a:r>
              <a:rPr lang="da-DK" sz="2500" b="1" dirty="0">
                <a:latin typeface="Calibri" panose="020F0502020204030204" pitchFamily="34" charset="0"/>
                <a:cs typeface="Times New Roman" panose="02020603050405020304" pitchFamily="18" charset="0"/>
              </a:rPr>
              <a:t>Spørgsmål/vejledning</a:t>
            </a:r>
          </a:p>
        </p:txBody>
      </p:sp>
      <p:cxnSp>
        <p:nvCxnSpPr>
          <p:cNvPr id="8" name="Lige forbindelse 7">
            <a:extLst>
              <a:ext uri="{FF2B5EF4-FFF2-40B4-BE49-F238E27FC236}">
                <a16:creationId xmlns:a16="http://schemas.microsoft.com/office/drawing/2014/main" id="{0E43AE1A-44C5-4FFE-90C4-1A927109EA9F}"/>
              </a:ext>
            </a:extLst>
          </p:cNvPr>
          <p:cNvCxnSpPr/>
          <p:nvPr/>
        </p:nvCxnSpPr>
        <p:spPr>
          <a:xfrm>
            <a:off x="609600" y="1045029"/>
            <a:ext cx="1107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AutoShape 4" descr="Jeremy Bentham | Biography, Utilitarianism, Philosophy ...">
            <a:extLst>
              <a:ext uri="{FF2B5EF4-FFF2-40B4-BE49-F238E27FC236}">
                <a16:creationId xmlns:a16="http://schemas.microsoft.com/office/drawing/2014/main" id="{D8442DD6-2756-1E5B-2205-AD024442BD2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a-DK"/>
          </a:p>
        </p:txBody>
      </p:sp>
    </p:spTree>
    <p:extLst>
      <p:ext uri="{BB962C8B-B14F-4D97-AF65-F5344CB8AC3E}">
        <p14:creationId xmlns:p14="http://schemas.microsoft.com/office/powerpoint/2010/main" val="26274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Tekstfelt 2">
            <a:extLst>
              <a:ext uri="{FF2B5EF4-FFF2-40B4-BE49-F238E27FC236}">
                <a16:creationId xmlns:a16="http://schemas.microsoft.com/office/drawing/2014/main" id="{CF96171C-DC41-F3E9-A0C6-79CC73F87EDA}"/>
              </a:ext>
            </a:extLst>
          </p:cNvPr>
          <p:cNvSpPr txBox="1"/>
          <p:nvPr/>
        </p:nvSpPr>
        <p:spPr>
          <a:xfrm>
            <a:off x="0" y="2613392"/>
            <a:ext cx="12192000" cy="1631216"/>
          </a:xfrm>
          <a:prstGeom prst="rect">
            <a:avLst/>
          </a:prstGeom>
          <a:noFill/>
        </p:spPr>
        <p:txBody>
          <a:bodyPr wrap="square">
            <a:spAutoFit/>
          </a:bodyPr>
          <a:lstStyle/>
          <a:p>
            <a:pPr algn="ctr"/>
            <a:r>
              <a:rPr lang="da-DK" sz="10000" b="1" dirty="0"/>
              <a:t>RECAP</a:t>
            </a:r>
          </a:p>
        </p:txBody>
      </p:sp>
    </p:spTree>
    <p:extLst>
      <p:ext uri="{BB962C8B-B14F-4D97-AF65-F5344CB8AC3E}">
        <p14:creationId xmlns:p14="http://schemas.microsoft.com/office/powerpoint/2010/main" val="702236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38164EBD-409F-44D5-8AFE-A9ECB0F0DE5F}"/>
            </a:ext>
          </a:extLst>
        </p:cNvPr>
        <p:cNvGrpSpPr/>
        <p:nvPr/>
      </p:nvGrpSpPr>
      <p:grpSpPr>
        <a:xfrm>
          <a:off x="0" y="0"/>
          <a:ext cx="0" cy="0"/>
          <a:chOff x="0" y="0"/>
          <a:chExt cx="0" cy="0"/>
        </a:xfrm>
      </p:grpSpPr>
      <p:sp>
        <p:nvSpPr>
          <p:cNvPr id="3" name="Titel 1">
            <a:extLst>
              <a:ext uri="{FF2B5EF4-FFF2-40B4-BE49-F238E27FC236}">
                <a16:creationId xmlns:a16="http://schemas.microsoft.com/office/drawing/2014/main" id="{8249D615-1747-600D-7C39-0EA2F6975BFE}"/>
              </a:ext>
            </a:extLst>
          </p:cNvPr>
          <p:cNvSpPr txBox="1">
            <a:spLocks/>
          </p:cNvSpPr>
          <p:nvPr/>
        </p:nvSpPr>
        <p:spPr>
          <a:xfrm>
            <a:off x="838200" y="12700"/>
            <a:ext cx="10515600" cy="86051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a-DK" b="1" dirty="0">
                <a:latin typeface="+mn-lt"/>
              </a:rPr>
              <a:t>Etiske krav ifm. data i undersøgelser</a:t>
            </a:r>
          </a:p>
        </p:txBody>
      </p:sp>
      <p:sp>
        <p:nvSpPr>
          <p:cNvPr id="4" name="Pladsholder til indhold 2">
            <a:extLst>
              <a:ext uri="{FF2B5EF4-FFF2-40B4-BE49-F238E27FC236}">
                <a16:creationId xmlns:a16="http://schemas.microsoft.com/office/drawing/2014/main" id="{9FA08399-4936-5433-1E33-A059C864E857}"/>
              </a:ext>
            </a:extLst>
          </p:cNvPr>
          <p:cNvSpPr txBox="1">
            <a:spLocks/>
          </p:cNvSpPr>
          <p:nvPr/>
        </p:nvSpPr>
        <p:spPr>
          <a:xfrm>
            <a:off x="546265" y="724396"/>
            <a:ext cx="11091553" cy="50470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da-DK" sz="2500" b="1" dirty="0"/>
              <a:t>De fire etiske krav til kvalitative metoder:</a:t>
            </a:r>
          </a:p>
          <a:p>
            <a:pPr marL="457200" indent="-457200">
              <a:lnSpc>
                <a:spcPct val="100000"/>
              </a:lnSpc>
              <a:spcBef>
                <a:spcPts val="0"/>
              </a:spcBef>
              <a:buFont typeface="+mj-lt"/>
              <a:buAutoNum type="arabicPeriod"/>
            </a:pPr>
            <a:r>
              <a:rPr lang="da-DK" sz="2500" dirty="0"/>
              <a:t>Troværdighed</a:t>
            </a:r>
          </a:p>
          <a:p>
            <a:pPr marL="457200" indent="-457200">
              <a:lnSpc>
                <a:spcPct val="100000"/>
              </a:lnSpc>
              <a:spcBef>
                <a:spcPts val="0"/>
              </a:spcBef>
              <a:buFont typeface="+mj-lt"/>
              <a:buAutoNum type="arabicPeriod"/>
            </a:pPr>
            <a:r>
              <a:rPr lang="da-DK" sz="2500" dirty="0"/>
              <a:t>Overførbarhed</a:t>
            </a:r>
          </a:p>
          <a:p>
            <a:pPr marL="457200" indent="-457200">
              <a:lnSpc>
                <a:spcPct val="100000"/>
              </a:lnSpc>
              <a:spcBef>
                <a:spcPts val="0"/>
              </a:spcBef>
              <a:buFont typeface="+mj-lt"/>
              <a:buAutoNum type="arabicPeriod"/>
            </a:pPr>
            <a:r>
              <a:rPr lang="da-DK" sz="2500" dirty="0"/>
              <a:t>Afhængighed</a:t>
            </a:r>
          </a:p>
          <a:p>
            <a:pPr marL="457200" indent="-457200">
              <a:lnSpc>
                <a:spcPct val="100000"/>
              </a:lnSpc>
              <a:spcBef>
                <a:spcPts val="0"/>
              </a:spcBef>
              <a:buFont typeface="+mj-lt"/>
              <a:buAutoNum type="arabicPeriod"/>
            </a:pPr>
            <a:r>
              <a:rPr lang="da-DK" sz="2500" dirty="0"/>
              <a:t>Objektivitet/god tro</a:t>
            </a:r>
          </a:p>
          <a:p>
            <a:pPr marL="457200" indent="-457200">
              <a:lnSpc>
                <a:spcPct val="100000"/>
              </a:lnSpc>
              <a:spcBef>
                <a:spcPts val="0"/>
              </a:spcBef>
              <a:buFont typeface="+mj-lt"/>
              <a:buAutoNum type="arabicPeriod"/>
            </a:pPr>
            <a:endParaRPr lang="da-DK" sz="2500" dirty="0"/>
          </a:p>
          <a:p>
            <a:pPr marL="0" indent="0">
              <a:lnSpc>
                <a:spcPct val="100000"/>
              </a:lnSpc>
              <a:spcBef>
                <a:spcPts val="0"/>
              </a:spcBef>
              <a:buNone/>
            </a:pPr>
            <a:r>
              <a:rPr lang="da-DK" sz="2500" b="1" dirty="0"/>
              <a:t>De tre etiske krav til kvantitative metoder:</a:t>
            </a:r>
          </a:p>
          <a:p>
            <a:pPr marL="342900" indent="-342900">
              <a:lnSpc>
                <a:spcPct val="100000"/>
              </a:lnSpc>
              <a:spcBef>
                <a:spcPts val="0"/>
              </a:spcBef>
              <a:buFont typeface="+mj-lt"/>
              <a:buAutoNum type="arabicPeriod"/>
            </a:pPr>
            <a:r>
              <a:rPr lang="da-DK" sz="2500" dirty="0"/>
              <a:t>Målingspålidelighed (målingskonsistens)</a:t>
            </a:r>
          </a:p>
          <a:p>
            <a:pPr marL="342900" indent="-342900">
              <a:lnSpc>
                <a:spcPct val="100000"/>
              </a:lnSpc>
              <a:spcBef>
                <a:spcPts val="0"/>
              </a:spcBef>
              <a:buFont typeface="+mj-lt"/>
              <a:buAutoNum type="arabicPeriod"/>
            </a:pPr>
            <a:r>
              <a:rPr lang="da-DK" sz="2500" dirty="0"/>
              <a:t>Stabilitetspålidelighed (tidskonsistens)</a:t>
            </a:r>
          </a:p>
          <a:p>
            <a:pPr marL="342900" indent="-342900">
              <a:lnSpc>
                <a:spcPct val="100000"/>
              </a:lnSpc>
              <a:spcBef>
                <a:spcPts val="0"/>
              </a:spcBef>
              <a:buFont typeface="+mj-lt"/>
              <a:buAutoNum type="arabicPeriod"/>
            </a:pPr>
            <a:r>
              <a:rPr lang="da-DK" sz="2500" dirty="0"/>
              <a:t>Repræsentativitetspålidelighed (konsistens mellem deltagerne grupper)</a:t>
            </a:r>
          </a:p>
        </p:txBody>
      </p:sp>
      <p:sp>
        <p:nvSpPr>
          <p:cNvPr id="2" name="Tekstfelt 1">
            <a:extLst>
              <a:ext uri="{FF2B5EF4-FFF2-40B4-BE49-F238E27FC236}">
                <a16:creationId xmlns:a16="http://schemas.microsoft.com/office/drawing/2014/main" id="{70AD0CDD-504C-A731-FA14-D4FE1635F813}"/>
              </a:ext>
            </a:extLst>
          </p:cNvPr>
          <p:cNvSpPr txBox="1"/>
          <p:nvPr/>
        </p:nvSpPr>
        <p:spPr>
          <a:xfrm>
            <a:off x="117046" y="6463913"/>
            <a:ext cx="4144092" cy="323165"/>
          </a:xfrm>
          <a:prstGeom prst="rect">
            <a:avLst/>
          </a:prstGeom>
          <a:noFill/>
        </p:spPr>
        <p:txBody>
          <a:bodyPr wrap="square" rtlCol="0">
            <a:spAutoFit/>
          </a:bodyPr>
          <a:lstStyle/>
          <a:p>
            <a:r>
              <a:rPr lang="da-DK" sz="1500" i="1" dirty="0"/>
              <a:t>(Kuada, 2012)</a:t>
            </a:r>
            <a:endParaRPr lang="en-US" sz="1500" i="1" dirty="0"/>
          </a:p>
        </p:txBody>
      </p:sp>
    </p:spTree>
    <p:extLst>
      <p:ext uri="{BB962C8B-B14F-4D97-AF65-F5344CB8AC3E}">
        <p14:creationId xmlns:p14="http://schemas.microsoft.com/office/powerpoint/2010/main" val="180425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5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500"/>
                                        <p:tgtEl>
                                          <p:spTgt spid="4">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Effect transition="in" filter="fade">
                                      <p:cBhvr>
                                        <p:cTn id="47"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1E2564C9-B4D7-033E-6B6B-DA05E415C1A0}"/>
            </a:ext>
          </a:extLst>
        </p:cNvPr>
        <p:cNvGrpSpPr/>
        <p:nvPr/>
      </p:nvGrpSpPr>
      <p:grpSpPr>
        <a:xfrm>
          <a:off x="0" y="0"/>
          <a:ext cx="0" cy="0"/>
          <a:chOff x="0" y="0"/>
          <a:chExt cx="0" cy="0"/>
        </a:xfrm>
      </p:grpSpPr>
      <p:sp>
        <p:nvSpPr>
          <p:cNvPr id="3" name="Titel 1">
            <a:extLst>
              <a:ext uri="{FF2B5EF4-FFF2-40B4-BE49-F238E27FC236}">
                <a16:creationId xmlns:a16="http://schemas.microsoft.com/office/drawing/2014/main" id="{B9800486-2BEC-69AC-C2C3-161CD2766448}"/>
              </a:ext>
            </a:extLst>
          </p:cNvPr>
          <p:cNvSpPr txBox="1">
            <a:spLocks/>
          </p:cNvSpPr>
          <p:nvPr/>
        </p:nvSpPr>
        <p:spPr>
          <a:xfrm>
            <a:off x="838200" y="12700"/>
            <a:ext cx="10515600" cy="86051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a-DK" b="1" dirty="0">
                <a:latin typeface="+mn-lt"/>
              </a:rPr>
              <a:t>Nytteetik - utilitarisme</a:t>
            </a:r>
          </a:p>
        </p:txBody>
      </p:sp>
      <p:sp>
        <p:nvSpPr>
          <p:cNvPr id="4" name="Pladsholder til indhold 2">
            <a:extLst>
              <a:ext uri="{FF2B5EF4-FFF2-40B4-BE49-F238E27FC236}">
                <a16:creationId xmlns:a16="http://schemas.microsoft.com/office/drawing/2014/main" id="{B4A609BB-FBFE-C787-BF1D-3917D3F24C76}"/>
              </a:ext>
            </a:extLst>
          </p:cNvPr>
          <p:cNvSpPr txBox="1">
            <a:spLocks/>
          </p:cNvSpPr>
          <p:nvPr/>
        </p:nvSpPr>
        <p:spPr>
          <a:xfrm>
            <a:off x="546266" y="724397"/>
            <a:ext cx="5299058" cy="1617152"/>
          </a:xfrm>
          <a:prstGeom prst="rect">
            <a:avLst/>
          </a:prstGeom>
          <a:solidFill>
            <a:schemeClr val="accent3">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da-DK" sz="2400" b="1" dirty="0"/>
              <a:t>Jeremy Bentham:</a:t>
            </a:r>
            <a:endParaRPr lang="da-DK" sz="2500" b="1" dirty="0"/>
          </a:p>
          <a:p>
            <a:pPr marL="0" indent="0" algn="ctr">
              <a:lnSpc>
                <a:spcPct val="100000"/>
              </a:lnSpc>
              <a:spcBef>
                <a:spcPts val="0"/>
              </a:spcBef>
              <a:buNone/>
            </a:pPr>
            <a:r>
              <a:rPr lang="da-DK" sz="2500" dirty="0"/>
              <a:t>En handling er etisk rigtig, når det gavner flest mulige mennesker mest muligt.</a:t>
            </a:r>
          </a:p>
        </p:txBody>
      </p:sp>
      <p:sp>
        <p:nvSpPr>
          <p:cNvPr id="2" name="Tekstfelt 1">
            <a:extLst>
              <a:ext uri="{FF2B5EF4-FFF2-40B4-BE49-F238E27FC236}">
                <a16:creationId xmlns:a16="http://schemas.microsoft.com/office/drawing/2014/main" id="{21EE238F-2351-8AC2-722A-E84D4D10B57A}"/>
              </a:ext>
            </a:extLst>
          </p:cNvPr>
          <p:cNvSpPr txBox="1"/>
          <p:nvPr/>
        </p:nvSpPr>
        <p:spPr>
          <a:xfrm>
            <a:off x="117046" y="6463913"/>
            <a:ext cx="4144092" cy="323165"/>
          </a:xfrm>
          <a:prstGeom prst="rect">
            <a:avLst/>
          </a:prstGeom>
          <a:noFill/>
        </p:spPr>
        <p:txBody>
          <a:bodyPr wrap="square" rtlCol="0">
            <a:spAutoFit/>
          </a:bodyPr>
          <a:lstStyle/>
          <a:p>
            <a:r>
              <a:rPr lang="da-DK" sz="1500" i="1" dirty="0"/>
              <a:t>(Kuada, 2012)</a:t>
            </a:r>
            <a:endParaRPr lang="en-US" sz="1500" i="1" dirty="0"/>
          </a:p>
        </p:txBody>
      </p:sp>
      <p:sp>
        <p:nvSpPr>
          <p:cNvPr id="5" name="Pladsholder til indhold 2">
            <a:extLst>
              <a:ext uri="{FF2B5EF4-FFF2-40B4-BE49-F238E27FC236}">
                <a16:creationId xmlns:a16="http://schemas.microsoft.com/office/drawing/2014/main" id="{82B9D3E4-B928-241B-A530-FDE9213A2A6B}"/>
              </a:ext>
            </a:extLst>
          </p:cNvPr>
          <p:cNvSpPr txBox="1">
            <a:spLocks/>
          </p:cNvSpPr>
          <p:nvPr/>
        </p:nvSpPr>
        <p:spPr>
          <a:xfrm>
            <a:off x="6390170" y="722969"/>
            <a:ext cx="5299058" cy="134511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da-DK" sz="2400" b="1" dirty="0"/>
              <a:t>John Stuart Mill:</a:t>
            </a:r>
            <a:endParaRPr lang="da-DK" sz="2500" b="1" dirty="0"/>
          </a:p>
          <a:p>
            <a:pPr marL="0" indent="0">
              <a:lnSpc>
                <a:spcPct val="100000"/>
              </a:lnSpc>
              <a:spcBef>
                <a:spcPts val="0"/>
              </a:spcBef>
              <a:buNone/>
            </a:pPr>
            <a:r>
              <a:rPr lang="da-DK" sz="2500" dirty="0"/>
              <a:t>En handlings retfærdighed bestemmes udelukkende af dets konsekvenser.</a:t>
            </a:r>
          </a:p>
        </p:txBody>
      </p:sp>
      <p:sp>
        <p:nvSpPr>
          <p:cNvPr id="6" name="Pladsholder til indhold 2">
            <a:extLst>
              <a:ext uri="{FF2B5EF4-FFF2-40B4-BE49-F238E27FC236}">
                <a16:creationId xmlns:a16="http://schemas.microsoft.com/office/drawing/2014/main" id="{F9646DD9-39FE-0C46-91D0-C0721326C728}"/>
              </a:ext>
            </a:extLst>
          </p:cNvPr>
          <p:cNvSpPr txBox="1">
            <a:spLocks/>
          </p:cNvSpPr>
          <p:nvPr/>
        </p:nvSpPr>
        <p:spPr>
          <a:xfrm>
            <a:off x="3202586" y="2500498"/>
            <a:ext cx="5299058" cy="1285289"/>
          </a:xfrm>
          <a:prstGeom prst="rect">
            <a:avLst/>
          </a:prstGeom>
          <a:solidFill>
            <a:srgbClr val="FFFFCC"/>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da-DK" sz="2400" b="1" dirty="0"/>
              <a:t>For begge gælder det:</a:t>
            </a:r>
            <a:endParaRPr lang="da-DK" sz="2500" b="1" dirty="0"/>
          </a:p>
          <a:p>
            <a:pPr marL="0" indent="0" algn="ctr">
              <a:lnSpc>
                <a:spcPct val="100000"/>
              </a:lnSpc>
              <a:spcBef>
                <a:spcPts val="0"/>
              </a:spcBef>
              <a:buNone/>
            </a:pPr>
            <a:r>
              <a:rPr lang="da-DK" sz="2500" dirty="0"/>
              <a:t>Den enkelte menneskes rettigheder er underordnet ift. det gode for de fleste!</a:t>
            </a:r>
          </a:p>
        </p:txBody>
      </p:sp>
      <p:pic>
        <p:nvPicPr>
          <p:cNvPr id="7" name="Billede 6">
            <a:extLst>
              <a:ext uri="{FF2B5EF4-FFF2-40B4-BE49-F238E27FC236}">
                <a16:creationId xmlns:a16="http://schemas.microsoft.com/office/drawing/2014/main" id="{38DE5FA4-5B88-4377-C327-AE0079D87B40}"/>
              </a:ext>
            </a:extLst>
          </p:cNvPr>
          <p:cNvPicPr>
            <a:picLocks noChangeAspect="1"/>
          </p:cNvPicPr>
          <p:nvPr/>
        </p:nvPicPr>
        <p:blipFill>
          <a:blip r:embed="rId3"/>
          <a:stretch>
            <a:fillRect/>
          </a:stretch>
        </p:blipFill>
        <p:spPr>
          <a:xfrm>
            <a:off x="575737" y="2385094"/>
            <a:ext cx="1168291" cy="1191612"/>
          </a:xfrm>
          <a:prstGeom prst="rect">
            <a:avLst/>
          </a:prstGeom>
        </p:spPr>
      </p:pic>
      <p:sp>
        <p:nvSpPr>
          <p:cNvPr id="8" name="Tekstfelt 7">
            <a:extLst>
              <a:ext uri="{FF2B5EF4-FFF2-40B4-BE49-F238E27FC236}">
                <a16:creationId xmlns:a16="http://schemas.microsoft.com/office/drawing/2014/main" id="{91CE3B25-F344-195F-3FAA-03C5CBB49605}"/>
              </a:ext>
            </a:extLst>
          </p:cNvPr>
          <p:cNvSpPr txBox="1"/>
          <p:nvPr/>
        </p:nvSpPr>
        <p:spPr>
          <a:xfrm>
            <a:off x="418082" y="3576706"/>
            <a:ext cx="1476702" cy="523220"/>
          </a:xfrm>
          <a:prstGeom prst="rect">
            <a:avLst/>
          </a:prstGeom>
          <a:solidFill>
            <a:srgbClr val="FFFFCC"/>
          </a:solidFill>
        </p:spPr>
        <p:txBody>
          <a:bodyPr wrap="square">
            <a:spAutoFit/>
          </a:bodyPr>
          <a:lstStyle/>
          <a:p>
            <a:pPr algn="ctr"/>
            <a:r>
              <a:rPr lang="da-DK" sz="1400" b="1" dirty="0"/>
              <a:t>Jeremy Bentham</a:t>
            </a:r>
          </a:p>
          <a:p>
            <a:pPr algn="ctr"/>
            <a:r>
              <a:rPr lang="da-DK" sz="1400" dirty="0"/>
              <a:t>(1757 til 1832)</a:t>
            </a:r>
          </a:p>
        </p:txBody>
      </p:sp>
      <p:pic>
        <p:nvPicPr>
          <p:cNvPr id="9" name="Billede 8">
            <a:extLst>
              <a:ext uri="{FF2B5EF4-FFF2-40B4-BE49-F238E27FC236}">
                <a16:creationId xmlns:a16="http://schemas.microsoft.com/office/drawing/2014/main" id="{1E37B8C9-BCA6-97F2-021F-DBD914665015}"/>
              </a:ext>
            </a:extLst>
          </p:cNvPr>
          <p:cNvPicPr>
            <a:picLocks noChangeAspect="1"/>
          </p:cNvPicPr>
          <p:nvPr/>
        </p:nvPicPr>
        <p:blipFill>
          <a:blip r:embed="rId4"/>
          <a:stretch>
            <a:fillRect/>
          </a:stretch>
        </p:blipFill>
        <p:spPr>
          <a:xfrm>
            <a:off x="10648814" y="2094543"/>
            <a:ext cx="1029628" cy="1092028"/>
          </a:xfrm>
          <a:prstGeom prst="rect">
            <a:avLst/>
          </a:prstGeom>
        </p:spPr>
      </p:pic>
      <p:sp>
        <p:nvSpPr>
          <p:cNvPr id="10" name="Tekstfelt 9">
            <a:extLst>
              <a:ext uri="{FF2B5EF4-FFF2-40B4-BE49-F238E27FC236}">
                <a16:creationId xmlns:a16="http://schemas.microsoft.com/office/drawing/2014/main" id="{FC51EEF5-175E-453A-EC25-CE63AF9CBD11}"/>
              </a:ext>
            </a:extLst>
          </p:cNvPr>
          <p:cNvSpPr txBox="1"/>
          <p:nvPr/>
        </p:nvSpPr>
        <p:spPr>
          <a:xfrm>
            <a:off x="10420805" y="3186310"/>
            <a:ext cx="1476702" cy="523220"/>
          </a:xfrm>
          <a:prstGeom prst="rect">
            <a:avLst/>
          </a:prstGeom>
          <a:solidFill>
            <a:srgbClr val="FFFFCC"/>
          </a:solidFill>
        </p:spPr>
        <p:txBody>
          <a:bodyPr wrap="square">
            <a:spAutoFit/>
          </a:bodyPr>
          <a:lstStyle/>
          <a:p>
            <a:pPr algn="ctr"/>
            <a:r>
              <a:rPr lang="nn-NO" sz="1400" b="1" dirty="0"/>
              <a:t>John Stuart Mill</a:t>
            </a:r>
          </a:p>
          <a:p>
            <a:pPr algn="ctr"/>
            <a:r>
              <a:rPr lang="nn-NO" sz="1400" dirty="0"/>
              <a:t>(1806 til 1873)</a:t>
            </a:r>
          </a:p>
        </p:txBody>
      </p:sp>
      <p:sp>
        <p:nvSpPr>
          <p:cNvPr id="11" name="Pladsholder til indhold 2">
            <a:extLst>
              <a:ext uri="{FF2B5EF4-FFF2-40B4-BE49-F238E27FC236}">
                <a16:creationId xmlns:a16="http://schemas.microsoft.com/office/drawing/2014/main" id="{A9C43B20-B540-68C6-A127-8F83222CE186}"/>
              </a:ext>
            </a:extLst>
          </p:cNvPr>
          <p:cNvSpPr txBox="1">
            <a:spLocks/>
          </p:cNvSpPr>
          <p:nvPr/>
        </p:nvSpPr>
        <p:spPr>
          <a:xfrm>
            <a:off x="3216087" y="3902963"/>
            <a:ext cx="5299058" cy="1285289"/>
          </a:xfrm>
          <a:prstGeom prst="rect">
            <a:avLst/>
          </a:prstGeom>
          <a:solidFill>
            <a:srgbClr val="FFFF00"/>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da-DK" sz="2400" b="1" dirty="0"/>
              <a:t>Etisk handling:</a:t>
            </a:r>
            <a:endParaRPr lang="da-DK" sz="2500" b="1" dirty="0"/>
          </a:p>
          <a:p>
            <a:pPr marL="0" indent="0" algn="ctr">
              <a:lnSpc>
                <a:spcPct val="100000"/>
              </a:lnSpc>
              <a:spcBef>
                <a:spcPts val="0"/>
              </a:spcBef>
              <a:buNone/>
            </a:pPr>
            <a:r>
              <a:rPr lang="da-DK" sz="2500" dirty="0"/>
              <a:t>Er konsekvensen god for flest mennesker mest muligt?</a:t>
            </a:r>
          </a:p>
        </p:txBody>
      </p:sp>
      <p:sp>
        <p:nvSpPr>
          <p:cNvPr id="12" name="Pladsholder til indhold 2">
            <a:extLst>
              <a:ext uri="{FF2B5EF4-FFF2-40B4-BE49-F238E27FC236}">
                <a16:creationId xmlns:a16="http://schemas.microsoft.com/office/drawing/2014/main" id="{CD6AB62D-A69D-6FFC-A153-75C15BC6F027}"/>
              </a:ext>
            </a:extLst>
          </p:cNvPr>
          <p:cNvSpPr txBox="1">
            <a:spLocks/>
          </p:cNvSpPr>
          <p:nvPr/>
        </p:nvSpPr>
        <p:spPr>
          <a:xfrm>
            <a:off x="3229590" y="5317007"/>
            <a:ext cx="5299058" cy="539784"/>
          </a:xfrm>
          <a:prstGeom prst="rect">
            <a:avLst/>
          </a:prstGeom>
          <a:solidFill>
            <a:srgbClr val="FFC000"/>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da-DK" sz="2400" b="1" dirty="0"/>
              <a:t>Handlingen vurderes ud fra </a:t>
            </a:r>
            <a:r>
              <a:rPr lang="da-DK" sz="2400" b="1" dirty="0">
                <a:solidFill>
                  <a:srgbClr val="0070C0"/>
                </a:solidFill>
              </a:rPr>
              <a:t>resultatet!</a:t>
            </a:r>
            <a:endParaRPr lang="da-DK" sz="2500" dirty="0">
              <a:solidFill>
                <a:srgbClr val="0070C0"/>
              </a:solidFill>
            </a:endParaRPr>
          </a:p>
        </p:txBody>
      </p:sp>
    </p:spTree>
    <p:extLst>
      <p:ext uri="{BB962C8B-B14F-4D97-AF65-F5344CB8AC3E}">
        <p14:creationId xmlns:p14="http://schemas.microsoft.com/office/powerpoint/2010/main" val="287786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fade">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1" end="1"/>
                                            </p:txEl>
                                          </p:spTgt>
                                        </p:tgtEl>
                                        <p:attrNameLst>
                                          <p:attrName>style.visibility</p:attrName>
                                        </p:attrNameLst>
                                      </p:cBhvr>
                                      <p:to>
                                        <p:strVal val="visible"/>
                                      </p:to>
                                    </p:set>
                                    <p:animEffect transition="in" filter="fade">
                                      <p:cBhvr>
                                        <p:cTn id="42" dur="500"/>
                                        <p:tgtEl>
                                          <p:spTgt spid="11">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
                                            <p:txEl>
                                              <p:pRg st="0" end="0"/>
                                            </p:txEl>
                                          </p:spTgt>
                                        </p:tgtEl>
                                        <p:attrNameLst>
                                          <p:attrName>style.visibility</p:attrName>
                                        </p:attrNameLst>
                                      </p:cBhvr>
                                      <p:to>
                                        <p:strVal val="visible"/>
                                      </p:to>
                                    </p:set>
                                    <p:animEffect transition="in" filter="fade">
                                      <p:cBhvr>
                                        <p:cTn id="4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B94004ED-84E0-01CB-786B-7242758A53F1}"/>
            </a:ext>
          </a:extLst>
        </p:cNvPr>
        <p:cNvGrpSpPr/>
        <p:nvPr/>
      </p:nvGrpSpPr>
      <p:grpSpPr>
        <a:xfrm>
          <a:off x="0" y="0"/>
          <a:ext cx="0" cy="0"/>
          <a:chOff x="0" y="0"/>
          <a:chExt cx="0" cy="0"/>
        </a:xfrm>
      </p:grpSpPr>
      <p:sp>
        <p:nvSpPr>
          <p:cNvPr id="3" name="Titel 1">
            <a:extLst>
              <a:ext uri="{FF2B5EF4-FFF2-40B4-BE49-F238E27FC236}">
                <a16:creationId xmlns:a16="http://schemas.microsoft.com/office/drawing/2014/main" id="{08FEC4AD-45FF-C249-B2FD-8C460D958C46}"/>
              </a:ext>
            </a:extLst>
          </p:cNvPr>
          <p:cNvSpPr txBox="1">
            <a:spLocks/>
          </p:cNvSpPr>
          <p:nvPr/>
        </p:nvSpPr>
        <p:spPr>
          <a:xfrm>
            <a:off x="838200" y="12700"/>
            <a:ext cx="10515600" cy="86051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a-DK" b="1" dirty="0">
                <a:latin typeface="+mn-lt"/>
              </a:rPr>
              <a:t>Pligtetik - Deontologi</a:t>
            </a:r>
          </a:p>
        </p:txBody>
      </p:sp>
      <p:sp>
        <p:nvSpPr>
          <p:cNvPr id="2" name="Tekstfelt 1">
            <a:extLst>
              <a:ext uri="{FF2B5EF4-FFF2-40B4-BE49-F238E27FC236}">
                <a16:creationId xmlns:a16="http://schemas.microsoft.com/office/drawing/2014/main" id="{D15FC5CE-0952-60E3-9EB6-A090C8BF17D9}"/>
              </a:ext>
            </a:extLst>
          </p:cNvPr>
          <p:cNvSpPr txBox="1"/>
          <p:nvPr/>
        </p:nvSpPr>
        <p:spPr>
          <a:xfrm>
            <a:off x="117046" y="6463913"/>
            <a:ext cx="4144092" cy="323165"/>
          </a:xfrm>
          <a:prstGeom prst="rect">
            <a:avLst/>
          </a:prstGeom>
          <a:noFill/>
        </p:spPr>
        <p:txBody>
          <a:bodyPr wrap="square" rtlCol="0">
            <a:spAutoFit/>
          </a:bodyPr>
          <a:lstStyle/>
          <a:p>
            <a:r>
              <a:rPr lang="da-DK" sz="1500" i="1" dirty="0"/>
              <a:t>(Kuada, 2012)</a:t>
            </a:r>
            <a:endParaRPr lang="en-US" sz="1500" i="1" dirty="0"/>
          </a:p>
        </p:txBody>
      </p:sp>
      <p:sp>
        <p:nvSpPr>
          <p:cNvPr id="5" name="Pladsholder til indhold 2">
            <a:extLst>
              <a:ext uri="{FF2B5EF4-FFF2-40B4-BE49-F238E27FC236}">
                <a16:creationId xmlns:a16="http://schemas.microsoft.com/office/drawing/2014/main" id="{D99A382F-97C2-3872-672D-F8EEB434B7D1}"/>
              </a:ext>
            </a:extLst>
          </p:cNvPr>
          <p:cNvSpPr txBox="1">
            <a:spLocks/>
          </p:cNvSpPr>
          <p:nvPr/>
        </p:nvSpPr>
        <p:spPr>
          <a:xfrm>
            <a:off x="3494953" y="674225"/>
            <a:ext cx="5299058" cy="1617152"/>
          </a:xfrm>
          <a:prstGeom prst="rect">
            <a:avLst/>
          </a:prstGeom>
          <a:solidFill>
            <a:schemeClr val="accent3">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t>Påbud 1: Det kategoriske imperativ</a:t>
            </a:r>
          </a:p>
          <a:p>
            <a:pPr marL="0" indent="0" algn="ctr">
              <a:buNone/>
            </a:pPr>
            <a:r>
              <a:rPr lang="da-DK" sz="2400" dirty="0"/>
              <a:t>Handlinger skal kunne forsvares med fornuft, ud fra ‘</a:t>
            </a:r>
            <a:r>
              <a:rPr lang="da-DK" sz="2400" b="1" dirty="0">
                <a:solidFill>
                  <a:srgbClr val="0066CC"/>
                </a:solidFill>
              </a:rPr>
              <a:t>hvis alle mennesker handlede på samme måde</a:t>
            </a:r>
            <a:r>
              <a:rPr lang="da-DK" sz="2400" dirty="0"/>
              <a:t>’!</a:t>
            </a:r>
          </a:p>
        </p:txBody>
      </p:sp>
      <p:sp>
        <p:nvSpPr>
          <p:cNvPr id="6" name="Tekstfelt 5">
            <a:extLst>
              <a:ext uri="{FF2B5EF4-FFF2-40B4-BE49-F238E27FC236}">
                <a16:creationId xmlns:a16="http://schemas.microsoft.com/office/drawing/2014/main" id="{A12449FF-FD77-0BF1-8F2A-17DB2587B5A2}"/>
              </a:ext>
            </a:extLst>
          </p:cNvPr>
          <p:cNvSpPr txBox="1"/>
          <p:nvPr/>
        </p:nvSpPr>
        <p:spPr>
          <a:xfrm>
            <a:off x="1385485" y="2252175"/>
            <a:ext cx="1476702" cy="523220"/>
          </a:xfrm>
          <a:prstGeom prst="rect">
            <a:avLst/>
          </a:prstGeom>
          <a:solidFill>
            <a:srgbClr val="FFFFCC"/>
          </a:solidFill>
        </p:spPr>
        <p:txBody>
          <a:bodyPr wrap="square">
            <a:spAutoFit/>
          </a:bodyPr>
          <a:lstStyle/>
          <a:p>
            <a:pPr algn="ctr"/>
            <a:r>
              <a:rPr lang="nn-NO" sz="1400" b="1" dirty="0"/>
              <a:t>Immanuel Kant</a:t>
            </a:r>
          </a:p>
          <a:p>
            <a:pPr algn="ctr"/>
            <a:r>
              <a:rPr lang="nn-NO" sz="1400" dirty="0"/>
              <a:t>(1724 til 1804)</a:t>
            </a:r>
          </a:p>
        </p:txBody>
      </p:sp>
      <p:pic>
        <p:nvPicPr>
          <p:cNvPr id="7" name="Billede 6">
            <a:extLst>
              <a:ext uri="{FF2B5EF4-FFF2-40B4-BE49-F238E27FC236}">
                <a16:creationId xmlns:a16="http://schemas.microsoft.com/office/drawing/2014/main" id="{F205B91D-B1FB-E2B2-E30E-209133527ADF}"/>
              </a:ext>
            </a:extLst>
          </p:cNvPr>
          <p:cNvPicPr>
            <a:picLocks noChangeAspect="1"/>
          </p:cNvPicPr>
          <p:nvPr/>
        </p:nvPicPr>
        <p:blipFill>
          <a:blip r:embed="rId3"/>
          <a:stretch>
            <a:fillRect/>
          </a:stretch>
        </p:blipFill>
        <p:spPr>
          <a:xfrm>
            <a:off x="1451142" y="733934"/>
            <a:ext cx="1374252" cy="1503558"/>
          </a:xfrm>
          <a:prstGeom prst="rect">
            <a:avLst/>
          </a:prstGeom>
        </p:spPr>
      </p:pic>
      <p:sp>
        <p:nvSpPr>
          <p:cNvPr id="8" name="Tekstfelt 7">
            <a:extLst>
              <a:ext uri="{FF2B5EF4-FFF2-40B4-BE49-F238E27FC236}">
                <a16:creationId xmlns:a16="http://schemas.microsoft.com/office/drawing/2014/main" id="{47EFEDAA-ABBE-710C-1037-1FDB97B01819}"/>
              </a:ext>
            </a:extLst>
          </p:cNvPr>
          <p:cNvSpPr txBox="1"/>
          <p:nvPr/>
        </p:nvSpPr>
        <p:spPr>
          <a:xfrm>
            <a:off x="3494953" y="2410848"/>
            <a:ext cx="2313560" cy="1631216"/>
          </a:xfrm>
          <a:prstGeom prst="rect">
            <a:avLst/>
          </a:prstGeom>
          <a:solidFill>
            <a:srgbClr val="CAFEDA"/>
          </a:solidFill>
        </p:spPr>
        <p:txBody>
          <a:bodyPr wrap="square">
            <a:spAutoFit/>
          </a:bodyPr>
          <a:lstStyle/>
          <a:p>
            <a:r>
              <a:rPr lang="da-DK" sz="2000" b="1" dirty="0"/>
              <a:t>Etiske handlinger:</a:t>
            </a:r>
            <a:endParaRPr lang="da-DK" sz="2000" dirty="0"/>
          </a:p>
          <a:p>
            <a:r>
              <a:rPr lang="da-DK" sz="2000" dirty="0"/>
              <a:t>Sig sandhed, hold dine løfter, du skal have god </a:t>
            </a:r>
            <a:r>
              <a:rPr lang="da-DK" sz="2000" b="1" dirty="0">
                <a:solidFill>
                  <a:srgbClr val="FF0000"/>
                </a:solidFill>
              </a:rPr>
              <a:t>intention</a:t>
            </a:r>
            <a:r>
              <a:rPr lang="da-DK" sz="2000" dirty="0"/>
              <a:t> med din handling…</a:t>
            </a:r>
          </a:p>
        </p:txBody>
      </p:sp>
      <p:sp>
        <p:nvSpPr>
          <p:cNvPr id="9" name="Tekstfelt 8">
            <a:extLst>
              <a:ext uri="{FF2B5EF4-FFF2-40B4-BE49-F238E27FC236}">
                <a16:creationId xmlns:a16="http://schemas.microsoft.com/office/drawing/2014/main" id="{169414C0-76CA-13BC-B701-B4C605026D56}"/>
              </a:ext>
            </a:extLst>
          </p:cNvPr>
          <p:cNvSpPr txBox="1"/>
          <p:nvPr/>
        </p:nvSpPr>
        <p:spPr>
          <a:xfrm>
            <a:off x="6287788" y="2410848"/>
            <a:ext cx="2506223" cy="1631216"/>
          </a:xfrm>
          <a:prstGeom prst="rect">
            <a:avLst/>
          </a:prstGeom>
          <a:solidFill>
            <a:srgbClr val="FDA091"/>
          </a:solidFill>
        </p:spPr>
        <p:txBody>
          <a:bodyPr wrap="square">
            <a:spAutoFit/>
          </a:bodyPr>
          <a:lstStyle/>
          <a:p>
            <a:r>
              <a:rPr lang="da-DK" sz="2000" b="1" dirty="0"/>
              <a:t>Uetiske handlinger</a:t>
            </a:r>
          </a:p>
          <a:p>
            <a:r>
              <a:rPr lang="da-DK" sz="2000" b="1" dirty="0">
                <a:solidFill>
                  <a:srgbClr val="FF0000"/>
                </a:solidFill>
              </a:rPr>
              <a:t>Uanset</a:t>
            </a:r>
            <a:r>
              <a:rPr lang="da-DK" sz="2000" dirty="0"/>
              <a:t> intensionen er lyve, stjæle, skade andre mennesker uetisk…</a:t>
            </a:r>
          </a:p>
        </p:txBody>
      </p:sp>
      <p:sp>
        <p:nvSpPr>
          <p:cNvPr id="4" name="Pladsholder til indhold 2">
            <a:extLst>
              <a:ext uri="{FF2B5EF4-FFF2-40B4-BE49-F238E27FC236}">
                <a16:creationId xmlns:a16="http://schemas.microsoft.com/office/drawing/2014/main" id="{0CA5F6F1-FBCB-2E77-C3DB-18C8BF21CF74}"/>
              </a:ext>
            </a:extLst>
          </p:cNvPr>
          <p:cNvSpPr txBox="1">
            <a:spLocks/>
          </p:cNvSpPr>
          <p:nvPr/>
        </p:nvSpPr>
        <p:spPr>
          <a:xfrm>
            <a:off x="3517030" y="4169183"/>
            <a:ext cx="5299058" cy="1285289"/>
          </a:xfrm>
          <a:prstGeom prst="rect">
            <a:avLst/>
          </a:prstGeom>
          <a:solidFill>
            <a:srgbClr val="FFFF00"/>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da-DK" sz="2400" b="1" dirty="0"/>
              <a:t>Etisk handling:</a:t>
            </a:r>
            <a:endParaRPr lang="da-DK" sz="2500" b="1" dirty="0"/>
          </a:p>
          <a:p>
            <a:pPr marL="0" indent="0" algn="ctr">
              <a:lnSpc>
                <a:spcPct val="100000"/>
              </a:lnSpc>
              <a:spcBef>
                <a:spcPts val="0"/>
              </a:spcBef>
              <a:buNone/>
            </a:pPr>
            <a:r>
              <a:rPr lang="da-DK" sz="2500" dirty="0"/>
              <a:t>Er handlingen i overensstemmelse med regler/pligter?</a:t>
            </a:r>
          </a:p>
        </p:txBody>
      </p:sp>
      <p:sp>
        <p:nvSpPr>
          <p:cNvPr id="10" name="Pladsholder til indhold 2">
            <a:extLst>
              <a:ext uri="{FF2B5EF4-FFF2-40B4-BE49-F238E27FC236}">
                <a16:creationId xmlns:a16="http://schemas.microsoft.com/office/drawing/2014/main" id="{485A53DC-5BA3-435E-40CC-993EB1C29989}"/>
              </a:ext>
            </a:extLst>
          </p:cNvPr>
          <p:cNvSpPr txBox="1">
            <a:spLocks/>
          </p:cNvSpPr>
          <p:nvPr/>
        </p:nvSpPr>
        <p:spPr>
          <a:xfrm>
            <a:off x="2825394" y="5583227"/>
            <a:ext cx="7128833" cy="539784"/>
          </a:xfrm>
          <a:prstGeom prst="rect">
            <a:avLst/>
          </a:prstGeom>
          <a:solidFill>
            <a:srgbClr val="FFC000"/>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da-DK" sz="2400" b="1" dirty="0"/>
              <a:t>Handling vurderes ud fra </a:t>
            </a:r>
            <a:r>
              <a:rPr lang="da-DK" sz="2400" b="1" dirty="0">
                <a:solidFill>
                  <a:srgbClr val="0070C0"/>
                </a:solidFill>
              </a:rPr>
              <a:t>principper eller regler.</a:t>
            </a:r>
            <a:endParaRPr lang="da-DK" sz="2500" dirty="0">
              <a:solidFill>
                <a:srgbClr val="0070C0"/>
              </a:solidFill>
            </a:endParaRPr>
          </a:p>
        </p:txBody>
      </p:sp>
    </p:spTree>
    <p:extLst>
      <p:ext uri="{BB962C8B-B14F-4D97-AF65-F5344CB8AC3E}">
        <p14:creationId xmlns:p14="http://schemas.microsoft.com/office/powerpoint/2010/main" val="142218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fade">
                                      <p:cBhvr>
                                        <p:cTn id="27" dur="5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animEffect transition="in" filter="fade">
                                      <p:cBhvr>
                                        <p:cTn id="32"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42E6D84E-CFE4-0E93-C0AF-7811A8860051}"/>
            </a:ext>
          </a:extLst>
        </p:cNvPr>
        <p:cNvGrpSpPr/>
        <p:nvPr/>
      </p:nvGrpSpPr>
      <p:grpSpPr>
        <a:xfrm>
          <a:off x="0" y="0"/>
          <a:ext cx="0" cy="0"/>
          <a:chOff x="0" y="0"/>
          <a:chExt cx="0" cy="0"/>
        </a:xfrm>
      </p:grpSpPr>
      <p:sp>
        <p:nvSpPr>
          <p:cNvPr id="3" name="Titel 1">
            <a:extLst>
              <a:ext uri="{FF2B5EF4-FFF2-40B4-BE49-F238E27FC236}">
                <a16:creationId xmlns:a16="http://schemas.microsoft.com/office/drawing/2014/main" id="{35B02EAB-27FE-44CD-DA3A-0F0D3A8C2AB9}"/>
              </a:ext>
            </a:extLst>
          </p:cNvPr>
          <p:cNvSpPr txBox="1">
            <a:spLocks/>
          </p:cNvSpPr>
          <p:nvPr/>
        </p:nvSpPr>
        <p:spPr>
          <a:xfrm>
            <a:off x="838200" y="12700"/>
            <a:ext cx="10515600" cy="86051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a-DK" b="1" dirty="0">
                <a:latin typeface="+mn-lt"/>
              </a:rPr>
              <a:t>Dydsetik</a:t>
            </a:r>
          </a:p>
        </p:txBody>
      </p:sp>
      <p:sp>
        <p:nvSpPr>
          <p:cNvPr id="2" name="Tekstfelt 1">
            <a:extLst>
              <a:ext uri="{FF2B5EF4-FFF2-40B4-BE49-F238E27FC236}">
                <a16:creationId xmlns:a16="http://schemas.microsoft.com/office/drawing/2014/main" id="{21DAF92D-4C10-451E-3CEF-7936D3A92E00}"/>
              </a:ext>
            </a:extLst>
          </p:cNvPr>
          <p:cNvSpPr txBox="1"/>
          <p:nvPr/>
        </p:nvSpPr>
        <p:spPr>
          <a:xfrm>
            <a:off x="117046" y="6463913"/>
            <a:ext cx="4144092" cy="323165"/>
          </a:xfrm>
          <a:prstGeom prst="rect">
            <a:avLst/>
          </a:prstGeom>
          <a:noFill/>
        </p:spPr>
        <p:txBody>
          <a:bodyPr wrap="square" rtlCol="0">
            <a:spAutoFit/>
          </a:bodyPr>
          <a:lstStyle/>
          <a:p>
            <a:r>
              <a:rPr lang="da-DK" sz="1500" i="1" dirty="0"/>
              <a:t>(Kuada, 2012)</a:t>
            </a:r>
            <a:endParaRPr lang="en-US" sz="1500" i="1" dirty="0"/>
          </a:p>
        </p:txBody>
      </p:sp>
      <p:sp>
        <p:nvSpPr>
          <p:cNvPr id="5" name="Pladsholder til indhold 2">
            <a:extLst>
              <a:ext uri="{FF2B5EF4-FFF2-40B4-BE49-F238E27FC236}">
                <a16:creationId xmlns:a16="http://schemas.microsoft.com/office/drawing/2014/main" id="{9597BB06-34CD-BA79-D141-F71C254DB4D3}"/>
              </a:ext>
            </a:extLst>
          </p:cNvPr>
          <p:cNvSpPr txBox="1">
            <a:spLocks/>
          </p:cNvSpPr>
          <p:nvPr/>
        </p:nvSpPr>
        <p:spPr>
          <a:xfrm>
            <a:off x="3494953" y="697377"/>
            <a:ext cx="5299058" cy="1263815"/>
          </a:xfrm>
          <a:prstGeom prst="rect">
            <a:avLst/>
          </a:prstGeom>
          <a:solidFill>
            <a:schemeClr val="accent3">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t>Dydsetik:</a:t>
            </a:r>
          </a:p>
          <a:p>
            <a:pPr marL="0" indent="0" algn="ctr">
              <a:buNone/>
            </a:pPr>
            <a:r>
              <a:rPr lang="da-DK" sz="2400" dirty="0"/>
              <a:t>Et godt liv opnås ved at udvikle gode karaktertræk (dyder) gennem livet.</a:t>
            </a:r>
          </a:p>
        </p:txBody>
      </p:sp>
      <p:sp>
        <p:nvSpPr>
          <p:cNvPr id="8" name="Tekstfelt 7">
            <a:extLst>
              <a:ext uri="{FF2B5EF4-FFF2-40B4-BE49-F238E27FC236}">
                <a16:creationId xmlns:a16="http://schemas.microsoft.com/office/drawing/2014/main" id="{70D8918A-E9BD-FDA2-3974-6CD5DBC645AC}"/>
              </a:ext>
            </a:extLst>
          </p:cNvPr>
          <p:cNvSpPr txBox="1"/>
          <p:nvPr/>
        </p:nvSpPr>
        <p:spPr>
          <a:xfrm>
            <a:off x="3494953" y="2094956"/>
            <a:ext cx="5299058" cy="1015663"/>
          </a:xfrm>
          <a:prstGeom prst="rect">
            <a:avLst/>
          </a:prstGeom>
          <a:solidFill>
            <a:srgbClr val="CAFEDA"/>
          </a:solidFill>
        </p:spPr>
        <p:txBody>
          <a:bodyPr wrap="square">
            <a:spAutoFit/>
          </a:bodyPr>
          <a:lstStyle/>
          <a:p>
            <a:pPr algn="ctr"/>
            <a:r>
              <a:rPr lang="da-DK" sz="2000" b="1" dirty="0"/>
              <a:t>Aristoteles ‘Gyldne middelvej’</a:t>
            </a:r>
          </a:p>
          <a:p>
            <a:pPr algn="ctr"/>
            <a:r>
              <a:rPr lang="da-DK" sz="2000" dirty="0"/>
              <a:t>”Dyden er det, der ligger mellem over- og underdrivelsen”</a:t>
            </a:r>
          </a:p>
        </p:txBody>
      </p:sp>
      <p:sp>
        <p:nvSpPr>
          <p:cNvPr id="4" name="Tekstfelt 3">
            <a:extLst>
              <a:ext uri="{FF2B5EF4-FFF2-40B4-BE49-F238E27FC236}">
                <a16:creationId xmlns:a16="http://schemas.microsoft.com/office/drawing/2014/main" id="{310B1690-446F-5B6E-4043-314C9DD70B61}"/>
              </a:ext>
            </a:extLst>
          </p:cNvPr>
          <p:cNvSpPr txBox="1"/>
          <p:nvPr/>
        </p:nvSpPr>
        <p:spPr>
          <a:xfrm>
            <a:off x="1444374" y="2841461"/>
            <a:ext cx="1781709" cy="707886"/>
          </a:xfrm>
          <a:prstGeom prst="rect">
            <a:avLst/>
          </a:prstGeom>
          <a:solidFill>
            <a:srgbClr val="FFFFCC"/>
          </a:solidFill>
        </p:spPr>
        <p:txBody>
          <a:bodyPr wrap="square">
            <a:spAutoFit/>
          </a:bodyPr>
          <a:lstStyle/>
          <a:p>
            <a:pPr algn="ctr"/>
            <a:r>
              <a:rPr lang="nn-NO" sz="2000" b="1" dirty="0"/>
              <a:t>Aristoteles</a:t>
            </a:r>
          </a:p>
          <a:p>
            <a:pPr algn="ctr"/>
            <a:r>
              <a:rPr lang="nn-NO" sz="2000" dirty="0"/>
              <a:t>(384 - 322)</a:t>
            </a:r>
          </a:p>
        </p:txBody>
      </p:sp>
      <p:pic>
        <p:nvPicPr>
          <p:cNvPr id="10" name="Billede 9">
            <a:extLst>
              <a:ext uri="{FF2B5EF4-FFF2-40B4-BE49-F238E27FC236}">
                <a16:creationId xmlns:a16="http://schemas.microsoft.com/office/drawing/2014/main" id="{D71EAA57-4D59-D00C-07AC-996D4557FF4F}"/>
              </a:ext>
            </a:extLst>
          </p:cNvPr>
          <p:cNvPicPr>
            <a:picLocks noChangeAspect="1"/>
          </p:cNvPicPr>
          <p:nvPr/>
        </p:nvPicPr>
        <p:blipFill>
          <a:blip r:embed="rId3"/>
          <a:stretch>
            <a:fillRect/>
          </a:stretch>
        </p:blipFill>
        <p:spPr>
          <a:xfrm>
            <a:off x="1444375" y="720113"/>
            <a:ext cx="1781710" cy="2110764"/>
          </a:xfrm>
          <a:prstGeom prst="rect">
            <a:avLst/>
          </a:prstGeom>
        </p:spPr>
      </p:pic>
      <p:sp>
        <p:nvSpPr>
          <p:cNvPr id="6" name="Pladsholder til indhold 2">
            <a:extLst>
              <a:ext uri="{FF2B5EF4-FFF2-40B4-BE49-F238E27FC236}">
                <a16:creationId xmlns:a16="http://schemas.microsoft.com/office/drawing/2014/main" id="{C1B7A364-5DA1-2BFD-A240-D8B831EF8BD1}"/>
              </a:ext>
            </a:extLst>
          </p:cNvPr>
          <p:cNvSpPr txBox="1">
            <a:spLocks/>
          </p:cNvSpPr>
          <p:nvPr/>
        </p:nvSpPr>
        <p:spPr>
          <a:xfrm>
            <a:off x="3517030" y="3254783"/>
            <a:ext cx="5299058" cy="1285289"/>
          </a:xfrm>
          <a:prstGeom prst="rect">
            <a:avLst/>
          </a:prstGeom>
          <a:solidFill>
            <a:srgbClr val="FFFF00"/>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da-DK" sz="2400" b="1" dirty="0"/>
              <a:t>Etisk handling:</a:t>
            </a:r>
            <a:endParaRPr lang="da-DK" sz="2500" b="1" dirty="0"/>
          </a:p>
          <a:p>
            <a:pPr marL="0" indent="0" algn="ctr">
              <a:lnSpc>
                <a:spcPct val="100000"/>
              </a:lnSpc>
              <a:spcBef>
                <a:spcPts val="0"/>
              </a:spcBef>
              <a:buNone/>
            </a:pPr>
            <a:r>
              <a:rPr lang="da-DK" sz="2500" dirty="0"/>
              <a:t>Handler personen som et godt menneske bør handle?</a:t>
            </a:r>
          </a:p>
        </p:txBody>
      </p:sp>
      <p:sp>
        <p:nvSpPr>
          <p:cNvPr id="7" name="Pladsholder til indhold 2">
            <a:extLst>
              <a:ext uri="{FF2B5EF4-FFF2-40B4-BE49-F238E27FC236}">
                <a16:creationId xmlns:a16="http://schemas.microsoft.com/office/drawing/2014/main" id="{57F5BC2D-924A-7820-8F84-9A6D82B5FDA9}"/>
              </a:ext>
            </a:extLst>
          </p:cNvPr>
          <p:cNvSpPr txBox="1">
            <a:spLocks/>
          </p:cNvSpPr>
          <p:nvPr/>
        </p:nvSpPr>
        <p:spPr>
          <a:xfrm>
            <a:off x="2825394" y="4668827"/>
            <a:ext cx="7128833" cy="539784"/>
          </a:xfrm>
          <a:prstGeom prst="rect">
            <a:avLst/>
          </a:prstGeom>
          <a:solidFill>
            <a:srgbClr val="FFC000"/>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da-DK" sz="2400" b="1" dirty="0"/>
              <a:t>Handling vurderes ud fra </a:t>
            </a:r>
            <a:r>
              <a:rPr lang="da-DK" sz="2400" b="1" dirty="0">
                <a:solidFill>
                  <a:srgbClr val="0070C0"/>
                </a:solidFill>
              </a:rPr>
              <a:t>karakter og dyder.</a:t>
            </a:r>
            <a:endParaRPr lang="da-DK" sz="2500" dirty="0">
              <a:solidFill>
                <a:srgbClr val="0070C0"/>
              </a:solidFill>
            </a:endParaRPr>
          </a:p>
        </p:txBody>
      </p:sp>
    </p:spTree>
    <p:extLst>
      <p:ext uri="{BB962C8B-B14F-4D97-AF65-F5344CB8AC3E}">
        <p14:creationId xmlns:p14="http://schemas.microsoft.com/office/powerpoint/2010/main" val="2358312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xEl>
                                              <p:pRg st="0" end="0"/>
                                            </p:txEl>
                                          </p:spTgt>
                                        </p:tgtEl>
                                        <p:attrNameLst>
                                          <p:attrName>style.visibility</p:attrName>
                                        </p:attrNameLst>
                                      </p:cBhvr>
                                      <p:to>
                                        <p:strVal val="visible"/>
                                      </p:to>
                                    </p:set>
                                    <p:animEffect transition="in" filter="fade">
                                      <p:cBhvr>
                                        <p:cTn id="30"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graphicFrame>
        <p:nvGraphicFramePr>
          <p:cNvPr id="6" name="object 2">
            <a:extLst>
              <a:ext uri="{FF2B5EF4-FFF2-40B4-BE49-F238E27FC236}">
                <a16:creationId xmlns:a16="http://schemas.microsoft.com/office/drawing/2014/main" id="{28DEDF84-FDEB-5551-F128-5E31981DA5FE}"/>
              </a:ext>
            </a:extLst>
          </p:cNvPr>
          <p:cNvGraphicFramePr>
            <a:graphicFrameLocks noGrp="1"/>
          </p:cNvGraphicFramePr>
          <p:nvPr/>
        </p:nvGraphicFramePr>
        <p:xfrm>
          <a:off x="236537" y="1207477"/>
          <a:ext cx="11709279" cy="4899723"/>
        </p:xfrm>
        <a:graphic>
          <a:graphicData uri="http://schemas.openxmlformats.org/drawingml/2006/table">
            <a:tbl>
              <a:tblPr firstRow="1" bandRow="1">
                <a:tableStyleId>{2D5ABB26-0587-4C30-8999-92F81FD0307C}</a:tableStyleId>
              </a:tblPr>
              <a:tblGrid>
                <a:gridCol w="2612171">
                  <a:extLst>
                    <a:ext uri="{9D8B030D-6E8A-4147-A177-3AD203B41FA5}">
                      <a16:colId xmlns:a16="http://schemas.microsoft.com/office/drawing/2014/main" val="20000"/>
                    </a:ext>
                  </a:extLst>
                </a:gridCol>
                <a:gridCol w="3376246">
                  <a:extLst>
                    <a:ext uri="{9D8B030D-6E8A-4147-A177-3AD203B41FA5}">
                      <a16:colId xmlns:a16="http://schemas.microsoft.com/office/drawing/2014/main" val="20001"/>
                    </a:ext>
                  </a:extLst>
                </a:gridCol>
                <a:gridCol w="2794182">
                  <a:extLst>
                    <a:ext uri="{9D8B030D-6E8A-4147-A177-3AD203B41FA5}">
                      <a16:colId xmlns:a16="http://schemas.microsoft.com/office/drawing/2014/main" val="20002"/>
                    </a:ext>
                  </a:extLst>
                </a:gridCol>
                <a:gridCol w="2926680">
                  <a:extLst>
                    <a:ext uri="{9D8B030D-6E8A-4147-A177-3AD203B41FA5}">
                      <a16:colId xmlns:a16="http://schemas.microsoft.com/office/drawing/2014/main" val="20003"/>
                    </a:ext>
                  </a:extLst>
                </a:gridCol>
              </a:tblGrid>
              <a:tr h="492197">
                <a:tc>
                  <a:txBody>
                    <a:bodyPr/>
                    <a:lstStyle/>
                    <a:p>
                      <a:pPr marL="599440" algn="l">
                        <a:lnSpc>
                          <a:spcPct val="100000"/>
                        </a:lnSpc>
                        <a:spcBef>
                          <a:spcPts val="315"/>
                        </a:spcBef>
                      </a:pPr>
                      <a:r>
                        <a:rPr lang="da-DK" sz="1800" b="1" u="none" dirty="0">
                          <a:uFill>
                            <a:solidFill>
                              <a:srgbClr val="000000"/>
                            </a:solidFill>
                          </a:uFill>
                          <a:latin typeface="Arial"/>
                          <a:cs typeface="Arial"/>
                        </a:rPr>
                        <a:t>    Situation</a:t>
                      </a:r>
                      <a:endParaRPr sz="1800" u="none" dirty="0">
                        <a:latin typeface="Arial"/>
                        <a:cs typeface="Arial"/>
                      </a:endParaRPr>
                    </a:p>
                  </a:txBody>
                  <a:tcPr marL="0" marR="0" marT="40005" marB="0" anchor="ctr">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chemeClr val="bg1">
                        <a:lumMod val="85000"/>
                      </a:schemeClr>
                    </a:solidFill>
                  </a:tcPr>
                </a:tc>
                <a:tc>
                  <a:txBody>
                    <a:bodyPr/>
                    <a:lstStyle/>
                    <a:p>
                      <a:pPr marL="113664" algn="ctr">
                        <a:lnSpc>
                          <a:spcPct val="100000"/>
                        </a:lnSpc>
                        <a:spcBef>
                          <a:spcPts val="315"/>
                        </a:spcBef>
                      </a:pPr>
                      <a:r>
                        <a:rPr lang="da-DK" sz="1800" b="1" u="none" spc="-15" dirty="0">
                          <a:uFill>
                            <a:solidFill>
                              <a:srgbClr val="000000"/>
                            </a:solidFill>
                          </a:uFill>
                          <a:latin typeface="Arial"/>
                          <a:cs typeface="Arial"/>
                        </a:rPr>
                        <a:t>Underdrivelse</a:t>
                      </a:r>
                      <a:endParaRPr sz="1800" u="none" dirty="0">
                        <a:latin typeface="Arial"/>
                        <a:cs typeface="Arial"/>
                      </a:endParaRPr>
                    </a:p>
                  </a:txBody>
                  <a:tcPr marL="0" marR="0" marT="40005" marB="0" anchor="ctr">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chemeClr val="bg1">
                        <a:lumMod val="85000"/>
                      </a:schemeClr>
                    </a:solidFill>
                  </a:tcPr>
                </a:tc>
                <a:tc>
                  <a:txBody>
                    <a:bodyPr/>
                    <a:lstStyle/>
                    <a:p>
                      <a:pPr marL="367030" algn="l">
                        <a:lnSpc>
                          <a:spcPct val="100000"/>
                        </a:lnSpc>
                        <a:spcBef>
                          <a:spcPts val="315"/>
                        </a:spcBef>
                      </a:pPr>
                      <a:r>
                        <a:rPr lang="da-DK" sz="1800" b="1" u="none" spc="-10" dirty="0">
                          <a:uFill>
                            <a:solidFill>
                              <a:srgbClr val="000000"/>
                            </a:solidFill>
                          </a:uFill>
                          <a:latin typeface="Arial"/>
                          <a:cs typeface="Arial"/>
                        </a:rPr>
                        <a:t>     Dydig (gylden  </a:t>
                      </a:r>
                    </a:p>
                    <a:p>
                      <a:pPr marL="367030" algn="l">
                        <a:lnSpc>
                          <a:spcPct val="100000"/>
                        </a:lnSpc>
                        <a:spcBef>
                          <a:spcPts val="315"/>
                        </a:spcBef>
                      </a:pPr>
                      <a:r>
                        <a:rPr lang="da-DK" sz="1800" b="1" u="none" spc="-10" dirty="0">
                          <a:uFill>
                            <a:solidFill>
                              <a:srgbClr val="000000"/>
                            </a:solidFill>
                          </a:uFill>
                          <a:latin typeface="Arial"/>
                          <a:cs typeface="Arial"/>
                        </a:rPr>
                        <a:t>        middelvej)</a:t>
                      </a:r>
                      <a:endParaRPr sz="1800" u="none" dirty="0">
                        <a:latin typeface="Arial"/>
                        <a:cs typeface="Arial"/>
                      </a:endParaRPr>
                    </a:p>
                  </a:txBody>
                  <a:tcPr marL="0" marR="0" marT="40005" marB="0" anchor="ctr">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chemeClr val="bg1">
                        <a:lumMod val="85000"/>
                      </a:schemeClr>
                    </a:solidFill>
                  </a:tcPr>
                </a:tc>
                <a:tc>
                  <a:txBody>
                    <a:bodyPr/>
                    <a:lstStyle/>
                    <a:p>
                      <a:pPr marL="292735" algn="ctr">
                        <a:lnSpc>
                          <a:spcPct val="100000"/>
                        </a:lnSpc>
                        <a:spcBef>
                          <a:spcPts val="315"/>
                        </a:spcBef>
                      </a:pPr>
                      <a:r>
                        <a:rPr lang="da-DK" sz="1800" b="1" u="none" spc="-15" dirty="0">
                          <a:uFill>
                            <a:solidFill>
                              <a:srgbClr val="000000"/>
                            </a:solidFill>
                          </a:uFill>
                          <a:latin typeface="Arial"/>
                          <a:cs typeface="Arial"/>
                        </a:rPr>
                        <a:t>Overdrivelse</a:t>
                      </a:r>
                      <a:endParaRPr sz="1800" u="none" dirty="0">
                        <a:latin typeface="Arial"/>
                        <a:cs typeface="Arial"/>
                      </a:endParaRPr>
                    </a:p>
                  </a:txBody>
                  <a:tcPr marL="0" marR="0" marT="40005" marB="0" anchor="ctr">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chemeClr val="bg1">
                        <a:lumMod val="85000"/>
                      </a:schemeClr>
                    </a:solidFill>
                  </a:tcPr>
                </a:tc>
                <a:extLst>
                  <a:ext uri="{0D108BD9-81ED-4DB2-BD59-A6C34878D82A}">
                    <a16:rowId xmlns:a16="http://schemas.microsoft.com/office/drawing/2014/main" val="10000"/>
                  </a:ext>
                </a:extLst>
              </a:tr>
              <a:tr h="490916">
                <a:tc>
                  <a:txBody>
                    <a:bodyPr/>
                    <a:lstStyle/>
                    <a:p>
                      <a:pPr marL="91440" algn="l">
                        <a:lnSpc>
                          <a:spcPct val="100000"/>
                        </a:lnSpc>
                        <a:spcBef>
                          <a:spcPts val="310"/>
                        </a:spcBef>
                      </a:pPr>
                      <a:r>
                        <a:rPr lang="da-DK" sz="1800" b="1" i="1" spc="-10" dirty="0">
                          <a:latin typeface="Arial"/>
                          <a:cs typeface="Arial"/>
                        </a:rPr>
                        <a:t>Fare</a:t>
                      </a:r>
                      <a:endParaRPr sz="1800" b="1" dirty="0">
                        <a:latin typeface="Arial"/>
                        <a:cs typeface="Arial"/>
                      </a:endParaRPr>
                    </a:p>
                  </a:txBody>
                  <a:tcPr marL="0" marR="0" marT="39370" marB="0" anchor="ctr">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91440" algn="l">
                        <a:lnSpc>
                          <a:spcPct val="100000"/>
                        </a:lnSpc>
                        <a:spcBef>
                          <a:spcPts val="310"/>
                        </a:spcBef>
                      </a:pPr>
                      <a:endParaRPr sz="1800" dirty="0">
                        <a:latin typeface="Arial MT"/>
                        <a:cs typeface="Arial MT"/>
                      </a:endParaRPr>
                    </a:p>
                  </a:txBody>
                  <a:tcPr marL="0" marR="0" marT="3937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10"/>
                        </a:spcBef>
                      </a:pPr>
                      <a:endParaRPr sz="1800" dirty="0">
                        <a:latin typeface="Arial MT"/>
                        <a:cs typeface="Arial MT"/>
                      </a:endParaRPr>
                    </a:p>
                  </a:txBody>
                  <a:tcPr marL="0" marR="0" marT="3937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10"/>
                        </a:spcBef>
                      </a:pPr>
                      <a:endParaRPr sz="1800" dirty="0">
                        <a:latin typeface="Arial MT"/>
                        <a:cs typeface="Arial MT"/>
                      </a:endParaRPr>
                    </a:p>
                  </a:txBody>
                  <a:tcPr marL="0" marR="0" marT="39370" marB="0" anchor="ctr">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38967">
                <a:tc>
                  <a:txBody>
                    <a:bodyPr/>
                    <a:lstStyle/>
                    <a:p>
                      <a:pPr marL="91440" marR="644525" algn="l">
                        <a:lnSpc>
                          <a:spcPct val="100000"/>
                        </a:lnSpc>
                        <a:spcBef>
                          <a:spcPts val="315"/>
                        </a:spcBef>
                      </a:pPr>
                      <a:r>
                        <a:rPr lang="da-DK" sz="1800" b="1" i="1" spc="-5" dirty="0">
                          <a:latin typeface="Arial"/>
                          <a:cs typeface="Arial"/>
                        </a:rPr>
                        <a:t>Tilfredsstillelse af appetit</a:t>
                      </a:r>
                      <a:endParaRPr sz="1800" b="1" dirty="0">
                        <a:latin typeface="Arial"/>
                        <a:cs typeface="Arial"/>
                      </a:endParaRPr>
                    </a:p>
                  </a:txBody>
                  <a:tcPr marL="0" marR="0" marT="40005" marB="0" anchor="ctr">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91440" algn="l">
                        <a:lnSpc>
                          <a:spcPct val="100000"/>
                        </a:lnSpc>
                        <a:spcBef>
                          <a:spcPts val="315"/>
                        </a:spcBef>
                      </a:pPr>
                      <a:endParaRPr sz="1800" dirty="0">
                        <a:latin typeface="Arial MT"/>
                        <a:cs typeface="Arial MT"/>
                      </a:endParaRPr>
                    </a:p>
                  </a:txBody>
                  <a:tcPr marL="0" marR="0" marT="4000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15"/>
                        </a:spcBef>
                      </a:pPr>
                      <a:endParaRPr sz="1800" dirty="0">
                        <a:latin typeface="Arial MT"/>
                        <a:cs typeface="Arial MT"/>
                      </a:endParaRPr>
                    </a:p>
                  </a:txBody>
                  <a:tcPr marL="0" marR="0" marT="4000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15"/>
                        </a:spcBef>
                      </a:pPr>
                      <a:endParaRPr sz="1800" dirty="0">
                        <a:latin typeface="Arial MT"/>
                        <a:cs typeface="Arial MT"/>
                      </a:endParaRPr>
                    </a:p>
                  </a:txBody>
                  <a:tcPr marL="0" marR="0" marT="40005" marB="0" anchor="ctr">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90916">
                <a:tc>
                  <a:txBody>
                    <a:bodyPr/>
                    <a:lstStyle/>
                    <a:p>
                      <a:pPr marL="91440" algn="l">
                        <a:lnSpc>
                          <a:spcPct val="100000"/>
                        </a:lnSpc>
                        <a:spcBef>
                          <a:spcPts val="315"/>
                        </a:spcBef>
                      </a:pPr>
                      <a:r>
                        <a:rPr lang="da-DK" sz="1800" b="1" i="1" spc="-5" dirty="0">
                          <a:latin typeface="Arial"/>
                          <a:cs typeface="Arial"/>
                        </a:rPr>
                        <a:t>Giv gaver</a:t>
                      </a:r>
                      <a:endParaRPr sz="1800" b="1" dirty="0">
                        <a:latin typeface="Arial"/>
                        <a:cs typeface="Arial"/>
                      </a:endParaRPr>
                    </a:p>
                  </a:txBody>
                  <a:tcPr marL="0" marR="0" marT="40005" marB="0" anchor="ctr">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91440" algn="l">
                        <a:lnSpc>
                          <a:spcPct val="100000"/>
                        </a:lnSpc>
                        <a:spcBef>
                          <a:spcPts val="315"/>
                        </a:spcBef>
                      </a:pPr>
                      <a:endParaRPr sz="1800" dirty="0">
                        <a:latin typeface="Arial MT"/>
                        <a:cs typeface="Arial MT"/>
                      </a:endParaRPr>
                    </a:p>
                  </a:txBody>
                  <a:tcPr marL="0" marR="0" marT="4000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15"/>
                        </a:spcBef>
                      </a:pPr>
                      <a:endParaRPr sz="1800" dirty="0">
                        <a:latin typeface="Arial MT"/>
                        <a:cs typeface="Arial MT"/>
                      </a:endParaRPr>
                    </a:p>
                  </a:txBody>
                  <a:tcPr marL="0" marR="0" marT="4000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15"/>
                        </a:spcBef>
                      </a:pPr>
                      <a:endParaRPr sz="1800" dirty="0">
                        <a:latin typeface="Arial MT"/>
                        <a:cs typeface="Arial MT"/>
                      </a:endParaRPr>
                    </a:p>
                  </a:txBody>
                  <a:tcPr marL="0" marR="0" marT="40005" marB="0" anchor="ctr">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92197">
                <a:tc>
                  <a:txBody>
                    <a:bodyPr/>
                    <a:lstStyle/>
                    <a:p>
                      <a:pPr marL="91440" algn="l">
                        <a:lnSpc>
                          <a:spcPct val="100000"/>
                        </a:lnSpc>
                        <a:spcBef>
                          <a:spcPts val="315"/>
                        </a:spcBef>
                      </a:pPr>
                      <a:r>
                        <a:rPr lang="da-DK" sz="1800" b="1" i="1" spc="-5" dirty="0">
                          <a:latin typeface="Arial"/>
                          <a:cs typeface="Arial"/>
                        </a:rPr>
                        <a:t>Forfølge mål</a:t>
                      </a:r>
                      <a:endParaRPr sz="1800" b="1" dirty="0">
                        <a:latin typeface="Arial"/>
                        <a:cs typeface="Arial"/>
                      </a:endParaRPr>
                    </a:p>
                  </a:txBody>
                  <a:tcPr marL="0" marR="0" marT="40005" marB="0" anchor="ctr">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91440" algn="l">
                        <a:lnSpc>
                          <a:spcPct val="100000"/>
                        </a:lnSpc>
                        <a:spcBef>
                          <a:spcPts val="315"/>
                        </a:spcBef>
                      </a:pPr>
                      <a:endParaRPr sz="1800" dirty="0">
                        <a:latin typeface="Arial MT"/>
                        <a:cs typeface="Arial MT"/>
                      </a:endParaRPr>
                    </a:p>
                  </a:txBody>
                  <a:tcPr marL="0" marR="0" marT="4000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15"/>
                        </a:spcBef>
                      </a:pPr>
                      <a:endParaRPr sz="1800" dirty="0">
                        <a:latin typeface="Arial MT"/>
                        <a:cs typeface="Arial MT"/>
                      </a:endParaRPr>
                    </a:p>
                  </a:txBody>
                  <a:tcPr marL="0" marR="0" marT="4000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15"/>
                        </a:spcBef>
                      </a:pPr>
                      <a:endParaRPr sz="1800" dirty="0">
                        <a:latin typeface="Arial MT"/>
                        <a:cs typeface="Arial MT"/>
                      </a:endParaRPr>
                    </a:p>
                  </a:txBody>
                  <a:tcPr marL="0" marR="0" marT="40005" marB="0" anchor="ctr">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539548">
                <a:tc>
                  <a:txBody>
                    <a:bodyPr/>
                    <a:lstStyle/>
                    <a:p>
                      <a:pPr marL="91440" algn="l">
                        <a:lnSpc>
                          <a:spcPct val="100000"/>
                        </a:lnSpc>
                        <a:spcBef>
                          <a:spcPts val="320"/>
                        </a:spcBef>
                      </a:pPr>
                      <a:r>
                        <a:rPr lang="da-DK" sz="1800" b="1" i="1" spc="-5" dirty="0">
                          <a:latin typeface="Arial"/>
                          <a:cs typeface="Arial"/>
                        </a:rPr>
                        <a:t>Selvvurdering</a:t>
                      </a:r>
                      <a:endParaRPr sz="1800" b="1" dirty="0">
                        <a:latin typeface="Arial"/>
                        <a:cs typeface="Arial"/>
                      </a:endParaRPr>
                    </a:p>
                  </a:txBody>
                  <a:tcPr marL="0" marR="0" marT="40640" marB="0" anchor="ctr">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91440" marR="959485"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90916">
                <a:tc>
                  <a:txBody>
                    <a:bodyPr/>
                    <a:lstStyle/>
                    <a:p>
                      <a:pPr marL="91440" algn="l">
                        <a:lnSpc>
                          <a:spcPct val="100000"/>
                        </a:lnSpc>
                        <a:spcBef>
                          <a:spcPts val="320"/>
                        </a:spcBef>
                      </a:pPr>
                      <a:r>
                        <a:rPr lang="da-DK" sz="1800" b="1" i="1" spc="-5" dirty="0">
                          <a:latin typeface="Arial"/>
                          <a:cs typeface="Arial"/>
                        </a:rPr>
                        <a:t>Reaktion ifm. fornærmelse</a:t>
                      </a:r>
                      <a:endParaRPr sz="1800" b="1" dirty="0">
                        <a:latin typeface="Arial"/>
                        <a:cs typeface="Arial"/>
                      </a:endParaRPr>
                    </a:p>
                  </a:txBody>
                  <a:tcPr marL="0" marR="0" marT="40640" marB="0" anchor="ctr">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91440"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92196">
                <a:tc>
                  <a:txBody>
                    <a:bodyPr/>
                    <a:lstStyle/>
                    <a:p>
                      <a:pPr marL="91440" algn="l">
                        <a:lnSpc>
                          <a:spcPct val="100000"/>
                        </a:lnSpc>
                        <a:spcBef>
                          <a:spcPts val="320"/>
                        </a:spcBef>
                      </a:pPr>
                      <a:r>
                        <a:rPr sz="1800" b="1" i="1" spc="-5" dirty="0">
                          <a:latin typeface="Arial"/>
                          <a:cs typeface="Arial"/>
                        </a:rPr>
                        <a:t>Social</a:t>
                      </a:r>
                      <a:r>
                        <a:rPr sz="1800" b="1" i="1" spc="-30" dirty="0">
                          <a:latin typeface="Arial"/>
                          <a:cs typeface="Arial"/>
                        </a:rPr>
                        <a:t> </a:t>
                      </a:r>
                      <a:r>
                        <a:rPr lang="da-DK" sz="1800" b="1" i="1" spc="-5" dirty="0">
                          <a:latin typeface="Arial"/>
                          <a:cs typeface="Arial"/>
                        </a:rPr>
                        <a:t>adfærd</a:t>
                      </a:r>
                      <a:endParaRPr sz="1800" b="1" dirty="0">
                        <a:latin typeface="Arial"/>
                        <a:cs typeface="Arial"/>
                      </a:endParaRPr>
                    </a:p>
                  </a:txBody>
                  <a:tcPr marL="0" marR="0" marT="40640" marB="0" anchor="ctr">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91440"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97427">
                <a:tc>
                  <a:txBody>
                    <a:bodyPr/>
                    <a:lstStyle/>
                    <a:p>
                      <a:pPr marL="91440" marR="100330" algn="l">
                        <a:lnSpc>
                          <a:spcPct val="100000"/>
                        </a:lnSpc>
                        <a:spcBef>
                          <a:spcPts val="320"/>
                        </a:spcBef>
                      </a:pPr>
                      <a:r>
                        <a:rPr lang="da-DK" sz="1800" b="1" i="1" spc="-10" dirty="0">
                          <a:latin typeface="Arial"/>
                          <a:cs typeface="Arial"/>
                        </a:rPr>
                        <a:t>Bevidsthed om ens skavanker</a:t>
                      </a:r>
                      <a:endParaRPr sz="1800" b="1" dirty="0">
                        <a:latin typeface="Arial"/>
                        <a:cs typeface="Arial"/>
                      </a:endParaRPr>
                    </a:p>
                  </a:txBody>
                  <a:tcPr marL="0" marR="0" marT="40640" marB="0" anchor="ctr">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91440"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l">
                        <a:lnSpc>
                          <a:spcPct val="100000"/>
                        </a:lnSpc>
                        <a:spcBef>
                          <a:spcPts val="320"/>
                        </a:spcBef>
                      </a:pPr>
                      <a:endParaRPr sz="1800" dirty="0">
                        <a:latin typeface="Arial MT"/>
                        <a:cs typeface="Arial MT"/>
                      </a:endParaRPr>
                    </a:p>
                  </a:txBody>
                  <a:tcPr marL="0" marR="0" marT="40640" marB="0" anchor="ctr">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bl>
          </a:graphicData>
        </a:graphic>
      </p:graphicFrame>
      <p:sp>
        <p:nvSpPr>
          <p:cNvPr id="7" name="Titel 1">
            <a:extLst>
              <a:ext uri="{FF2B5EF4-FFF2-40B4-BE49-F238E27FC236}">
                <a16:creationId xmlns:a16="http://schemas.microsoft.com/office/drawing/2014/main" id="{8143D25C-F405-691C-712D-89BC7FA5C1C2}"/>
              </a:ext>
            </a:extLst>
          </p:cNvPr>
          <p:cNvSpPr>
            <a:spLocks noGrp="1"/>
          </p:cNvSpPr>
          <p:nvPr>
            <p:ph type="title"/>
          </p:nvPr>
        </p:nvSpPr>
        <p:spPr>
          <a:xfrm>
            <a:off x="838200" y="0"/>
            <a:ext cx="10515600" cy="1092028"/>
          </a:xfrm>
        </p:spPr>
        <p:txBody>
          <a:bodyPr>
            <a:normAutofit/>
          </a:bodyPr>
          <a:lstStyle/>
          <a:p>
            <a:r>
              <a:rPr lang="da-DK" b="1" dirty="0">
                <a:latin typeface="+mn-lt"/>
              </a:rPr>
              <a:t>Aristoteles dydsetik – den gyldne middelvej</a:t>
            </a:r>
          </a:p>
        </p:txBody>
      </p:sp>
      <p:sp>
        <p:nvSpPr>
          <p:cNvPr id="3" name="Tekstfelt 2">
            <a:extLst>
              <a:ext uri="{FF2B5EF4-FFF2-40B4-BE49-F238E27FC236}">
                <a16:creationId xmlns:a16="http://schemas.microsoft.com/office/drawing/2014/main" id="{53ACC0E4-E184-8672-AD46-A32DDA93F57A}"/>
              </a:ext>
            </a:extLst>
          </p:cNvPr>
          <p:cNvSpPr txBox="1"/>
          <p:nvPr/>
        </p:nvSpPr>
        <p:spPr>
          <a:xfrm>
            <a:off x="2862263" y="1872734"/>
            <a:ext cx="3338512" cy="400110"/>
          </a:xfrm>
          <a:prstGeom prst="rect">
            <a:avLst/>
          </a:prstGeom>
          <a:noFill/>
        </p:spPr>
        <p:txBody>
          <a:bodyPr wrap="square" anchor="ctr">
            <a:spAutoFit/>
          </a:bodyPr>
          <a:lstStyle/>
          <a:p>
            <a:pPr algn="ctr"/>
            <a:r>
              <a:rPr lang="da-DK" sz="2000" b="1" dirty="0">
                <a:solidFill>
                  <a:srgbClr val="C00000"/>
                </a:solidFill>
              </a:rPr>
              <a:t>Fejhed</a:t>
            </a:r>
          </a:p>
        </p:txBody>
      </p:sp>
      <p:sp>
        <p:nvSpPr>
          <p:cNvPr id="4" name="Tekstfelt 3">
            <a:extLst>
              <a:ext uri="{FF2B5EF4-FFF2-40B4-BE49-F238E27FC236}">
                <a16:creationId xmlns:a16="http://schemas.microsoft.com/office/drawing/2014/main" id="{CA4723FB-9F06-A5CE-9959-A233C548E3E6}"/>
              </a:ext>
            </a:extLst>
          </p:cNvPr>
          <p:cNvSpPr txBox="1"/>
          <p:nvPr/>
        </p:nvSpPr>
        <p:spPr>
          <a:xfrm>
            <a:off x="2862263" y="2415659"/>
            <a:ext cx="3338512" cy="400110"/>
          </a:xfrm>
          <a:prstGeom prst="rect">
            <a:avLst/>
          </a:prstGeom>
          <a:noFill/>
        </p:spPr>
        <p:txBody>
          <a:bodyPr wrap="square" anchor="ctr">
            <a:spAutoFit/>
          </a:bodyPr>
          <a:lstStyle/>
          <a:p>
            <a:pPr algn="ctr"/>
            <a:r>
              <a:rPr lang="da-DK" sz="2000" b="1" dirty="0">
                <a:solidFill>
                  <a:srgbClr val="C00000"/>
                </a:solidFill>
              </a:rPr>
              <a:t>Undertrykhed</a:t>
            </a:r>
          </a:p>
        </p:txBody>
      </p:sp>
      <p:sp>
        <p:nvSpPr>
          <p:cNvPr id="5" name="Tekstfelt 4">
            <a:extLst>
              <a:ext uri="{FF2B5EF4-FFF2-40B4-BE49-F238E27FC236}">
                <a16:creationId xmlns:a16="http://schemas.microsoft.com/office/drawing/2014/main" id="{10B000DA-879C-AA38-A3A9-24B79B37FAD2}"/>
              </a:ext>
            </a:extLst>
          </p:cNvPr>
          <p:cNvSpPr txBox="1"/>
          <p:nvPr/>
        </p:nvSpPr>
        <p:spPr>
          <a:xfrm>
            <a:off x="2862263" y="2958584"/>
            <a:ext cx="3338512" cy="400110"/>
          </a:xfrm>
          <a:prstGeom prst="rect">
            <a:avLst/>
          </a:prstGeom>
          <a:noFill/>
        </p:spPr>
        <p:txBody>
          <a:bodyPr wrap="square" anchor="ctr">
            <a:spAutoFit/>
          </a:bodyPr>
          <a:lstStyle/>
          <a:p>
            <a:pPr algn="ctr"/>
            <a:r>
              <a:rPr lang="da-DK" sz="2000" b="1" dirty="0">
                <a:solidFill>
                  <a:srgbClr val="C00000"/>
                </a:solidFill>
              </a:rPr>
              <a:t>Nærighed</a:t>
            </a:r>
          </a:p>
        </p:txBody>
      </p:sp>
      <p:sp>
        <p:nvSpPr>
          <p:cNvPr id="8" name="Tekstfelt 7">
            <a:extLst>
              <a:ext uri="{FF2B5EF4-FFF2-40B4-BE49-F238E27FC236}">
                <a16:creationId xmlns:a16="http://schemas.microsoft.com/office/drawing/2014/main" id="{98AD5557-B652-5E55-8A96-45B1E91276DF}"/>
              </a:ext>
            </a:extLst>
          </p:cNvPr>
          <p:cNvSpPr txBox="1"/>
          <p:nvPr/>
        </p:nvSpPr>
        <p:spPr>
          <a:xfrm>
            <a:off x="2862263" y="3444359"/>
            <a:ext cx="3338512" cy="400110"/>
          </a:xfrm>
          <a:prstGeom prst="rect">
            <a:avLst/>
          </a:prstGeom>
          <a:noFill/>
        </p:spPr>
        <p:txBody>
          <a:bodyPr wrap="square" anchor="ctr">
            <a:spAutoFit/>
          </a:bodyPr>
          <a:lstStyle/>
          <a:p>
            <a:pPr algn="ctr"/>
            <a:r>
              <a:rPr lang="da-DK" sz="2000" b="1" dirty="0">
                <a:solidFill>
                  <a:srgbClr val="C00000"/>
                </a:solidFill>
              </a:rPr>
              <a:t>Uambitiøsitet</a:t>
            </a:r>
          </a:p>
        </p:txBody>
      </p:sp>
      <p:sp>
        <p:nvSpPr>
          <p:cNvPr id="9" name="Tekstfelt 8">
            <a:extLst>
              <a:ext uri="{FF2B5EF4-FFF2-40B4-BE49-F238E27FC236}">
                <a16:creationId xmlns:a16="http://schemas.microsoft.com/office/drawing/2014/main" id="{E2091855-7708-2146-364B-5C26A52835EE}"/>
              </a:ext>
            </a:extLst>
          </p:cNvPr>
          <p:cNvSpPr txBox="1"/>
          <p:nvPr/>
        </p:nvSpPr>
        <p:spPr>
          <a:xfrm>
            <a:off x="2862263" y="3958709"/>
            <a:ext cx="3338512" cy="400110"/>
          </a:xfrm>
          <a:prstGeom prst="rect">
            <a:avLst/>
          </a:prstGeom>
          <a:noFill/>
        </p:spPr>
        <p:txBody>
          <a:bodyPr wrap="square" anchor="ctr">
            <a:spAutoFit/>
          </a:bodyPr>
          <a:lstStyle/>
          <a:p>
            <a:pPr algn="ctr"/>
            <a:r>
              <a:rPr lang="da-DK" sz="2000" b="1" dirty="0">
                <a:solidFill>
                  <a:srgbClr val="C00000"/>
                </a:solidFill>
              </a:rPr>
              <a:t>Mindreværdskompleksitet</a:t>
            </a:r>
          </a:p>
        </p:txBody>
      </p:sp>
      <p:sp>
        <p:nvSpPr>
          <p:cNvPr id="10" name="Tekstfelt 9">
            <a:extLst>
              <a:ext uri="{FF2B5EF4-FFF2-40B4-BE49-F238E27FC236}">
                <a16:creationId xmlns:a16="http://schemas.microsoft.com/office/drawing/2014/main" id="{C4356DA3-6103-0C22-BDB7-C68A7D0F2E2C}"/>
              </a:ext>
            </a:extLst>
          </p:cNvPr>
          <p:cNvSpPr txBox="1"/>
          <p:nvPr/>
        </p:nvSpPr>
        <p:spPr>
          <a:xfrm>
            <a:off x="2862263" y="4530209"/>
            <a:ext cx="3338512" cy="400110"/>
          </a:xfrm>
          <a:prstGeom prst="rect">
            <a:avLst/>
          </a:prstGeom>
          <a:noFill/>
        </p:spPr>
        <p:txBody>
          <a:bodyPr wrap="square" anchor="ctr">
            <a:spAutoFit/>
          </a:bodyPr>
          <a:lstStyle/>
          <a:p>
            <a:pPr algn="ctr"/>
            <a:r>
              <a:rPr lang="da-DK" sz="2000" b="1" dirty="0">
                <a:solidFill>
                  <a:srgbClr val="C00000"/>
                </a:solidFill>
              </a:rPr>
              <a:t>Passivitet</a:t>
            </a:r>
          </a:p>
        </p:txBody>
      </p:sp>
      <p:sp>
        <p:nvSpPr>
          <p:cNvPr id="11" name="Tekstfelt 10">
            <a:extLst>
              <a:ext uri="{FF2B5EF4-FFF2-40B4-BE49-F238E27FC236}">
                <a16:creationId xmlns:a16="http://schemas.microsoft.com/office/drawing/2014/main" id="{5251A83A-D034-C06E-11D0-30BBAB31B3E2}"/>
              </a:ext>
            </a:extLst>
          </p:cNvPr>
          <p:cNvSpPr txBox="1"/>
          <p:nvPr/>
        </p:nvSpPr>
        <p:spPr>
          <a:xfrm>
            <a:off x="2862263" y="5063609"/>
            <a:ext cx="3338512" cy="400110"/>
          </a:xfrm>
          <a:prstGeom prst="rect">
            <a:avLst/>
          </a:prstGeom>
          <a:noFill/>
        </p:spPr>
        <p:txBody>
          <a:bodyPr wrap="square" anchor="ctr">
            <a:spAutoFit/>
          </a:bodyPr>
          <a:lstStyle/>
          <a:p>
            <a:pPr algn="ctr"/>
            <a:r>
              <a:rPr lang="da-DK" sz="2000" b="1" dirty="0">
                <a:solidFill>
                  <a:srgbClr val="C00000"/>
                </a:solidFill>
              </a:rPr>
              <a:t>Underdanighed</a:t>
            </a:r>
          </a:p>
        </p:txBody>
      </p:sp>
      <p:sp>
        <p:nvSpPr>
          <p:cNvPr id="12" name="Tekstfelt 11">
            <a:extLst>
              <a:ext uri="{FF2B5EF4-FFF2-40B4-BE49-F238E27FC236}">
                <a16:creationId xmlns:a16="http://schemas.microsoft.com/office/drawing/2014/main" id="{D6AA33E6-2EA1-6FEB-4A80-FE0B08019235}"/>
              </a:ext>
            </a:extLst>
          </p:cNvPr>
          <p:cNvSpPr txBox="1"/>
          <p:nvPr/>
        </p:nvSpPr>
        <p:spPr>
          <a:xfrm>
            <a:off x="2862263" y="5597009"/>
            <a:ext cx="3338512" cy="400110"/>
          </a:xfrm>
          <a:prstGeom prst="rect">
            <a:avLst/>
          </a:prstGeom>
          <a:noFill/>
        </p:spPr>
        <p:txBody>
          <a:bodyPr wrap="square" anchor="ctr">
            <a:spAutoFit/>
          </a:bodyPr>
          <a:lstStyle/>
          <a:p>
            <a:pPr algn="ctr"/>
            <a:r>
              <a:rPr lang="da-DK" sz="2000" b="1" dirty="0">
                <a:solidFill>
                  <a:srgbClr val="C00000"/>
                </a:solidFill>
              </a:rPr>
              <a:t>Skamløshed</a:t>
            </a:r>
          </a:p>
        </p:txBody>
      </p:sp>
      <p:sp>
        <p:nvSpPr>
          <p:cNvPr id="13" name="Tekstfelt 12">
            <a:extLst>
              <a:ext uri="{FF2B5EF4-FFF2-40B4-BE49-F238E27FC236}">
                <a16:creationId xmlns:a16="http://schemas.microsoft.com/office/drawing/2014/main" id="{776A9B94-4407-00DD-5200-07B1471C56E1}"/>
              </a:ext>
            </a:extLst>
          </p:cNvPr>
          <p:cNvSpPr txBox="1"/>
          <p:nvPr/>
        </p:nvSpPr>
        <p:spPr>
          <a:xfrm>
            <a:off x="6200774" y="1878598"/>
            <a:ext cx="2809875" cy="400110"/>
          </a:xfrm>
          <a:prstGeom prst="rect">
            <a:avLst/>
          </a:prstGeom>
          <a:noFill/>
        </p:spPr>
        <p:txBody>
          <a:bodyPr wrap="square" anchor="ctr">
            <a:spAutoFit/>
          </a:bodyPr>
          <a:lstStyle/>
          <a:p>
            <a:pPr algn="ctr"/>
            <a:r>
              <a:rPr lang="da-DK" sz="2000" b="1" dirty="0">
                <a:solidFill>
                  <a:srgbClr val="00B050"/>
                </a:solidFill>
              </a:rPr>
              <a:t>Modig</a:t>
            </a:r>
          </a:p>
        </p:txBody>
      </p:sp>
      <p:sp>
        <p:nvSpPr>
          <p:cNvPr id="14" name="Tekstfelt 13">
            <a:extLst>
              <a:ext uri="{FF2B5EF4-FFF2-40B4-BE49-F238E27FC236}">
                <a16:creationId xmlns:a16="http://schemas.microsoft.com/office/drawing/2014/main" id="{9B859DD5-E48B-60DF-E7D4-0E0D6248C033}"/>
              </a:ext>
            </a:extLst>
          </p:cNvPr>
          <p:cNvSpPr txBox="1"/>
          <p:nvPr/>
        </p:nvSpPr>
        <p:spPr>
          <a:xfrm>
            <a:off x="6200774" y="2411998"/>
            <a:ext cx="2809875" cy="400110"/>
          </a:xfrm>
          <a:prstGeom prst="rect">
            <a:avLst/>
          </a:prstGeom>
          <a:noFill/>
        </p:spPr>
        <p:txBody>
          <a:bodyPr wrap="square" anchor="ctr">
            <a:spAutoFit/>
          </a:bodyPr>
          <a:lstStyle/>
          <a:p>
            <a:pPr algn="ctr"/>
            <a:r>
              <a:rPr lang="da-DK" sz="2000" b="1" dirty="0">
                <a:solidFill>
                  <a:srgbClr val="00B050"/>
                </a:solidFill>
              </a:rPr>
              <a:t>Afholdenhed</a:t>
            </a:r>
          </a:p>
        </p:txBody>
      </p:sp>
      <p:sp>
        <p:nvSpPr>
          <p:cNvPr id="15" name="Tekstfelt 14">
            <a:extLst>
              <a:ext uri="{FF2B5EF4-FFF2-40B4-BE49-F238E27FC236}">
                <a16:creationId xmlns:a16="http://schemas.microsoft.com/office/drawing/2014/main" id="{E905D4A3-56C0-F8F2-4FA2-AABB9F4FD584}"/>
              </a:ext>
            </a:extLst>
          </p:cNvPr>
          <p:cNvSpPr txBox="1"/>
          <p:nvPr/>
        </p:nvSpPr>
        <p:spPr>
          <a:xfrm>
            <a:off x="6200774" y="2964448"/>
            <a:ext cx="2809875" cy="400110"/>
          </a:xfrm>
          <a:prstGeom prst="rect">
            <a:avLst/>
          </a:prstGeom>
          <a:noFill/>
        </p:spPr>
        <p:txBody>
          <a:bodyPr wrap="square" anchor="ctr">
            <a:spAutoFit/>
          </a:bodyPr>
          <a:lstStyle/>
          <a:p>
            <a:pPr algn="ctr"/>
            <a:r>
              <a:rPr lang="da-DK" sz="2000" b="1" dirty="0">
                <a:solidFill>
                  <a:srgbClr val="00B050"/>
                </a:solidFill>
              </a:rPr>
              <a:t>Generøsitet</a:t>
            </a:r>
          </a:p>
        </p:txBody>
      </p:sp>
      <p:sp>
        <p:nvSpPr>
          <p:cNvPr id="16" name="Tekstfelt 15">
            <a:extLst>
              <a:ext uri="{FF2B5EF4-FFF2-40B4-BE49-F238E27FC236}">
                <a16:creationId xmlns:a16="http://schemas.microsoft.com/office/drawing/2014/main" id="{583A8C8A-2E69-3CE5-CD22-E28260A220CD}"/>
              </a:ext>
            </a:extLst>
          </p:cNvPr>
          <p:cNvSpPr txBox="1"/>
          <p:nvPr/>
        </p:nvSpPr>
        <p:spPr>
          <a:xfrm>
            <a:off x="6200774" y="3459748"/>
            <a:ext cx="2809875" cy="400110"/>
          </a:xfrm>
          <a:prstGeom prst="rect">
            <a:avLst/>
          </a:prstGeom>
          <a:noFill/>
        </p:spPr>
        <p:txBody>
          <a:bodyPr wrap="square" anchor="ctr">
            <a:spAutoFit/>
          </a:bodyPr>
          <a:lstStyle/>
          <a:p>
            <a:pPr algn="ctr"/>
            <a:r>
              <a:rPr lang="da-DK" sz="2000" b="1" dirty="0">
                <a:solidFill>
                  <a:srgbClr val="00B050"/>
                </a:solidFill>
              </a:rPr>
              <a:t>Tilpas ambitiøsitet</a:t>
            </a:r>
          </a:p>
        </p:txBody>
      </p:sp>
      <p:sp>
        <p:nvSpPr>
          <p:cNvPr id="17" name="Tekstfelt 16">
            <a:extLst>
              <a:ext uri="{FF2B5EF4-FFF2-40B4-BE49-F238E27FC236}">
                <a16:creationId xmlns:a16="http://schemas.microsoft.com/office/drawing/2014/main" id="{0FF53338-861E-9EAD-5F89-BEBE3A201131}"/>
              </a:ext>
            </a:extLst>
          </p:cNvPr>
          <p:cNvSpPr txBox="1"/>
          <p:nvPr/>
        </p:nvSpPr>
        <p:spPr>
          <a:xfrm>
            <a:off x="6200774" y="3964573"/>
            <a:ext cx="2809875" cy="400110"/>
          </a:xfrm>
          <a:prstGeom prst="rect">
            <a:avLst/>
          </a:prstGeom>
          <a:noFill/>
        </p:spPr>
        <p:txBody>
          <a:bodyPr wrap="square" anchor="ctr">
            <a:spAutoFit/>
          </a:bodyPr>
          <a:lstStyle/>
          <a:p>
            <a:pPr algn="ctr"/>
            <a:r>
              <a:rPr lang="da-DK" sz="2000" b="1" dirty="0">
                <a:solidFill>
                  <a:srgbClr val="00B050"/>
                </a:solidFill>
              </a:rPr>
              <a:t>Tilpas stolthed</a:t>
            </a:r>
          </a:p>
        </p:txBody>
      </p:sp>
      <p:sp>
        <p:nvSpPr>
          <p:cNvPr id="18" name="Tekstfelt 17">
            <a:extLst>
              <a:ext uri="{FF2B5EF4-FFF2-40B4-BE49-F238E27FC236}">
                <a16:creationId xmlns:a16="http://schemas.microsoft.com/office/drawing/2014/main" id="{755F93BC-4D2D-2062-03BF-25740924744E}"/>
              </a:ext>
            </a:extLst>
          </p:cNvPr>
          <p:cNvSpPr txBox="1"/>
          <p:nvPr/>
        </p:nvSpPr>
        <p:spPr>
          <a:xfrm>
            <a:off x="6200774" y="4536073"/>
            <a:ext cx="2809875" cy="400110"/>
          </a:xfrm>
          <a:prstGeom prst="rect">
            <a:avLst/>
          </a:prstGeom>
          <a:noFill/>
        </p:spPr>
        <p:txBody>
          <a:bodyPr wrap="square" anchor="ctr">
            <a:spAutoFit/>
          </a:bodyPr>
          <a:lstStyle/>
          <a:p>
            <a:pPr algn="ctr"/>
            <a:r>
              <a:rPr lang="da-DK" sz="2000" b="1" dirty="0">
                <a:solidFill>
                  <a:srgbClr val="00B050"/>
                </a:solidFill>
              </a:rPr>
              <a:t>Tålmodighed</a:t>
            </a:r>
          </a:p>
        </p:txBody>
      </p:sp>
      <p:sp>
        <p:nvSpPr>
          <p:cNvPr id="19" name="Tekstfelt 18">
            <a:extLst>
              <a:ext uri="{FF2B5EF4-FFF2-40B4-BE49-F238E27FC236}">
                <a16:creationId xmlns:a16="http://schemas.microsoft.com/office/drawing/2014/main" id="{9C0CAB01-AD8E-309D-F106-53F104B331D6}"/>
              </a:ext>
            </a:extLst>
          </p:cNvPr>
          <p:cNvSpPr txBox="1"/>
          <p:nvPr/>
        </p:nvSpPr>
        <p:spPr>
          <a:xfrm>
            <a:off x="6200774" y="5078998"/>
            <a:ext cx="2809875" cy="400110"/>
          </a:xfrm>
          <a:prstGeom prst="rect">
            <a:avLst/>
          </a:prstGeom>
          <a:noFill/>
        </p:spPr>
        <p:txBody>
          <a:bodyPr wrap="square" anchor="ctr">
            <a:spAutoFit/>
          </a:bodyPr>
          <a:lstStyle/>
          <a:p>
            <a:pPr algn="ctr"/>
            <a:r>
              <a:rPr lang="da-DK" sz="2000" b="1" dirty="0">
                <a:solidFill>
                  <a:srgbClr val="00B050"/>
                </a:solidFill>
              </a:rPr>
              <a:t>Venlighed</a:t>
            </a:r>
          </a:p>
        </p:txBody>
      </p:sp>
      <p:sp>
        <p:nvSpPr>
          <p:cNvPr id="20" name="Tekstfelt 19">
            <a:extLst>
              <a:ext uri="{FF2B5EF4-FFF2-40B4-BE49-F238E27FC236}">
                <a16:creationId xmlns:a16="http://schemas.microsoft.com/office/drawing/2014/main" id="{A48DBDB4-667E-124A-CF45-05C7126577D5}"/>
              </a:ext>
            </a:extLst>
          </p:cNvPr>
          <p:cNvSpPr txBox="1"/>
          <p:nvPr/>
        </p:nvSpPr>
        <p:spPr>
          <a:xfrm>
            <a:off x="6200774" y="5621923"/>
            <a:ext cx="2809875" cy="400110"/>
          </a:xfrm>
          <a:prstGeom prst="rect">
            <a:avLst/>
          </a:prstGeom>
          <a:noFill/>
        </p:spPr>
        <p:txBody>
          <a:bodyPr wrap="square" anchor="ctr">
            <a:spAutoFit/>
          </a:bodyPr>
          <a:lstStyle/>
          <a:p>
            <a:pPr algn="ctr"/>
            <a:r>
              <a:rPr lang="da-DK" sz="2000" b="1" dirty="0">
                <a:solidFill>
                  <a:srgbClr val="00B050"/>
                </a:solidFill>
              </a:rPr>
              <a:t>Beskedenhed</a:t>
            </a:r>
          </a:p>
        </p:txBody>
      </p:sp>
      <p:sp>
        <p:nvSpPr>
          <p:cNvPr id="21" name="Tekstfelt 20">
            <a:extLst>
              <a:ext uri="{FF2B5EF4-FFF2-40B4-BE49-F238E27FC236}">
                <a16:creationId xmlns:a16="http://schemas.microsoft.com/office/drawing/2014/main" id="{C135D0B9-D5E0-95B0-A60D-CFFAC63255B3}"/>
              </a:ext>
            </a:extLst>
          </p:cNvPr>
          <p:cNvSpPr txBox="1"/>
          <p:nvPr/>
        </p:nvSpPr>
        <p:spPr>
          <a:xfrm>
            <a:off x="9024937" y="1874907"/>
            <a:ext cx="2930526" cy="400110"/>
          </a:xfrm>
          <a:prstGeom prst="rect">
            <a:avLst/>
          </a:prstGeom>
          <a:noFill/>
        </p:spPr>
        <p:txBody>
          <a:bodyPr wrap="square" anchor="ctr">
            <a:spAutoFit/>
          </a:bodyPr>
          <a:lstStyle/>
          <a:p>
            <a:pPr algn="ctr"/>
            <a:r>
              <a:rPr lang="da-DK" sz="2000" b="1" dirty="0">
                <a:solidFill>
                  <a:schemeClr val="accent4">
                    <a:lumMod val="75000"/>
                  </a:schemeClr>
                </a:solidFill>
              </a:rPr>
              <a:t>Dumdristig</a:t>
            </a:r>
          </a:p>
        </p:txBody>
      </p:sp>
      <p:sp>
        <p:nvSpPr>
          <p:cNvPr id="22" name="Tekstfelt 21">
            <a:extLst>
              <a:ext uri="{FF2B5EF4-FFF2-40B4-BE49-F238E27FC236}">
                <a16:creationId xmlns:a16="http://schemas.microsoft.com/office/drawing/2014/main" id="{1F7BA97F-0168-9FCF-8D2A-4E9223B3C97C}"/>
              </a:ext>
            </a:extLst>
          </p:cNvPr>
          <p:cNvSpPr txBox="1"/>
          <p:nvPr/>
        </p:nvSpPr>
        <p:spPr>
          <a:xfrm>
            <a:off x="9024937" y="2427357"/>
            <a:ext cx="2930526" cy="400110"/>
          </a:xfrm>
          <a:prstGeom prst="rect">
            <a:avLst/>
          </a:prstGeom>
          <a:noFill/>
        </p:spPr>
        <p:txBody>
          <a:bodyPr wrap="square" anchor="ctr">
            <a:spAutoFit/>
          </a:bodyPr>
          <a:lstStyle/>
          <a:p>
            <a:pPr algn="ctr"/>
            <a:r>
              <a:rPr lang="da-DK" sz="2000" b="1" dirty="0">
                <a:solidFill>
                  <a:schemeClr val="accent4">
                    <a:lumMod val="75000"/>
                  </a:schemeClr>
                </a:solidFill>
              </a:rPr>
              <a:t>Overdrivelse</a:t>
            </a:r>
          </a:p>
        </p:txBody>
      </p:sp>
      <p:sp>
        <p:nvSpPr>
          <p:cNvPr id="23" name="Tekstfelt 22">
            <a:extLst>
              <a:ext uri="{FF2B5EF4-FFF2-40B4-BE49-F238E27FC236}">
                <a16:creationId xmlns:a16="http://schemas.microsoft.com/office/drawing/2014/main" id="{1D0C34FB-E742-BF88-D26F-B5570B318360}"/>
              </a:ext>
            </a:extLst>
          </p:cNvPr>
          <p:cNvSpPr txBox="1"/>
          <p:nvPr/>
        </p:nvSpPr>
        <p:spPr>
          <a:xfrm>
            <a:off x="9024937" y="2960757"/>
            <a:ext cx="2930526" cy="400110"/>
          </a:xfrm>
          <a:prstGeom prst="rect">
            <a:avLst/>
          </a:prstGeom>
          <a:noFill/>
        </p:spPr>
        <p:txBody>
          <a:bodyPr wrap="square" anchor="ctr">
            <a:spAutoFit/>
          </a:bodyPr>
          <a:lstStyle/>
          <a:p>
            <a:pPr algn="ctr"/>
            <a:r>
              <a:rPr lang="da-DK" sz="2000" b="1" dirty="0">
                <a:solidFill>
                  <a:schemeClr val="accent4">
                    <a:lumMod val="75000"/>
                  </a:schemeClr>
                </a:solidFill>
              </a:rPr>
              <a:t>Ekstravagance</a:t>
            </a:r>
          </a:p>
        </p:txBody>
      </p:sp>
      <p:sp>
        <p:nvSpPr>
          <p:cNvPr id="24" name="Tekstfelt 23">
            <a:extLst>
              <a:ext uri="{FF2B5EF4-FFF2-40B4-BE49-F238E27FC236}">
                <a16:creationId xmlns:a16="http://schemas.microsoft.com/office/drawing/2014/main" id="{DCBAED53-1A9F-606F-0434-B4C4C0D443E6}"/>
              </a:ext>
            </a:extLst>
          </p:cNvPr>
          <p:cNvSpPr txBox="1"/>
          <p:nvPr/>
        </p:nvSpPr>
        <p:spPr>
          <a:xfrm>
            <a:off x="9024937" y="3446532"/>
            <a:ext cx="2930526" cy="400110"/>
          </a:xfrm>
          <a:prstGeom prst="rect">
            <a:avLst/>
          </a:prstGeom>
          <a:noFill/>
        </p:spPr>
        <p:txBody>
          <a:bodyPr wrap="square" anchor="ctr">
            <a:spAutoFit/>
          </a:bodyPr>
          <a:lstStyle/>
          <a:p>
            <a:pPr algn="ctr"/>
            <a:r>
              <a:rPr lang="da-DK" sz="2000" b="1" dirty="0">
                <a:solidFill>
                  <a:schemeClr val="accent4">
                    <a:lumMod val="75000"/>
                  </a:schemeClr>
                </a:solidFill>
              </a:rPr>
              <a:t>Overdreven ambitiøsitet</a:t>
            </a:r>
          </a:p>
        </p:txBody>
      </p:sp>
      <p:sp>
        <p:nvSpPr>
          <p:cNvPr id="25" name="Tekstfelt 24">
            <a:extLst>
              <a:ext uri="{FF2B5EF4-FFF2-40B4-BE49-F238E27FC236}">
                <a16:creationId xmlns:a16="http://schemas.microsoft.com/office/drawing/2014/main" id="{146D3A12-733B-4A22-24C2-37747F8F2F7D}"/>
              </a:ext>
            </a:extLst>
          </p:cNvPr>
          <p:cNvSpPr txBox="1"/>
          <p:nvPr/>
        </p:nvSpPr>
        <p:spPr>
          <a:xfrm>
            <a:off x="9024937" y="3970407"/>
            <a:ext cx="2930526" cy="400110"/>
          </a:xfrm>
          <a:prstGeom prst="rect">
            <a:avLst/>
          </a:prstGeom>
          <a:noFill/>
        </p:spPr>
        <p:txBody>
          <a:bodyPr wrap="square" anchor="ctr">
            <a:spAutoFit/>
          </a:bodyPr>
          <a:lstStyle/>
          <a:p>
            <a:pPr algn="ctr"/>
            <a:r>
              <a:rPr lang="da-DK" sz="2000" b="1" dirty="0">
                <a:solidFill>
                  <a:schemeClr val="accent4">
                    <a:lumMod val="75000"/>
                  </a:schemeClr>
                </a:solidFill>
              </a:rPr>
              <a:t>Storhedsvanvid</a:t>
            </a:r>
          </a:p>
        </p:txBody>
      </p:sp>
      <p:sp>
        <p:nvSpPr>
          <p:cNvPr id="26" name="Tekstfelt 25">
            <a:extLst>
              <a:ext uri="{FF2B5EF4-FFF2-40B4-BE49-F238E27FC236}">
                <a16:creationId xmlns:a16="http://schemas.microsoft.com/office/drawing/2014/main" id="{D4AF240E-DAD9-684B-DBAC-E01B3957A48F}"/>
              </a:ext>
            </a:extLst>
          </p:cNvPr>
          <p:cNvSpPr txBox="1"/>
          <p:nvPr/>
        </p:nvSpPr>
        <p:spPr>
          <a:xfrm>
            <a:off x="9024937" y="4532382"/>
            <a:ext cx="2930526" cy="400110"/>
          </a:xfrm>
          <a:prstGeom prst="rect">
            <a:avLst/>
          </a:prstGeom>
          <a:noFill/>
        </p:spPr>
        <p:txBody>
          <a:bodyPr wrap="square" anchor="ctr">
            <a:spAutoFit/>
          </a:bodyPr>
          <a:lstStyle/>
          <a:p>
            <a:pPr algn="ctr"/>
            <a:r>
              <a:rPr lang="da-DK" sz="2000" b="1" dirty="0">
                <a:solidFill>
                  <a:schemeClr val="accent4">
                    <a:lumMod val="75000"/>
                  </a:schemeClr>
                </a:solidFill>
              </a:rPr>
              <a:t>Irritabilitet</a:t>
            </a:r>
          </a:p>
        </p:txBody>
      </p:sp>
      <p:sp>
        <p:nvSpPr>
          <p:cNvPr id="27" name="Tekstfelt 26">
            <a:extLst>
              <a:ext uri="{FF2B5EF4-FFF2-40B4-BE49-F238E27FC236}">
                <a16:creationId xmlns:a16="http://schemas.microsoft.com/office/drawing/2014/main" id="{2606DAEA-6581-D66D-D0BB-730CF003FD7B}"/>
              </a:ext>
            </a:extLst>
          </p:cNvPr>
          <p:cNvSpPr txBox="1"/>
          <p:nvPr/>
        </p:nvSpPr>
        <p:spPr>
          <a:xfrm>
            <a:off x="9034462" y="5065782"/>
            <a:ext cx="2930526" cy="400110"/>
          </a:xfrm>
          <a:prstGeom prst="rect">
            <a:avLst/>
          </a:prstGeom>
          <a:noFill/>
        </p:spPr>
        <p:txBody>
          <a:bodyPr wrap="square" anchor="ctr">
            <a:spAutoFit/>
          </a:bodyPr>
          <a:lstStyle/>
          <a:p>
            <a:pPr algn="ctr"/>
            <a:r>
              <a:rPr lang="da-DK" sz="2000" b="1" dirty="0">
                <a:solidFill>
                  <a:schemeClr val="accent4">
                    <a:lumMod val="75000"/>
                  </a:schemeClr>
                </a:solidFill>
              </a:rPr>
              <a:t>Uhøflighed</a:t>
            </a:r>
          </a:p>
        </p:txBody>
      </p:sp>
      <p:sp>
        <p:nvSpPr>
          <p:cNvPr id="28" name="Tekstfelt 27">
            <a:extLst>
              <a:ext uri="{FF2B5EF4-FFF2-40B4-BE49-F238E27FC236}">
                <a16:creationId xmlns:a16="http://schemas.microsoft.com/office/drawing/2014/main" id="{00DEA834-C90E-E69E-0BF4-62D6CAE0F8EE}"/>
              </a:ext>
            </a:extLst>
          </p:cNvPr>
          <p:cNvSpPr txBox="1"/>
          <p:nvPr/>
        </p:nvSpPr>
        <p:spPr>
          <a:xfrm>
            <a:off x="9034462" y="5608707"/>
            <a:ext cx="2930526" cy="400110"/>
          </a:xfrm>
          <a:prstGeom prst="rect">
            <a:avLst/>
          </a:prstGeom>
          <a:noFill/>
        </p:spPr>
        <p:txBody>
          <a:bodyPr wrap="square" anchor="ctr">
            <a:spAutoFit/>
          </a:bodyPr>
          <a:lstStyle/>
          <a:p>
            <a:pPr algn="ctr"/>
            <a:r>
              <a:rPr lang="da-DK" sz="2000" b="1" dirty="0">
                <a:solidFill>
                  <a:schemeClr val="accent4">
                    <a:lumMod val="75000"/>
                  </a:schemeClr>
                </a:solidFill>
              </a:rPr>
              <a:t>Generthed</a:t>
            </a:r>
          </a:p>
        </p:txBody>
      </p:sp>
    </p:spTree>
    <p:extLst>
      <p:ext uri="{BB962C8B-B14F-4D97-AF65-F5344CB8AC3E}">
        <p14:creationId xmlns:p14="http://schemas.microsoft.com/office/powerpoint/2010/main" val="402713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00"/>
                                        <p:tgtEl>
                                          <p:spTgt spid="1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500"/>
                                        <p:tgtEl>
                                          <p:spTgt spid="2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500"/>
                                        <p:tgtEl>
                                          <p:spTgt spid="2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500"/>
                                        <p:tgtEl>
                                          <p:spTgt spid="26"/>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fade">
                                      <p:cBhvr>
                                        <p:cTn id="9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A0267A-23CA-4A6B-8063-BADE33F9B62C}"/>
              </a:ext>
            </a:extLst>
          </p:cNvPr>
          <p:cNvSpPr>
            <a:spLocks noGrp="1"/>
          </p:cNvSpPr>
          <p:nvPr>
            <p:ph type="title"/>
          </p:nvPr>
        </p:nvSpPr>
        <p:spPr>
          <a:xfrm>
            <a:off x="838200" y="0"/>
            <a:ext cx="11081950" cy="777804"/>
          </a:xfrm>
        </p:spPr>
        <p:txBody>
          <a:bodyPr>
            <a:normAutofit/>
          </a:bodyPr>
          <a:lstStyle/>
          <a:p>
            <a:r>
              <a:rPr lang="da-DK" b="1" dirty="0">
                <a:latin typeface="+mn-lt"/>
              </a:rPr>
              <a:t>Eksempler ift. de 3 filosofiske retninger</a:t>
            </a:r>
          </a:p>
        </p:txBody>
      </p:sp>
      <p:graphicFrame>
        <p:nvGraphicFramePr>
          <p:cNvPr id="4" name="Tabel 3">
            <a:extLst>
              <a:ext uri="{FF2B5EF4-FFF2-40B4-BE49-F238E27FC236}">
                <a16:creationId xmlns:a16="http://schemas.microsoft.com/office/drawing/2014/main" id="{B8679D7C-BBED-474F-BE2D-406D81FDC3C3}"/>
              </a:ext>
            </a:extLst>
          </p:cNvPr>
          <p:cNvGraphicFramePr>
            <a:graphicFrameLocks noGrp="1"/>
          </p:cNvGraphicFramePr>
          <p:nvPr/>
        </p:nvGraphicFramePr>
        <p:xfrm>
          <a:off x="362466" y="777805"/>
          <a:ext cx="11557684" cy="5951214"/>
        </p:xfrm>
        <a:graphic>
          <a:graphicData uri="http://schemas.openxmlformats.org/drawingml/2006/table">
            <a:tbl>
              <a:tblPr>
                <a:tableStyleId>{5C22544A-7EE6-4342-B048-85BDC9FD1C3A}</a:tableStyleId>
              </a:tblPr>
              <a:tblGrid>
                <a:gridCol w="1326291">
                  <a:extLst>
                    <a:ext uri="{9D8B030D-6E8A-4147-A177-3AD203B41FA5}">
                      <a16:colId xmlns:a16="http://schemas.microsoft.com/office/drawing/2014/main" val="1852298054"/>
                    </a:ext>
                  </a:extLst>
                </a:gridCol>
                <a:gridCol w="1383957">
                  <a:extLst>
                    <a:ext uri="{9D8B030D-6E8A-4147-A177-3AD203B41FA5}">
                      <a16:colId xmlns:a16="http://schemas.microsoft.com/office/drawing/2014/main" val="2666728474"/>
                    </a:ext>
                  </a:extLst>
                </a:gridCol>
                <a:gridCol w="1342268">
                  <a:extLst>
                    <a:ext uri="{9D8B030D-6E8A-4147-A177-3AD203B41FA5}">
                      <a16:colId xmlns:a16="http://schemas.microsoft.com/office/drawing/2014/main" val="3533200376"/>
                    </a:ext>
                  </a:extLst>
                </a:gridCol>
                <a:gridCol w="2540000">
                  <a:extLst>
                    <a:ext uri="{9D8B030D-6E8A-4147-A177-3AD203B41FA5}">
                      <a16:colId xmlns:a16="http://schemas.microsoft.com/office/drawing/2014/main" val="2437415154"/>
                    </a:ext>
                  </a:extLst>
                </a:gridCol>
                <a:gridCol w="3318272">
                  <a:extLst>
                    <a:ext uri="{9D8B030D-6E8A-4147-A177-3AD203B41FA5}">
                      <a16:colId xmlns:a16="http://schemas.microsoft.com/office/drawing/2014/main" val="3096387576"/>
                    </a:ext>
                  </a:extLst>
                </a:gridCol>
                <a:gridCol w="1646896">
                  <a:extLst>
                    <a:ext uri="{9D8B030D-6E8A-4147-A177-3AD203B41FA5}">
                      <a16:colId xmlns:a16="http://schemas.microsoft.com/office/drawing/2014/main" val="4045687714"/>
                    </a:ext>
                  </a:extLst>
                </a:gridCol>
              </a:tblGrid>
              <a:tr h="619199">
                <a:tc>
                  <a:txBody>
                    <a:bodyPr/>
                    <a:lstStyle/>
                    <a:p>
                      <a:pPr algn="ctr" fontAlgn="b"/>
                      <a:r>
                        <a:rPr lang="da-DK" sz="1100" b="1" u="none" strike="noStrike" dirty="0">
                          <a:effectLst/>
                        </a:rPr>
                        <a:t> </a:t>
                      </a:r>
                      <a:endParaRPr lang="da-DK"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da-DK" sz="1600" b="1" u="none" strike="noStrike" dirty="0">
                          <a:effectLst/>
                        </a:rPr>
                        <a:t>EMNE</a:t>
                      </a:r>
                      <a:endParaRPr lang="da-DK"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da-DK" sz="1600" b="1" u="none" strike="noStrike" dirty="0">
                          <a:effectLst/>
                        </a:rPr>
                        <a:t>DELIMMA</a:t>
                      </a:r>
                      <a:endParaRPr lang="da-DK"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da-DK" sz="1600" b="1" u="none" strike="noStrike" dirty="0">
                          <a:effectLst/>
                        </a:rPr>
                        <a:t>UTILITARISME</a:t>
                      </a:r>
                      <a:endParaRPr lang="da-DK"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da-DK" sz="1600" b="1" u="none" strike="noStrike" dirty="0">
                          <a:effectLst/>
                        </a:rPr>
                        <a:t>KANTS SINDELAGS- OG PLIGTETIK</a:t>
                      </a:r>
                      <a:endParaRPr lang="da-DK"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da-DK" sz="1600" b="1" u="none" strike="noStrike" dirty="0">
                          <a:effectLst/>
                        </a:rPr>
                        <a:t>ARISTOTELES DYDSETIK</a:t>
                      </a:r>
                      <a:endParaRPr lang="da-DK"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72052035"/>
                  </a:ext>
                </a:extLst>
              </a:tr>
              <a:tr h="832519">
                <a:tc>
                  <a:txBody>
                    <a:bodyPr/>
                    <a:lstStyle/>
                    <a:p>
                      <a:pPr algn="l" fontAlgn="ctr"/>
                      <a:r>
                        <a:rPr lang="da-DK" sz="2000" b="1" u="none" strike="noStrike" dirty="0">
                          <a:effectLst/>
                        </a:rPr>
                        <a:t>Cheminova</a:t>
                      </a:r>
                      <a:endParaRPr lang="da-DK"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t"/>
                      <a:r>
                        <a:rPr lang="da-DK" sz="1200" u="none" strike="noStrike" dirty="0">
                          <a:effectLst/>
                        </a:rPr>
                        <a:t>Ekstrem giftig landbrugsmiddel (forbudt i EU)</a:t>
                      </a:r>
                      <a:endParaRPr lang="da-DK" sz="12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200" u="none" strike="noStrike" dirty="0">
                          <a:effectLst/>
                        </a:rPr>
                        <a:t>Styrke Brasiliens økonomi - men lade de fattige landmænd blive dødssyge!</a:t>
                      </a:r>
                      <a:endParaRPr lang="da-DK" sz="12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dirty="0">
                          <a:effectLst/>
                        </a:rPr>
                        <a:t> </a:t>
                      </a:r>
                      <a:endParaRPr lang="da-DK"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dirty="0">
                          <a:effectLst/>
                        </a:rPr>
                        <a:t> </a:t>
                      </a:r>
                      <a:endParaRPr lang="da-DK"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dirty="0">
                          <a:effectLst/>
                        </a:rPr>
                        <a:t> </a:t>
                      </a:r>
                      <a:endParaRPr lang="da-DK"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031538058"/>
                  </a:ext>
                </a:extLst>
              </a:tr>
              <a:tr h="1704155">
                <a:tc>
                  <a:txBody>
                    <a:bodyPr/>
                    <a:lstStyle/>
                    <a:p>
                      <a:pPr algn="l" fontAlgn="ctr"/>
                      <a:r>
                        <a:rPr lang="da-DK" sz="2000" b="1" u="none" strike="noStrike" dirty="0">
                          <a:effectLst/>
                        </a:rPr>
                        <a:t>Film: Terminalen</a:t>
                      </a:r>
                      <a:endParaRPr lang="da-DK"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t"/>
                      <a:r>
                        <a:rPr lang="da-DK" sz="1200" u="none" strike="noStrike" dirty="0">
                          <a:effectLst/>
                        </a:rPr>
                        <a:t>Fiktiv historie om hvid løgn</a:t>
                      </a:r>
                      <a:endParaRPr lang="da-DK" sz="12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200" u="none" strike="noStrike" dirty="0">
                          <a:effectLst/>
                        </a:rPr>
                        <a:t>En hvid løgn vil redde en persons liv!</a:t>
                      </a:r>
                      <a:endParaRPr lang="da-DK" sz="12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a:effectLst/>
                        </a:rPr>
                        <a:t> </a:t>
                      </a:r>
                      <a:endParaRPr lang="da-DK" sz="11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dirty="0">
                          <a:effectLst/>
                        </a:rPr>
                        <a:t> </a:t>
                      </a:r>
                      <a:endParaRPr lang="da-DK"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a:effectLst/>
                        </a:rPr>
                        <a:t> </a:t>
                      </a:r>
                      <a:endParaRPr lang="da-DK" sz="1100" b="0" i="0" u="none" strike="noStrike">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191465838"/>
                  </a:ext>
                </a:extLst>
              </a:tr>
              <a:tr h="1285101">
                <a:tc>
                  <a:txBody>
                    <a:bodyPr/>
                    <a:lstStyle/>
                    <a:p>
                      <a:pPr algn="l" fontAlgn="ctr"/>
                      <a:r>
                        <a:rPr lang="da-DK" sz="2000" b="1" u="none" strike="noStrike" dirty="0">
                          <a:effectLst/>
                        </a:rPr>
                        <a:t>Hitler</a:t>
                      </a:r>
                      <a:endParaRPr lang="da-DK"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t"/>
                      <a:r>
                        <a:rPr lang="da-DK" sz="1200" u="none" strike="noStrike" dirty="0">
                          <a:effectLst/>
                        </a:rPr>
                        <a:t>Skyld i krig og mange menneskers liv</a:t>
                      </a:r>
                      <a:endParaRPr lang="da-DK" sz="12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200" u="none" strike="noStrike" dirty="0">
                          <a:effectLst/>
                        </a:rPr>
                        <a:t>At dræbe Hitler (via tidsmaskine) og redde de mange jøders liv.</a:t>
                      </a:r>
                      <a:endParaRPr lang="da-DK" sz="12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a:effectLst/>
                        </a:rPr>
                        <a:t> </a:t>
                      </a:r>
                      <a:endParaRPr lang="da-DK" sz="11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a:effectLst/>
                        </a:rPr>
                        <a:t> </a:t>
                      </a:r>
                      <a:endParaRPr lang="da-DK" sz="11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dirty="0">
                          <a:effectLst/>
                        </a:rPr>
                        <a:t> </a:t>
                      </a:r>
                      <a:endParaRPr lang="da-DK"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288122905"/>
                  </a:ext>
                </a:extLst>
              </a:tr>
              <a:tr h="1510240">
                <a:tc>
                  <a:txBody>
                    <a:bodyPr/>
                    <a:lstStyle/>
                    <a:p>
                      <a:pPr algn="l" fontAlgn="ctr"/>
                      <a:r>
                        <a:rPr lang="da-DK" sz="2000" b="1" u="none" strike="noStrike" dirty="0">
                          <a:effectLst/>
                        </a:rPr>
                        <a:t>Sheriffen og fangen</a:t>
                      </a:r>
                      <a:endParaRPr lang="da-DK"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t"/>
                      <a:r>
                        <a:rPr lang="da-DK" sz="1200" u="none" strike="noStrike">
                          <a:effectLst/>
                        </a:rPr>
                        <a:t>Fangen uskyldig</a:t>
                      </a:r>
                      <a:endParaRPr lang="da-DK" sz="12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da-DK" sz="1200" u="none" strike="noStrike" dirty="0">
                          <a:effectLst/>
                        </a:rPr>
                        <a:t>Dræb uskyldig person for at undgå voldsomme kampe og mange menneskers død!</a:t>
                      </a:r>
                      <a:endParaRPr lang="da-DK" sz="12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dirty="0">
                          <a:effectLst/>
                        </a:rPr>
                        <a:t> </a:t>
                      </a:r>
                      <a:endParaRPr lang="da-DK"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a:effectLst/>
                        </a:rPr>
                        <a:t> </a:t>
                      </a:r>
                      <a:endParaRPr lang="da-DK" sz="1100" b="0" i="0" u="none" strike="noStrike">
                        <a:solidFill>
                          <a:srgbClr val="000000"/>
                        </a:solidFill>
                        <a:effectLst/>
                        <a:latin typeface="Calibri" panose="020F0502020204030204" pitchFamily="34" charset="0"/>
                      </a:endParaRPr>
                    </a:p>
                  </a:txBody>
                  <a:tcPr marL="9525" marR="9525" marT="9525" marB="0"/>
                </a:tc>
                <a:tc>
                  <a:txBody>
                    <a:bodyPr/>
                    <a:lstStyle/>
                    <a:p>
                      <a:pPr algn="l" fontAlgn="t"/>
                      <a:r>
                        <a:rPr lang="da-DK" sz="1100" u="none" strike="noStrike" dirty="0">
                          <a:effectLst/>
                        </a:rPr>
                        <a:t> </a:t>
                      </a:r>
                      <a:endParaRPr lang="da-DK"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225368780"/>
                  </a:ext>
                </a:extLst>
              </a:tr>
            </a:tbl>
          </a:graphicData>
        </a:graphic>
      </p:graphicFrame>
      <p:sp>
        <p:nvSpPr>
          <p:cNvPr id="10" name="Tekstfelt 9">
            <a:extLst>
              <a:ext uri="{FF2B5EF4-FFF2-40B4-BE49-F238E27FC236}">
                <a16:creationId xmlns:a16="http://schemas.microsoft.com/office/drawing/2014/main" id="{87EBEA12-327E-4288-8B12-D41B26AA7ACB}"/>
              </a:ext>
            </a:extLst>
          </p:cNvPr>
          <p:cNvSpPr txBox="1"/>
          <p:nvPr/>
        </p:nvSpPr>
        <p:spPr>
          <a:xfrm>
            <a:off x="4433463" y="1387109"/>
            <a:ext cx="2497968" cy="646331"/>
          </a:xfrm>
          <a:prstGeom prst="rect">
            <a:avLst/>
          </a:prstGeom>
          <a:noFill/>
        </p:spPr>
        <p:txBody>
          <a:bodyPr wrap="square" rtlCol="0">
            <a:spAutoFit/>
          </a:bodyPr>
          <a:lstStyle/>
          <a:p>
            <a:pPr algn="l" fontAlgn="t"/>
            <a:r>
              <a:rPr lang="da-DK" sz="1200" b="1" u="none" strike="noStrike" dirty="0">
                <a:solidFill>
                  <a:srgbClr val="006600"/>
                </a:solidFill>
                <a:effectLst/>
              </a:rPr>
              <a:t>ETISK</a:t>
            </a:r>
          </a:p>
          <a:p>
            <a:pPr marL="0" marR="0" lvl="0" indent="0" algn="l" defTabSz="914400" rtl="0" eaLnBrk="1" fontAlgn="t" latinLnBrk="0" hangingPunct="1">
              <a:lnSpc>
                <a:spcPct val="100000"/>
              </a:lnSpc>
              <a:spcBef>
                <a:spcPts val="0"/>
              </a:spcBef>
              <a:spcAft>
                <a:spcPts val="0"/>
              </a:spcAft>
              <a:buClrTx/>
              <a:buSzTx/>
              <a:buFontTx/>
              <a:buNone/>
              <a:tabLst/>
              <a:defRPr/>
            </a:pPr>
            <a:r>
              <a:rPr lang="da-DK" sz="1200" b="0" i="1" u="none" strike="noStrike" dirty="0">
                <a:solidFill>
                  <a:srgbClr val="006600"/>
                </a:solidFill>
                <a:effectLst/>
                <a:latin typeface="Calibri" panose="020F0502020204030204" pitchFamily="34" charset="0"/>
              </a:rPr>
              <a:t>Mest nytte ved at styrke Brasiliansk landbrug!</a:t>
            </a:r>
          </a:p>
        </p:txBody>
      </p:sp>
      <p:sp>
        <p:nvSpPr>
          <p:cNvPr id="11" name="Tekstfelt 10">
            <a:extLst>
              <a:ext uri="{FF2B5EF4-FFF2-40B4-BE49-F238E27FC236}">
                <a16:creationId xmlns:a16="http://schemas.microsoft.com/office/drawing/2014/main" id="{FDFB8B59-B80C-4867-97DE-85F59DF61A3F}"/>
              </a:ext>
            </a:extLst>
          </p:cNvPr>
          <p:cNvSpPr txBox="1"/>
          <p:nvPr/>
        </p:nvSpPr>
        <p:spPr>
          <a:xfrm>
            <a:off x="4424216" y="2229076"/>
            <a:ext cx="2497967" cy="646331"/>
          </a:xfrm>
          <a:prstGeom prst="rect">
            <a:avLst/>
          </a:prstGeom>
          <a:noFill/>
        </p:spPr>
        <p:txBody>
          <a:bodyPr wrap="square" rtlCol="0">
            <a:spAutoFit/>
          </a:bodyPr>
          <a:lstStyle/>
          <a:p>
            <a:pPr fontAlgn="t"/>
            <a:r>
              <a:rPr lang="da-DK" sz="1200" b="1" dirty="0">
                <a:solidFill>
                  <a:srgbClr val="006600"/>
                </a:solidFill>
              </a:rPr>
              <a:t>ETISK</a:t>
            </a:r>
          </a:p>
          <a:p>
            <a:pPr fontAlgn="t"/>
            <a:r>
              <a:rPr lang="da-DK" sz="1200" i="1" dirty="0">
                <a:solidFill>
                  <a:srgbClr val="006600"/>
                </a:solidFill>
              </a:rPr>
              <a:t>Størst nytte opnås ved at komme med en hvid løgn!</a:t>
            </a:r>
          </a:p>
        </p:txBody>
      </p:sp>
      <p:sp>
        <p:nvSpPr>
          <p:cNvPr id="12" name="Tekstfelt 11">
            <a:extLst>
              <a:ext uri="{FF2B5EF4-FFF2-40B4-BE49-F238E27FC236}">
                <a16:creationId xmlns:a16="http://schemas.microsoft.com/office/drawing/2014/main" id="{DF9326CC-2981-49F1-AD46-3B15D9DA2425}"/>
              </a:ext>
            </a:extLst>
          </p:cNvPr>
          <p:cNvSpPr txBox="1"/>
          <p:nvPr/>
        </p:nvSpPr>
        <p:spPr>
          <a:xfrm>
            <a:off x="4424219" y="3942756"/>
            <a:ext cx="2497967" cy="461665"/>
          </a:xfrm>
          <a:prstGeom prst="rect">
            <a:avLst/>
          </a:prstGeom>
          <a:noFill/>
        </p:spPr>
        <p:txBody>
          <a:bodyPr wrap="square" rtlCol="0">
            <a:spAutoFit/>
          </a:bodyPr>
          <a:lstStyle/>
          <a:p>
            <a:pPr fontAlgn="t"/>
            <a:r>
              <a:rPr lang="da-DK" sz="1200" b="1" dirty="0">
                <a:solidFill>
                  <a:srgbClr val="006600"/>
                </a:solidFill>
              </a:rPr>
              <a:t>ETISK</a:t>
            </a:r>
          </a:p>
          <a:p>
            <a:pPr fontAlgn="t"/>
            <a:r>
              <a:rPr lang="da-DK" sz="1200" i="1" dirty="0">
                <a:solidFill>
                  <a:srgbClr val="006600"/>
                </a:solidFill>
              </a:rPr>
              <a:t>Størst nytte ved at dræbe Hitler!</a:t>
            </a:r>
          </a:p>
        </p:txBody>
      </p:sp>
      <p:sp>
        <p:nvSpPr>
          <p:cNvPr id="13" name="Tekstfelt 12">
            <a:extLst>
              <a:ext uri="{FF2B5EF4-FFF2-40B4-BE49-F238E27FC236}">
                <a16:creationId xmlns:a16="http://schemas.microsoft.com/office/drawing/2014/main" id="{62D7CE9E-7635-495A-B40D-8EFF431CA810}"/>
              </a:ext>
            </a:extLst>
          </p:cNvPr>
          <p:cNvSpPr txBox="1"/>
          <p:nvPr/>
        </p:nvSpPr>
        <p:spPr>
          <a:xfrm>
            <a:off x="4414988" y="5249199"/>
            <a:ext cx="2516630" cy="830997"/>
          </a:xfrm>
          <a:prstGeom prst="rect">
            <a:avLst/>
          </a:prstGeom>
          <a:noFill/>
        </p:spPr>
        <p:txBody>
          <a:bodyPr wrap="square" rtlCol="0">
            <a:spAutoFit/>
          </a:bodyPr>
          <a:lstStyle/>
          <a:p>
            <a:pPr fontAlgn="t"/>
            <a:r>
              <a:rPr lang="da-DK" sz="1200" b="1" dirty="0">
                <a:solidFill>
                  <a:srgbClr val="006600"/>
                </a:solidFill>
              </a:rPr>
              <a:t>ETISK</a:t>
            </a:r>
          </a:p>
          <a:p>
            <a:pPr fontAlgn="t"/>
            <a:r>
              <a:rPr lang="da-DK" sz="1200" i="1" dirty="0">
                <a:solidFill>
                  <a:srgbClr val="006600"/>
                </a:solidFill>
              </a:rPr>
              <a:t>Størst nytte ved at dræbe den uskyldige – dette vil skåne mange andre menneskers liv!</a:t>
            </a:r>
          </a:p>
        </p:txBody>
      </p:sp>
      <p:sp>
        <p:nvSpPr>
          <p:cNvPr id="14" name="Tekstfelt 13">
            <a:extLst>
              <a:ext uri="{FF2B5EF4-FFF2-40B4-BE49-F238E27FC236}">
                <a16:creationId xmlns:a16="http://schemas.microsoft.com/office/drawing/2014/main" id="{58BB2E19-4694-4D48-9C16-2EBE5BC98E60}"/>
              </a:ext>
            </a:extLst>
          </p:cNvPr>
          <p:cNvSpPr txBox="1"/>
          <p:nvPr/>
        </p:nvSpPr>
        <p:spPr>
          <a:xfrm>
            <a:off x="6953336" y="1398754"/>
            <a:ext cx="3318446" cy="492443"/>
          </a:xfrm>
          <a:prstGeom prst="rect">
            <a:avLst/>
          </a:prstGeom>
          <a:noFill/>
        </p:spPr>
        <p:txBody>
          <a:bodyPr wrap="square" rtlCol="0">
            <a:spAutoFit/>
          </a:bodyPr>
          <a:lstStyle/>
          <a:p>
            <a:pPr fontAlgn="t"/>
            <a:r>
              <a:rPr lang="da-DK" sz="1300" b="1" dirty="0">
                <a:solidFill>
                  <a:srgbClr val="FF0000"/>
                </a:solidFill>
              </a:rPr>
              <a:t>UETISK</a:t>
            </a:r>
          </a:p>
          <a:p>
            <a:pPr fontAlgn="t"/>
            <a:r>
              <a:rPr lang="da-DK" sz="1300" i="1" dirty="0">
                <a:solidFill>
                  <a:srgbClr val="FF0000"/>
                </a:solidFill>
              </a:rPr>
              <a:t>Profit er ikke vigtigere end menneskeliv!</a:t>
            </a:r>
          </a:p>
        </p:txBody>
      </p:sp>
      <p:sp>
        <p:nvSpPr>
          <p:cNvPr id="15" name="Tekstfelt 14">
            <a:extLst>
              <a:ext uri="{FF2B5EF4-FFF2-40B4-BE49-F238E27FC236}">
                <a16:creationId xmlns:a16="http://schemas.microsoft.com/office/drawing/2014/main" id="{E885CCD5-0DC1-43A5-AE2A-6543C4856A76}"/>
              </a:ext>
            </a:extLst>
          </p:cNvPr>
          <p:cNvSpPr txBox="1"/>
          <p:nvPr/>
        </p:nvSpPr>
        <p:spPr>
          <a:xfrm>
            <a:off x="6953337" y="2232287"/>
            <a:ext cx="3318446" cy="492443"/>
          </a:xfrm>
          <a:prstGeom prst="rect">
            <a:avLst/>
          </a:prstGeom>
          <a:noFill/>
        </p:spPr>
        <p:txBody>
          <a:bodyPr wrap="square" rtlCol="0">
            <a:spAutoFit/>
          </a:bodyPr>
          <a:lstStyle/>
          <a:p>
            <a:pPr fontAlgn="t"/>
            <a:r>
              <a:rPr lang="da-DK" sz="1300" b="1" dirty="0">
                <a:solidFill>
                  <a:srgbClr val="FF0000"/>
                </a:solidFill>
              </a:rPr>
              <a:t>UETISK </a:t>
            </a:r>
          </a:p>
          <a:p>
            <a:pPr fontAlgn="t"/>
            <a:r>
              <a:rPr lang="da-DK" sz="1300" i="1" dirty="0">
                <a:solidFill>
                  <a:srgbClr val="FF0000"/>
                </a:solidFill>
              </a:rPr>
              <a:t>Umoralsk at lyve!</a:t>
            </a:r>
          </a:p>
        </p:txBody>
      </p:sp>
      <p:sp>
        <p:nvSpPr>
          <p:cNvPr id="16" name="Tekstfelt 15">
            <a:extLst>
              <a:ext uri="{FF2B5EF4-FFF2-40B4-BE49-F238E27FC236}">
                <a16:creationId xmlns:a16="http://schemas.microsoft.com/office/drawing/2014/main" id="{9258D924-AF54-4709-BF26-023026494CF5}"/>
              </a:ext>
            </a:extLst>
          </p:cNvPr>
          <p:cNvSpPr txBox="1"/>
          <p:nvPr/>
        </p:nvSpPr>
        <p:spPr>
          <a:xfrm>
            <a:off x="6953337" y="3932812"/>
            <a:ext cx="3346437" cy="692497"/>
          </a:xfrm>
          <a:prstGeom prst="rect">
            <a:avLst/>
          </a:prstGeom>
          <a:noFill/>
        </p:spPr>
        <p:txBody>
          <a:bodyPr wrap="square" rtlCol="0">
            <a:spAutoFit/>
          </a:bodyPr>
          <a:lstStyle/>
          <a:p>
            <a:pPr fontAlgn="t"/>
            <a:r>
              <a:rPr lang="da-DK" sz="1300" b="1" dirty="0">
                <a:solidFill>
                  <a:srgbClr val="FF0000"/>
                </a:solidFill>
              </a:rPr>
              <a:t>UETISK</a:t>
            </a:r>
          </a:p>
          <a:p>
            <a:pPr fontAlgn="t"/>
            <a:r>
              <a:rPr lang="da-DK" sz="1300" i="1" dirty="0">
                <a:solidFill>
                  <a:srgbClr val="FF0000"/>
                </a:solidFill>
              </a:rPr>
              <a:t>Ud fra hvis alle mennesker handlede på samme måde vil det være en forkert handling!</a:t>
            </a:r>
          </a:p>
        </p:txBody>
      </p:sp>
      <p:sp>
        <p:nvSpPr>
          <p:cNvPr id="17" name="Tekstfelt 16">
            <a:extLst>
              <a:ext uri="{FF2B5EF4-FFF2-40B4-BE49-F238E27FC236}">
                <a16:creationId xmlns:a16="http://schemas.microsoft.com/office/drawing/2014/main" id="{43CB1FEA-F469-4280-8442-A2179D56ED60}"/>
              </a:ext>
            </a:extLst>
          </p:cNvPr>
          <p:cNvSpPr txBox="1"/>
          <p:nvPr/>
        </p:nvSpPr>
        <p:spPr>
          <a:xfrm>
            <a:off x="6922183" y="5221536"/>
            <a:ext cx="3349598" cy="692497"/>
          </a:xfrm>
          <a:prstGeom prst="rect">
            <a:avLst/>
          </a:prstGeom>
          <a:noFill/>
        </p:spPr>
        <p:txBody>
          <a:bodyPr wrap="square" rtlCol="0">
            <a:spAutoFit/>
          </a:bodyPr>
          <a:lstStyle/>
          <a:p>
            <a:pPr fontAlgn="t"/>
            <a:r>
              <a:rPr lang="da-DK" sz="1300" b="1" dirty="0">
                <a:solidFill>
                  <a:srgbClr val="FF0000"/>
                </a:solidFill>
              </a:rPr>
              <a:t>UETISK</a:t>
            </a:r>
          </a:p>
          <a:p>
            <a:pPr fontAlgn="t"/>
            <a:r>
              <a:rPr lang="da-DK" sz="1300" i="1" dirty="0">
                <a:solidFill>
                  <a:srgbClr val="FF0000"/>
                </a:solidFill>
              </a:rPr>
              <a:t>Ud fra hvis alle mennesker handlede på samme måde vil det være en forkert handling!</a:t>
            </a:r>
          </a:p>
        </p:txBody>
      </p:sp>
      <p:sp>
        <p:nvSpPr>
          <p:cNvPr id="18" name="Tekstfelt 17">
            <a:extLst>
              <a:ext uri="{FF2B5EF4-FFF2-40B4-BE49-F238E27FC236}">
                <a16:creationId xmlns:a16="http://schemas.microsoft.com/office/drawing/2014/main" id="{C9C36DC0-B46E-4B26-B939-1FF4D5814649}"/>
              </a:ext>
            </a:extLst>
          </p:cNvPr>
          <p:cNvSpPr txBox="1"/>
          <p:nvPr/>
        </p:nvSpPr>
        <p:spPr>
          <a:xfrm>
            <a:off x="10290443" y="1372825"/>
            <a:ext cx="1433383" cy="892552"/>
          </a:xfrm>
          <a:prstGeom prst="rect">
            <a:avLst/>
          </a:prstGeom>
          <a:noFill/>
        </p:spPr>
        <p:txBody>
          <a:bodyPr wrap="square" rtlCol="0">
            <a:spAutoFit/>
          </a:bodyPr>
          <a:lstStyle/>
          <a:p>
            <a:pPr fontAlgn="t"/>
            <a:r>
              <a:rPr lang="da-DK" sz="1300" b="1" dirty="0">
                <a:solidFill>
                  <a:srgbClr val="FF0000"/>
                </a:solidFill>
              </a:rPr>
              <a:t>UETISK</a:t>
            </a:r>
          </a:p>
          <a:p>
            <a:pPr fontAlgn="t"/>
            <a:r>
              <a:rPr lang="da-DK" sz="1300" dirty="0">
                <a:solidFill>
                  <a:srgbClr val="FF0000"/>
                </a:solidFill>
              </a:rPr>
              <a:t>Anløben karakter og, at det er en glidebane!</a:t>
            </a:r>
          </a:p>
        </p:txBody>
      </p:sp>
      <p:sp>
        <p:nvSpPr>
          <p:cNvPr id="19" name="Tekstfelt 18">
            <a:extLst>
              <a:ext uri="{FF2B5EF4-FFF2-40B4-BE49-F238E27FC236}">
                <a16:creationId xmlns:a16="http://schemas.microsoft.com/office/drawing/2014/main" id="{B2AE59E6-13D0-4ED1-8A93-DC893AD79B1D}"/>
              </a:ext>
            </a:extLst>
          </p:cNvPr>
          <p:cNvSpPr txBox="1"/>
          <p:nvPr/>
        </p:nvSpPr>
        <p:spPr>
          <a:xfrm>
            <a:off x="10302934" y="2234952"/>
            <a:ext cx="1617216" cy="1692771"/>
          </a:xfrm>
          <a:prstGeom prst="rect">
            <a:avLst/>
          </a:prstGeom>
          <a:noFill/>
        </p:spPr>
        <p:txBody>
          <a:bodyPr wrap="square" rtlCol="0">
            <a:spAutoFit/>
          </a:bodyPr>
          <a:lstStyle/>
          <a:p>
            <a:pPr fontAlgn="t"/>
            <a:r>
              <a:rPr lang="da-DK" sz="1300" b="1" dirty="0">
                <a:solidFill>
                  <a:srgbClr val="006600"/>
                </a:solidFill>
              </a:rPr>
              <a:t>ETISK</a:t>
            </a:r>
          </a:p>
          <a:p>
            <a:pPr fontAlgn="t"/>
            <a:r>
              <a:rPr lang="da-DK" sz="1300" i="1" dirty="0">
                <a:solidFill>
                  <a:srgbClr val="006600"/>
                </a:solidFill>
              </a:rPr>
              <a:t>Hvis Viktor er motiveret af dyden ‘næstekærlighed’</a:t>
            </a:r>
          </a:p>
          <a:p>
            <a:pPr fontAlgn="t"/>
            <a:endParaRPr lang="da-DK" sz="1300" b="1" dirty="0">
              <a:solidFill>
                <a:srgbClr val="FF0000"/>
              </a:solidFill>
            </a:endParaRPr>
          </a:p>
          <a:p>
            <a:pPr fontAlgn="t"/>
            <a:r>
              <a:rPr lang="da-DK" sz="1300" b="1" dirty="0">
                <a:solidFill>
                  <a:srgbClr val="FF0000"/>
                </a:solidFill>
              </a:rPr>
              <a:t>UETISK</a:t>
            </a:r>
          </a:p>
          <a:p>
            <a:pPr fontAlgn="t"/>
            <a:r>
              <a:rPr lang="da-DK" sz="1300" i="1" dirty="0">
                <a:solidFill>
                  <a:srgbClr val="FF0000"/>
                </a:solidFill>
              </a:rPr>
              <a:t>Hvis Viktor er en lyst løgner!</a:t>
            </a:r>
          </a:p>
        </p:txBody>
      </p:sp>
      <p:sp>
        <p:nvSpPr>
          <p:cNvPr id="20" name="Tekstfelt 19">
            <a:extLst>
              <a:ext uri="{FF2B5EF4-FFF2-40B4-BE49-F238E27FC236}">
                <a16:creationId xmlns:a16="http://schemas.microsoft.com/office/drawing/2014/main" id="{8B144897-5FF1-4C69-B9A7-DD84AD8970D9}"/>
              </a:ext>
            </a:extLst>
          </p:cNvPr>
          <p:cNvSpPr txBox="1"/>
          <p:nvPr/>
        </p:nvSpPr>
        <p:spPr>
          <a:xfrm>
            <a:off x="10290443" y="3955191"/>
            <a:ext cx="1617216" cy="1015663"/>
          </a:xfrm>
          <a:prstGeom prst="rect">
            <a:avLst/>
          </a:prstGeom>
          <a:noFill/>
        </p:spPr>
        <p:txBody>
          <a:bodyPr wrap="square" rtlCol="0">
            <a:spAutoFit/>
          </a:bodyPr>
          <a:lstStyle/>
          <a:p>
            <a:pPr fontAlgn="t"/>
            <a:r>
              <a:rPr lang="da-DK" sz="1200" b="1" dirty="0">
                <a:solidFill>
                  <a:srgbClr val="006600"/>
                </a:solidFill>
              </a:rPr>
              <a:t>ETISK</a:t>
            </a:r>
          </a:p>
          <a:p>
            <a:pPr fontAlgn="t"/>
            <a:r>
              <a:rPr lang="da-DK" sz="1200" i="1" dirty="0">
                <a:solidFill>
                  <a:srgbClr val="006600"/>
                </a:solidFill>
              </a:rPr>
              <a:t>Handlingen om at dræbe Hitler set over længere tid er retfærdiggjort!</a:t>
            </a:r>
          </a:p>
        </p:txBody>
      </p:sp>
      <p:sp>
        <p:nvSpPr>
          <p:cNvPr id="22" name="Tekstfelt 21">
            <a:extLst>
              <a:ext uri="{FF2B5EF4-FFF2-40B4-BE49-F238E27FC236}">
                <a16:creationId xmlns:a16="http://schemas.microsoft.com/office/drawing/2014/main" id="{F589A204-614B-4286-B20B-A178C9DAB83F}"/>
              </a:ext>
            </a:extLst>
          </p:cNvPr>
          <p:cNvSpPr txBox="1"/>
          <p:nvPr/>
        </p:nvSpPr>
        <p:spPr>
          <a:xfrm>
            <a:off x="10293967" y="5252637"/>
            <a:ext cx="1613692" cy="892552"/>
          </a:xfrm>
          <a:prstGeom prst="rect">
            <a:avLst/>
          </a:prstGeom>
          <a:noFill/>
        </p:spPr>
        <p:txBody>
          <a:bodyPr wrap="square" rtlCol="0">
            <a:spAutoFit/>
          </a:bodyPr>
          <a:lstStyle/>
          <a:p>
            <a:pPr fontAlgn="t"/>
            <a:r>
              <a:rPr lang="da-DK" sz="1300" b="1" dirty="0">
                <a:solidFill>
                  <a:srgbClr val="FF0000"/>
                </a:solidFill>
              </a:rPr>
              <a:t>UETISK</a:t>
            </a:r>
          </a:p>
          <a:p>
            <a:pPr fontAlgn="t"/>
            <a:r>
              <a:rPr lang="da-DK" sz="1300" i="1" dirty="0">
                <a:solidFill>
                  <a:srgbClr val="FF0000"/>
                </a:solidFill>
              </a:rPr>
              <a:t>Det at dræbe en uskyldig er ikke en dyd!</a:t>
            </a:r>
          </a:p>
        </p:txBody>
      </p:sp>
    </p:spTree>
    <p:extLst>
      <p:ext uri="{BB962C8B-B14F-4D97-AF65-F5344CB8AC3E}">
        <p14:creationId xmlns:p14="http://schemas.microsoft.com/office/powerpoint/2010/main" val="26779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5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1" end="1"/>
                                            </p:txEl>
                                          </p:spTgt>
                                        </p:tgtEl>
                                        <p:attrNameLst>
                                          <p:attrName>style.visibility</p:attrName>
                                        </p:attrNameLst>
                                      </p:cBhvr>
                                      <p:to>
                                        <p:strVal val="visible"/>
                                      </p:to>
                                    </p:set>
                                    <p:animEffect transition="in" filter="fade">
                                      <p:cBhvr>
                                        <p:cTn id="22" dur="500"/>
                                        <p:tgtEl>
                                          <p:spTgt spid="1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fade">
                                      <p:cBhvr>
                                        <p:cTn id="27" dur="500"/>
                                        <p:tgtEl>
                                          <p:spTgt spid="1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xEl>
                                              <p:pRg st="1" end="1"/>
                                            </p:txEl>
                                          </p:spTgt>
                                        </p:tgtEl>
                                        <p:attrNameLst>
                                          <p:attrName>style.visibility</p:attrName>
                                        </p:attrNameLst>
                                      </p:cBhvr>
                                      <p:to>
                                        <p:strVal val="visible"/>
                                      </p:to>
                                    </p:set>
                                    <p:animEffect transition="in" filter="fade">
                                      <p:cBhvr>
                                        <p:cTn id="32" dur="500"/>
                                        <p:tgtEl>
                                          <p:spTgt spid="12">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Effect transition="in" filter="fade">
                                      <p:cBhvr>
                                        <p:cTn id="37" dur="500"/>
                                        <p:tgtEl>
                                          <p:spTgt spid="1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xEl>
                                              <p:pRg st="1" end="1"/>
                                            </p:txEl>
                                          </p:spTgt>
                                        </p:tgtEl>
                                        <p:attrNameLst>
                                          <p:attrName>style.visibility</p:attrName>
                                        </p:attrNameLst>
                                      </p:cBhvr>
                                      <p:to>
                                        <p:strVal val="visible"/>
                                      </p:to>
                                    </p:set>
                                    <p:animEffect transition="in" filter="fade">
                                      <p:cBhvr>
                                        <p:cTn id="42" dur="500"/>
                                        <p:tgtEl>
                                          <p:spTgt spid="13">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xEl>
                                              <p:pRg st="0" end="0"/>
                                            </p:txEl>
                                          </p:spTgt>
                                        </p:tgtEl>
                                        <p:attrNameLst>
                                          <p:attrName>style.visibility</p:attrName>
                                        </p:attrNameLst>
                                      </p:cBhvr>
                                      <p:to>
                                        <p:strVal val="visible"/>
                                      </p:to>
                                    </p:set>
                                    <p:animEffect transition="in" filter="fade">
                                      <p:cBhvr>
                                        <p:cTn id="47" dur="500"/>
                                        <p:tgtEl>
                                          <p:spTgt spid="1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xEl>
                                              <p:pRg st="1" end="1"/>
                                            </p:txEl>
                                          </p:spTgt>
                                        </p:tgtEl>
                                        <p:attrNameLst>
                                          <p:attrName>style.visibility</p:attrName>
                                        </p:attrNameLst>
                                      </p:cBhvr>
                                      <p:to>
                                        <p:strVal val="visible"/>
                                      </p:to>
                                    </p:set>
                                    <p:animEffect transition="in" filter="fade">
                                      <p:cBhvr>
                                        <p:cTn id="52" dur="500"/>
                                        <p:tgtEl>
                                          <p:spTgt spid="14">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5">
                                            <p:txEl>
                                              <p:pRg st="0" end="0"/>
                                            </p:txEl>
                                          </p:spTgt>
                                        </p:tgtEl>
                                        <p:attrNameLst>
                                          <p:attrName>style.visibility</p:attrName>
                                        </p:attrNameLst>
                                      </p:cBhvr>
                                      <p:to>
                                        <p:strVal val="visible"/>
                                      </p:to>
                                    </p:set>
                                    <p:animEffect transition="in" filter="fade">
                                      <p:cBhvr>
                                        <p:cTn id="57" dur="500"/>
                                        <p:tgtEl>
                                          <p:spTgt spid="15">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5">
                                            <p:txEl>
                                              <p:pRg st="1" end="1"/>
                                            </p:txEl>
                                          </p:spTgt>
                                        </p:tgtEl>
                                        <p:attrNameLst>
                                          <p:attrName>style.visibility</p:attrName>
                                        </p:attrNameLst>
                                      </p:cBhvr>
                                      <p:to>
                                        <p:strVal val="visible"/>
                                      </p:to>
                                    </p:set>
                                    <p:animEffect transition="in" filter="fade">
                                      <p:cBhvr>
                                        <p:cTn id="62" dur="500"/>
                                        <p:tgtEl>
                                          <p:spTgt spid="15">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6">
                                            <p:txEl>
                                              <p:pRg st="0" end="0"/>
                                            </p:txEl>
                                          </p:spTgt>
                                        </p:tgtEl>
                                        <p:attrNameLst>
                                          <p:attrName>style.visibility</p:attrName>
                                        </p:attrNameLst>
                                      </p:cBhvr>
                                      <p:to>
                                        <p:strVal val="visible"/>
                                      </p:to>
                                    </p:set>
                                    <p:animEffect transition="in" filter="fade">
                                      <p:cBhvr>
                                        <p:cTn id="67" dur="500"/>
                                        <p:tgtEl>
                                          <p:spTgt spid="16">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6">
                                            <p:txEl>
                                              <p:pRg st="1" end="1"/>
                                            </p:txEl>
                                          </p:spTgt>
                                        </p:tgtEl>
                                        <p:attrNameLst>
                                          <p:attrName>style.visibility</p:attrName>
                                        </p:attrNameLst>
                                      </p:cBhvr>
                                      <p:to>
                                        <p:strVal val="visible"/>
                                      </p:to>
                                    </p:set>
                                    <p:animEffect transition="in" filter="fade">
                                      <p:cBhvr>
                                        <p:cTn id="72" dur="500"/>
                                        <p:tgtEl>
                                          <p:spTgt spid="16">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7">
                                            <p:txEl>
                                              <p:pRg st="0" end="0"/>
                                            </p:txEl>
                                          </p:spTgt>
                                        </p:tgtEl>
                                        <p:attrNameLst>
                                          <p:attrName>style.visibility</p:attrName>
                                        </p:attrNameLst>
                                      </p:cBhvr>
                                      <p:to>
                                        <p:strVal val="visible"/>
                                      </p:to>
                                    </p:set>
                                    <p:animEffect transition="in" filter="fade">
                                      <p:cBhvr>
                                        <p:cTn id="77" dur="500"/>
                                        <p:tgtEl>
                                          <p:spTgt spid="17">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7">
                                            <p:txEl>
                                              <p:pRg st="1" end="1"/>
                                            </p:txEl>
                                          </p:spTgt>
                                        </p:tgtEl>
                                        <p:attrNameLst>
                                          <p:attrName>style.visibility</p:attrName>
                                        </p:attrNameLst>
                                      </p:cBhvr>
                                      <p:to>
                                        <p:strVal val="visible"/>
                                      </p:to>
                                    </p:set>
                                    <p:animEffect transition="in" filter="fade">
                                      <p:cBhvr>
                                        <p:cTn id="82" dur="500"/>
                                        <p:tgtEl>
                                          <p:spTgt spid="17">
                                            <p:txEl>
                                              <p:pRg st="1" end="1"/>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8">
                                            <p:txEl>
                                              <p:pRg st="0" end="0"/>
                                            </p:txEl>
                                          </p:spTgt>
                                        </p:tgtEl>
                                        <p:attrNameLst>
                                          <p:attrName>style.visibility</p:attrName>
                                        </p:attrNameLst>
                                      </p:cBhvr>
                                      <p:to>
                                        <p:strVal val="visible"/>
                                      </p:to>
                                    </p:set>
                                    <p:animEffect transition="in" filter="fade">
                                      <p:cBhvr>
                                        <p:cTn id="87" dur="500"/>
                                        <p:tgtEl>
                                          <p:spTgt spid="18">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8">
                                            <p:txEl>
                                              <p:pRg st="1" end="1"/>
                                            </p:txEl>
                                          </p:spTgt>
                                        </p:tgtEl>
                                        <p:attrNameLst>
                                          <p:attrName>style.visibility</p:attrName>
                                        </p:attrNameLst>
                                      </p:cBhvr>
                                      <p:to>
                                        <p:strVal val="visible"/>
                                      </p:to>
                                    </p:set>
                                    <p:animEffect transition="in" filter="fade">
                                      <p:cBhvr>
                                        <p:cTn id="92" dur="500"/>
                                        <p:tgtEl>
                                          <p:spTgt spid="18">
                                            <p:txEl>
                                              <p:pRg st="1" end="1"/>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19">
                                            <p:txEl>
                                              <p:pRg st="0" end="0"/>
                                            </p:txEl>
                                          </p:spTgt>
                                        </p:tgtEl>
                                        <p:attrNameLst>
                                          <p:attrName>style.visibility</p:attrName>
                                        </p:attrNameLst>
                                      </p:cBhvr>
                                      <p:to>
                                        <p:strVal val="visible"/>
                                      </p:to>
                                    </p:set>
                                    <p:animEffect transition="in" filter="fade">
                                      <p:cBhvr>
                                        <p:cTn id="97" dur="500"/>
                                        <p:tgtEl>
                                          <p:spTgt spid="19">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9">
                                            <p:txEl>
                                              <p:pRg st="1" end="1"/>
                                            </p:txEl>
                                          </p:spTgt>
                                        </p:tgtEl>
                                        <p:attrNameLst>
                                          <p:attrName>style.visibility</p:attrName>
                                        </p:attrNameLst>
                                      </p:cBhvr>
                                      <p:to>
                                        <p:strVal val="visible"/>
                                      </p:to>
                                    </p:set>
                                    <p:animEffect transition="in" filter="fade">
                                      <p:cBhvr>
                                        <p:cTn id="102" dur="500"/>
                                        <p:tgtEl>
                                          <p:spTgt spid="19">
                                            <p:txEl>
                                              <p:pRg st="1" end="1"/>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19">
                                            <p:txEl>
                                              <p:pRg st="3" end="3"/>
                                            </p:txEl>
                                          </p:spTgt>
                                        </p:tgtEl>
                                        <p:attrNameLst>
                                          <p:attrName>style.visibility</p:attrName>
                                        </p:attrNameLst>
                                      </p:cBhvr>
                                      <p:to>
                                        <p:strVal val="visible"/>
                                      </p:to>
                                    </p:set>
                                    <p:animEffect transition="in" filter="fade">
                                      <p:cBhvr>
                                        <p:cTn id="107" dur="500"/>
                                        <p:tgtEl>
                                          <p:spTgt spid="19">
                                            <p:txEl>
                                              <p:pRg st="3" end="3"/>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9">
                                            <p:txEl>
                                              <p:pRg st="4" end="4"/>
                                            </p:txEl>
                                          </p:spTgt>
                                        </p:tgtEl>
                                        <p:attrNameLst>
                                          <p:attrName>style.visibility</p:attrName>
                                        </p:attrNameLst>
                                      </p:cBhvr>
                                      <p:to>
                                        <p:strVal val="visible"/>
                                      </p:to>
                                    </p:set>
                                    <p:animEffect transition="in" filter="fade">
                                      <p:cBhvr>
                                        <p:cTn id="112" dur="500"/>
                                        <p:tgtEl>
                                          <p:spTgt spid="19">
                                            <p:txEl>
                                              <p:pRg st="4" end="4"/>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20">
                                            <p:txEl>
                                              <p:pRg st="0" end="0"/>
                                            </p:txEl>
                                          </p:spTgt>
                                        </p:tgtEl>
                                        <p:attrNameLst>
                                          <p:attrName>style.visibility</p:attrName>
                                        </p:attrNameLst>
                                      </p:cBhvr>
                                      <p:to>
                                        <p:strVal val="visible"/>
                                      </p:to>
                                    </p:set>
                                    <p:animEffect transition="in" filter="fade">
                                      <p:cBhvr>
                                        <p:cTn id="117" dur="500"/>
                                        <p:tgtEl>
                                          <p:spTgt spid="20">
                                            <p:txEl>
                                              <p:pRg st="0" end="0"/>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20">
                                            <p:txEl>
                                              <p:pRg st="1" end="1"/>
                                            </p:txEl>
                                          </p:spTgt>
                                        </p:tgtEl>
                                        <p:attrNameLst>
                                          <p:attrName>style.visibility</p:attrName>
                                        </p:attrNameLst>
                                      </p:cBhvr>
                                      <p:to>
                                        <p:strVal val="visible"/>
                                      </p:to>
                                    </p:set>
                                    <p:animEffect transition="in" filter="fade">
                                      <p:cBhvr>
                                        <p:cTn id="122" dur="500"/>
                                        <p:tgtEl>
                                          <p:spTgt spid="20">
                                            <p:txEl>
                                              <p:pRg st="1" end="1"/>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22">
                                            <p:txEl>
                                              <p:pRg st="0" end="0"/>
                                            </p:txEl>
                                          </p:spTgt>
                                        </p:tgtEl>
                                        <p:attrNameLst>
                                          <p:attrName>style.visibility</p:attrName>
                                        </p:attrNameLst>
                                      </p:cBhvr>
                                      <p:to>
                                        <p:strVal val="visible"/>
                                      </p:to>
                                    </p:set>
                                    <p:animEffect transition="in" filter="fade">
                                      <p:cBhvr>
                                        <p:cTn id="127" dur="500"/>
                                        <p:tgtEl>
                                          <p:spTgt spid="22">
                                            <p:txEl>
                                              <p:pRg st="0" end="0"/>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22">
                                            <p:txEl>
                                              <p:pRg st="1" end="1"/>
                                            </p:txEl>
                                          </p:spTgt>
                                        </p:tgtEl>
                                        <p:attrNameLst>
                                          <p:attrName>style.visibility</p:attrName>
                                        </p:attrNameLst>
                                      </p:cBhvr>
                                      <p:to>
                                        <p:strVal val="visible"/>
                                      </p:to>
                                    </p:set>
                                    <p:animEffect transition="in" filter="fade">
                                      <p:cBhvr>
                                        <p:cTn id="132"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5C963DDE-4D4F-7660-BD2D-A24078F45DB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CDFD85B-D170-6F32-C4C0-DBAD0F575925}"/>
              </a:ext>
            </a:extLst>
          </p:cNvPr>
          <p:cNvSpPr>
            <a:spLocks noGrp="1"/>
          </p:cNvSpPr>
          <p:nvPr>
            <p:ph type="title"/>
          </p:nvPr>
        </p:nvSpPr>
        <p:spPr>
          <a:xfrm>
            <a:off x="838200" y="0"/>
            <a:ext cx="10515600" cy="1092028"/>
          </a:xfrm>
        </p:spPr>
        <p:txBody>
          <a:bodyPr>
            <a:normAutofit/>
          </a:bodyPr>
          <a:lstStyle/>
          <a:p>
            <a:r>
              <a:rPr lang="da-DK" b="1" dirty="0">
                <a:latin typeface="+mn-lt"/>
              </a:rPr>
              <a:t>Etisk kodeks ifm. forskning (DK)</a:t>
            </a:r>
          </a:p>
        </p:txBody>
      </p:sp>
      <p:pic>
        <p:nvPicPr>
          <p:cNvPr id="5" name="Billede 4">
            <a:extLst>
              <a:ext uri="{FF2B5EF4-FFF2-40B4-BE49-F238E27FC236}">
                <a16:creationId xmlns:a16="http://schemas.microsoft.com/office/drawing/2014/main" id="{37E21390-9F17-757A-D0AB-587BC54F9C11}"/>
              </a:ext>
            </a:extLst>
          </p:cNvPr>
          <p:cNvPicPr>
            <a:picLocks noChangeAspect="1"/>
          </p:cNvPicPr>
          <p:nvPr/>
        </p:nvPicPr>
        <p:blipFill>
          <a:blip r:embed="rId3"/>
          <a:stretch>
            <a:fillRect/>
          </a:stretch>
        </p:blipFill>
        <p:spPr>
          <a:xfrm>
            <a:off x="7604448" y="946912"/>
            <a:ext cx="4387356" cy="5361298"/>
          </a:xfrm>
          <a:prstGeom prst="rect">
            <a:avLst/>
          </a:prstGeom>
        </p:spPr>
      </p:pic>
      <p:sp>
        <p:nvSpPr>
          <p:cNvPr id="8" name="Pladsholder til indhold 3">
            <a:extLst>
              <a:ext uri="{FF2B5EF4-FFF2-40B4-BE49-F238E27FC236}">
                <a16:creationId xmlns:a16="http://schemas.microsoft.com/office/drawing/2014/main" id="{08244309-15D0-F576-AF1B-FF4B2472669D}"/>
              </a:ext>
            </a:extLst>
          </p:cNvPr>
          <p:cNvSpPr txBox="1">
            <a:spLocks/>
          </p:cNvSpPr>
          <p:nvPr/>
        </p:nvSpPr>
        <p:spPr>
          <a:xfrm>
            <a:off x="290285" y="839756"/>
            <a:ext cx="7314163" cy="56531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da-DK" sz="2500" b="1" dirty="0">
                <a:solidFill>
                  <a:schemeClr val="accent4">
                    <a:lumMod val="75000"/>
                  </a:schemeClr>
                </a:solidFill>
                <a:latin typeface="Calibri" panose="020F0502020204030204" pitchFamily="34" charset="0"/>
                <a:cs typeface="Times New Roman" panose="02020603050405020304" pitchFamily="18" charset="0"/>
              </a:rPr>
              <a:t>PRINCIPPER FOR FORSKNINGSINTEGRITET:</a:t>
            </a:r>
          </a:p>
          <a:p>
            <a:pPr marL="0" indent="0" algn="ctr">
              <a:spcBef>
                <a:spcPts val="0"/>
              </a:spcBef>
              <a:buNone/>
            </a:pPr>
            <a:r>
              <a:rPr lang="da-DK" sz="1800" b="1" dirty="0">
                <a:solidFill>
                  <a:srgbClr val="00B050"/>
                </a:solidFill>
                <a:latin typeface="Calibri" panose="020F0502020204030204" pitchFamily="34" charset="0"/>
                <a:cs typeface="Times New Roman" panose="02020603050405020304" pitchFamily="18" charset="0"/>
              </a:rPr>
              <a:t>(1) Ærlighed</a:t>
            </a:r>
            <a:r>
              <a:rPr lang="da-DK" sz="1800" dirty="0">
                <a:latin typeface="Calibri" panose="020F0502020204030204" pitchFamily="34" charset="0"/>
                <a:cs typeface="Times New Roman" panose="02020603050405020304" pitchFamily="18" charset="0"/>
              </a:rPr>
              <a:t> </a:t>
            </a:r>
            <a:r>
              <a:rPr lang="da-DK" sz="1800" b="1" dirty="0">
                <a:solidFill>
                  <a:srgbClr val="C00000"/>
                </a:solidFill>
                <a:latin typeface="Calibri" panose="020F0502020204030204" pitchFamily="34" charset="0"/>
                <a:cs typeface="Times New Roman" panose="02020603050405020304" pitchFamily="18" charset="0"/>
              </a:rPr>
              <a:t>(2) Gennemsigtighed</a:t>
            </a:r>
            <a:r>
              <a:rPr lang="da-DK" sz="1800" dirty="0">
                <a:latin typeface="Calibri" panose="020F0502020204030204" pitchFamily="34" charset="0"/>
                <a:cs typeface="Times New Roman" panose="02020603050405020304" pitchFamily="18" charset="0"/>
              </a:rPr>
              <a:t> og </a:t>
            </a:r>
            <a:r>
              <a:rPr lang="da-DK" sz="1800" b="1" dirty="0">
                <a:solidFill>
                  <a:srgbClr val="0066CC"/>
                </a:solidFill>
                <a:latin typeface="Calibri" panose="020F0502020204030204" pitchFamily="34" charset="0"/>
                <a:cs typeface="Times New Roman" panose="02020603050405020304" pitchFamily="18" charset="0"/>
              </a:rPr>
              <a:t>(3) Ansvarlighed</a:t>
            </a:r>
          </a:p>
          <a:p>
            <a:pPr marL="0" indent="0">
              <a:spcBef>
                <a:spcPts val="0"/>
              </a:spcBef>
              <a:buNone/>
            </a:pPr>
            <a:endParaRPr lang="da-DK" sz="1800" dirty="0">
              <a:latin typeface="Calibri" panose="020F0502020204030204" pitchFamily="34" charset="0"/>
              <a:cs typeface="Times New Roman" panose="02020603050405020304" pitchFamily="18" charset="0"/>
            </a:endParaRPr>
          </a:p>
          <a:p>
            <a:pPr marL="0" indent="0" algn="ctr">
              <a:spcBef>
                <a:spcPts val="0"/>
              </a:spcBef>
              <a:buNone/>
            </a:pPr>
            <a:r>
              <a:rPr lang="da-DK" sz="2500" b="1" dirty="0">
                <a:solidFill>
                  <a:schemeClr val="accent4">
                    <a:lumMod val="75000"/>
                  </a:schemeClr>
                </a:solidFill>
                <a:latin typeface="Calibri" panose="020F0502020204030204" pitchFamily="34" charset="0"/>
                <a:cs typeface="Times New Roman" panose="02020603050405020304" pitchFamily="18" charset="0"/>
              </a:rPr>
              <a:t>ANSVARLIG FORSKNINGSPRAKSIS:</a:t>
            </a:r>
          </a:p>
          <a:p>
            <a:pPr marL="342900" indent="-342900">
              <a:spcBef>
                <a:spcPts val="0"/>
              </a:spcBef>
              <a:buFont typeface="+mj-lt"/>
              <a:buAutoNum type="arabicPeriod"/>
            </a:pPr>
            <a:endParaRPr lang="da-DK" sz="1800" dirty="0">
              <a:latin typeface="Calibri" panose="020F0502020204030204" pitchFamily="34" charset="0"/>
              <a:cs typeface="Times New Roman" panose="02020603050405020304" pitchFamily="18" charset="0"/>
            </a:endParaRPr>
          </a:p>
          <a:p>
            <a:pPr marL="342900" indent="-342900">
              <a:spcBef>
                <a:spcPts val="0"/>
              </a:spcBef>
              <a:buFont typeface="+mj-lt"/>
              <a:buAutoNum type="arabicPeriod"/>
            </a:pPr>
            <a:r>
              <a:rPr lang="da-DK" sz="1800" b="1" dirty="0">
                <a:solidFill>
                  <a:srgbClr val="0000FF"/>
                </a:solidFill>
                <a:latin typeface="Calibri" panose="020F0502020204030204" pitchFamily="34" charset="0"/>
                <a:cs typeface="Times New Roman" panose="02020603050405020304" pitchFamily="18" charset="0"/>
              </a:rPr>
              <a:t>PLANLÆGNING OG GENNEMFØRELSE:</a:t>
            </a:r>
            <a:r>
              <a:rPr lang="da-DK" sz="1800" b="1" dirty="0">
                <a:latin typeface="Calibri" panose="020F0502020204030204" pitchFamily="34" charset="0"/>
                <a:cs typeface="Times New Roman" panose="02020603050405020304" pitchFamily="18" charset="0"/>
              </a:rPr>
              <a:t> </a:t>
            </a:r>
          </a:p>
          <a:p>
            <a:pPr marL="0" indent="0" defTabSz="180000">
              <a:spcBef>
                <a:spcPts val="0"/>
              </a:spcBef>
              <a:buNone/>
            </a:pPr>
            <a:r>
              <a:rPr lang="da-DK" sz="1800" dirty="0">
                <a:latin typeface="Calibri" panose="020F0502020204030204" pitchFamily="34" charset="0"/>
                <a:cs typeface="Times New Roman" panose="02020603050405020304" pitchFamily="18" charset="0"/>
              </a:rPr>
              <a:t>		</a:t>
            </a:r>
            <a:r>
              <a:rPr lang="da-DK" sz="1800" b="1" dirty="0">
                <a:latin typeface="Calibri" panose="020F0502020204030204" pitchFamily="34" charset="0"/>
                <a:cs typeface="Times New Roman" panose="02020603050405020304" pitchFamily="18" charset="0"/>
              </a:rPr>
              <a:t>Klar protokol, etik ok</a:t>
            </a:r>
            <a:endParaRPr lang="da-DK" sz="1800" b="1" i="1" dirty="0">
              <a:latin typeface="Calibri" panose="020F0502020204030204" pitchFamily="34" charset="0"/>
              <a:cs typeface="Times New Roman" panose="02020603050405020304" pitchFamily="18" charset="0"/>
            </a:endParaRPr>
          </a:p>
          <a:p>
            <a:pPr marL="0" indent="0" defTabSz="180000">
              <a:spcBef>
                <a:spcPts val="0"/>
              </a:spcBef>
              <a:buNone/>
            </a:pPr>
            <a:endParaRPr lang="da-DK" sz="1800" dirty="0">
              <a:latin typeface="Calibri" panose="020F0502020204030204" pitchFamily="34" charset="0"/>
              <a:cs typeface="Times New Roman" panose="02020603050405020304" pitchFamily="18" charset="0"/>
            </a:endParaRPr>
          </a:p>
          <a:p>
            <a:pPr marL="342900" indent="-342900">
              <a:spcBef>
                <a:spcPts val="0"/>
              </a:spcBef>
              <a:buFont typeface="+mj-lt"/>
              <a:buAutoNum type="arabicPeriod" startAt="2"/>
            </a:pPr>
            <a:r>
              <a:rPr lang="da-DK" sz="1800" b="1" dirty="0">
                <a:solidFill>
                  <a:srgbClr val="0000FF"/>
                </a:solidFill>
                <a:latin typeface="Calibri" panose="020F0502020204030204" pitchFamily="34" charset="0"/>
                <a:cs typeface="Times New Roman" panose="02020603050405020304" pitchFamily="18" charset="0"/>
              </a:rPr>
              <a:t>DATA: </a:t>
            </a:r>
          </a:p>
          <a:p>
            <a:pPr marL="0" indent="0" defTabSz="180000">
              <a:spcBef>
                <a:spcPts val="0"/>
              </a:spcBef>
              <a:buNone/>
            </a:pPr>
            <a:r>
              <a:rPr lang="da-DK" sz="1800" b="1" dirty="0">
                <a:latin typeface="Calibri" panose="020F0502020204030204" pitchFamily="34" charset="0"/>
                <a:cs typeface="Times New Roman" panose="02020603050405020304" pitchFamily="18" charset="0"/>
              </a:rPr>
              <a:t>		Sikker dokumenteret indsamling, -opbevaring og -deling</a:t>
            </a:r>
          </a:p>
          <a:p>
            <a:pPr marL="0" indent="0">
              <a:spcBef>
                <a:spcPts val="0"/>
              </a:spcBef>
              <a:buNone/>
            </a:pPr>
            <a:endParaRPr lang="da-DK" sz="1800" dirty="0">
              <a:latin typeface="Calibri" panose="020F0502020204030204" pitchFamily="34" charset="0"/>
              <a:cs typeface="Times New Roman" panose="02020603050405020304" pitchFamily="18" charset="0"/>
            </a:endParaRPr>
          </a:p>
          <a:p>
            <a:pPr marL="342900" indent="-342900">
              <a:spcBef>
                <a:spcPts val="0"/>
              </a:spcBef>
              <a:buFont typeface="+mj-lt"/>
              <a:buAutoNum type="arabicPeriod" startAt="3"/>
            </a:pPr>
            <a:r>
              <a:rPr lang="da-DK" sz="1800" b="1" dirty="0">
                <a:solidFill>
                  <a:srgbClr val="0000FF"/>
                </a:solidFill>
                <a:latin typeface="Calibri" panose="020F0502020204030204" pitchFamily="34" charset="0"/>
                <a:cs typeface="Times New Roman" panose="02020603050405020304" pitchFamily="18" charset="0"/>
              </a:rPr>
              <a:t>PUBLICERING og KOMMUNIKATION:</a:t>
            </a:r>
          </a:p>
          <a:p>
            <a:pPr marL="0" indent="0" defTabSz="180000">
              <a:spcBef>
                <a:spcPts val="0"/>
              </a:spcBef>
              <a:buNone/>
            </a:pPr>
            <a:r>
              <a:rPr lang="da-DK" sz="1800" dirty="0">
                <a:latin typeface="Calibri" panose="020F0502020204030204" pitchFamily="34" charset="0"/>
                <a:cs typeface="Times New Roman" panose="02020603050405020304" pitchFamily="18" charset="0"/>
              </a:rPr>
              <a:t>		</a:t>
            </a:r>
            <a:r>
              <a:rPr lang="da-DK" sz="1800" b="1" dirty="0">
                <a:latin typeface="Calibri" panose="020F0502020204030204" pitchFamily="34" charset="0"/>
                <a:cs typeface="Times New Roman" panose="02020603050405020304" pitchFamily="18" charset="0"/>
              </a:rPr>
              <a:t>Sandfærdig og transparent rapportering</a:t>
            </a:r>
          </a:p>
          <a:p>
            <a:pPr marL="0" indent="0">
              <a:spcBef>
                <a:spcPts val="0"/>
              </a:spcBef>
              <a:buNone/>
            </a:pPr>
            <a:endParaRPr lang="da-DK" sz="1800" dirty="0">
              <a:latin typeface="Calibri" panose="020F0502020204030204" pitchFamily="34" charset="0"/>
              <a:cs typeface="Times New Roman" panose="02020603050405020304" pitchFamily="18" charset="0"/>
            </a:endParaRPr>
          </a:p>
          <a:p>
            <a:pPr marL="342900" indent="-342900">
              <a:spcBef>
                <a:spcPts val="0"/>
              </a:spcBef>
              <a:buFont typeface="+mj-lt"/>
              <a:buAutoNum type="arabicPeriod" startAt="4"/>
            </a:pPr>
            <a:r>
              <a:rPr lang="da-DK" sz="1800" b="1" dirty="0">
                <a:solidFill>
                  <a:srgbClr val="0000FF"/>
                </a:solidFill>
                <a:latin typeface="Calibri" panose="020F0502020204030204" pitchFamily="34" charset="0"/>
                <a:cs typeface="Times New Roman" panose="02020603050405020304" pitchFamily="18" charset="0"/>
              </a:rPr>
              <a:t>FORFATTERSKAB:</a:t>
            </a:r>
          </a:p>
          <a:p>
            <a:pPr marL="0" indent="0" defTabSz="180000">
              <a:spcBef>
                <a:spcPts val="0"/>
              </a:spcBef>
              <a:buNone/>
            </a:pPr>
            <a:r>
              <a:rPr lang="da-DK" sz="1800" b="1" dirty="0">
                <a:latin typeface="Calibri" panose="020F0502020204030204" pitchFamily="34" charset="0"/>
                <a:cs typeface="Times New Roman" panose="02020603050405020304" pitchFamily="18" charset="0"/>
              </a:rPr>
              <a:t>		Kun de reelle bidragsydere i undersøgelsen</a:t>
            </a:r>
          </a:p>
          <a:p>
            <a:pPr marL="0" indent="0">
              <a:spcBef>
                <a:spcPts val="0"/>
              </a:spcBef>
              <a:buNone/>
            </a:pPr>
            <a:endParaRPr lang="da-DK" sz="1800" dirty="0">
              <a:latin typeface="Calibri" panose="020F0502020204030204" pitchFamily="34" charset="0"/>
              <a:cs typeface="Times New Roman" panose="02020603050405020304" pitchFamily="18" charset="0"/>
            </a:endParaRPr>
          </a:p>
          <a:p>
            <a:pPr marL="342900" indent="-342900">
              <a:spcBef>
                <a:spcPts val="0"/>
              </a:spcBef>
              <a:buFont typeface="+mj-lt"/>
              <a:buAutoNum type="arabicPeriod" startAt="5"/>
            </a:pPr>
            <a:r>
              <a:rPr lang="da-DK" sz="1800" b="1" dirty="0">
                <a:solidFill>
                  <a:srgbClr val="0000FF"/>
                </a:solidFill>
                <a:latin typeface="Calibri" panose="020F0502020204030204" pitchFamily="34" charset="0"/>
                <a:cs typeface="Times New Roman" panose="02020603050405020304" pitchFamily="18" charset="0"/>
              </a:rPr>
              <a:t>SAMARBEJDE:</a:t>
            </a:r>
          </a:p>
          <a:p>
            <a:pPr marL="0" indent="0" defTabSz="180000">
              <a:spcBef>
                <a:spcPts val="0"/>
              </a:spcBef>
              <a:buNone/>
            </a:pPr>
            <a:r>
              <a:rPr lang="da-DK" sz="1800" b="1" dirty="0">
                <a:latin typeface="Calibri" panose="020F0502020204030204" pitchFamily="34" charset="0"/>
                <a:cs typeface="Times New Roman" panose="02020603050405020304" pitchFamily="18" charset="0"/>
              </a:rPr>
              <a:t>		Klare roller, skriftlige aftaler, og ansvarsdeling – der skal nævnes</a:t>
            </a:r>
          </a:p>
          <a:p>
            <a:pPr marL="0" indent="0" defTabSz="180000">
              <a:spcBef>
                <a:spcPts val="0"/>
              </a:spcBef>
              <a:buNone/>
            </a:pPr>
            <a:endParaRPr lang="da-DK" sz="1800" b="1" dirty="0">
              <a:latin typeface="Calibri" panose="020F0502020204030204" pitchFamily="34" charset="0"/>
              <a:cs typeface="Times New Roman" panose="02020603050405020304" pitchFamily="18" charset="0"/>
            </a:endParaRPr>
          </a:p>
          <a:p>
            <a:pPr marL="342900" indent="-342900">
              <a:spcBef>
                <a:spcPts val="0"/>
              </a:spcBef>
              <a:buFont typeface="+mj-lt"/>
              <a:buAutoNum type="arabicPeriod" startAt="6"/>
            </a:pPr>
            <a:r>
              <a:rPr lang="da-DK" sz="1800" b="1" dirty="0">
                <a:solidFill>
                  <a:srgbClr val="0000FF"/>
                </a:solidFill>
                <a:latin typeface="Calibri" panose="020F0502020204030204" pitchFamily="34" charset="0"/>
                <a:cs typeface="Times New Roman" panose="02020603050405020304" pitchFamily="18" charset="0"/>
              </a:rPr>
              <a:t>INTERESSEKONFLIKTER:</a:t>
            </a:r>
          </a:p>
          <a:p>
            <a:pPr marL="0" indent="0" defTabSz="180000">
              <a:spcBef>
                <a:spcPts val="0"/>
              </a:spcBef>
              <a:buNone/>
            </a:pPr>
            <a:r>
              <a:rPr lang="da-DK" sz="1800" b="1" dirty="0">
                <a:latin typeface="Calibri" panose="020F0502020204030204" pitchFamily="34" charset="0"/>
                <a:cs typeface="Times New Roman" panose="02020603050405020304" pitchFamily="18" charset="0"/>
              </a:rPr>
              <a:t>		Erkend, oplys og håndter personlige/økonomiske bias</a:t>
            </a:r>
          </a:p>
          <a:p>
            <a:pPr marL="0" indent="0">
              <a:spcBef>
                <a:spcPts val="0"/>
              </a:spcBef>
              <a:buNone/>
            </a:pPr>
            <a:endParaRPr lang="da-DK" sz="1800" dirty="0">
              <a:latin typeface="Calibri" panose="020F0502020204030204" pitchFamily="34" charset="0"/>
              <a:cs typeface="Times New Roman" panose="02020603050405020304" pitchFamily="18" charset="0"/>
            </a:endParaRPr>
          </a:p>
          <a:p>
            <a:pPr marL="0" indent="0">
              <a:spcBef>
                <a:spcPts val="0"/>
              </a:spcBef>
              <a:buNone/>
            </a:pPr>
            <a:endParaRPr lang="da-DK" sz="1800" dirty="0">
              <a:latin typeface="Calibri" panose="020F0502020204030204" pitchFamily="34" charset="0"/>
              <a:cs typeface="Times New Roman" panose="02020603050405020304" pitchFamily="18" charset="0"/>
            </a:endParaRPr>
          </a:p>
        </p:txBody>
      </p:sp>
      <p:sp>
        <p:nvSpPr>
          <p:cNvPr id="10" name="Tekstfelt 9">
            <a:extLst>
              <a:ext uri="{FF2B5EF4-FFF2-40B4-BE49-F238E27FC236}">
                <a16:creationId xmlns:a16="http://schemas.microsoft.com/office/drawing/2014/main" id="{4B6973F9-3050-6B9D-D929-E2E4D0A54A27}"/>
              </a:ext>
            </a:extLst>
          </p:cNvPr>
          <p:cNvSpPr txBox="1"/>
          <p:nvPr/>
        </p:nvSpPr>
        <p:spPr>
          <a:xfrm>
            <a:off x="7604448" y="6400543"/>
            <a:ext cx="4387356" cy="369332"/>
          </a:xfrm>
          <a:prstGeom prst="rect">
            <a:avLst/>
          </a:prstGeom>
          <a:noFill/>
        </p:spPr>
        <p:txBody>
          <a:bodyPr wrap="square">
            <a:spAutoFit/>
          </a:bodyPr>
          <a:lstStyle/>
          <a:p>
            <a:r>
              <a:rPr lang="en-US" dirty="0">
                <a:hlinkClick r:id="rId4"/>
              </a:rPr>
              <a:t>https://ufm.dk/publikationer/2015/filer/file</a:t>
            </a:r>
            <a:endParaRPr lang="en-US" dirty="0"/>
          </a:p>
        </p:txBody>
      </p:sp>
    </p:spTree>
    <p:extLst>
      <p:ext uri="{BB962C8B-B14F-4D97-AF65-F5344CB8AC3E}">
        <p14:creationId xmlns:p14="http://schemas.microsoft.com/office/powerpoint/2010/main" val="2885061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2" name="Tekstfelt 1">
            <a:extLst>
              <a:ext uri="{FF2B5EF4-FFF2-40B4-BE49-F238E27FC236}">
                <a16:creationId xmlns:a16="http://schemas.microsoft.com/office/drawing/2014/main" id="{D9A2913C-8C7E-552E-7945-6D43CD592754}"/>
              </a:ext>
            </a:extLst>
          </p:cNvPr>
          <p:cNvSpPr txBox="1"/>
          <p:nvPr/>
        </p:nvSpPr>
        <p:spPr>
          <a:xfrm>
            <a:off x="4943062" y="815009"/>
            <a:ext cx="2584172" cy="830997"/>
          </a:xfrm>
          <a:prstGeom prst="rect">
            <a:avLst/>
          </a:prstGeom>
          <a:noFill/>
        </p:spPr>
        <p:txBody>
          <a:bodyPr wrap="square" rtlCol="0">
            <a:spAutoFit/>
          </a:bodyPr>
          <a:lstStyle/>
          <a:p>
            <a:pPr defTabSz="457200"/>
            <a:r>
              <a:rPr lang="en-GB" sz="2400" b="1" dirty="0">
                <a:solidFill>
                  <a:prstClr val="white"/>
                </a:solidFill>
                <a:latin typeface="Copperplate Gothic Bold" panose="020E0705020206020404" pitchFamily="34" charset="77"/>
                <a:cs typeface="Calibri Light" panose="020F0302020204030204" pitchFamily="34" charset="0"/>
              </a:rPr>
              <a:t>10 </a:t>
            </a:r>
            <a:r>
              <a:rPr lang="en-GB" sz="2400" b="1" dirty="0" err="1">
                <a:solidFill>
                  <a:prstClr val="white"/>
                </a:solidFill>
                <a:latin typeface="Copperplate Gothic Bold" panose="020E0705020206020404" pitchFamily="34" charset="77"/>
                <a:cs typeface="Calibri Light" panose="020F0302020204030204" pitchFamily="34" charset="0"/>
              </a:rPr>
              <a:t>hurtige</a:t>
            </a:r>
            <a:r>
              <a:rPr lang="en-GB" sz="2400" b="1" dirty="0">
                <a:solidFill>
                  <a:prstClr val="white"/>
                </a:solidFill>
                <a:latin typeface="Copperplate Gothic Bold" panose="020E0705020206020404" pitchFamily="34" charset="77"/>
                <a:cs typeface="Calibri Light" panose="020F0302020204030204" pitchFamily="34" charset="0"/>
              </a:rPr>
              <a:t> </a:t>
            </a:r>
            <a:r>
              <a:rPr lang="en-GB" sz="2400" b="1" dirty="0" err="1">
                <a:solidFill>
                  <a:prstClr val="white"/>
                </a:solidFill>
                <a:latin typeface="Copperplate Gothic Bold" panose="020E0705020206020404" pitchFamily="34" charset="77"/>
                <a:cs typeface="Calibri Light" panose="020F0302020204030204" pitchFamily="34" charset="0"/>
              </a:rPr>
              <a:t>på</a:t>
            </a:r>
            <a:r>
              <a:rPr lang="en-GB" sz="2400" b="1" dirty="0">
                <a:solidFill>
                  <a:prstClr val="white"/>
                </a:solidFill>
                <a:latin typeface="Copperplate Gothic Bold" panose="020E0705020206020404" pitchFamily="34" charset="77"/>
                <a:cs typeface="Calibri Light" panose="020F0302020204030204" pitchFamily="34" charset="0"/>
              </a:rPr>
              <a:t> 10 </a:t>
            </a:r>
            <a:r>
              <a:rPr lang="en-GB" sz="2400" b="1" dirty="0" err="1">
                <a:solidFill>
                  <a:prstClr val="white"/>
                </a:solidFill>
                <a:latin typeface="Copperplate Gothic Bold" panose="020E0705020206020404" pitchFamily="34" charset="77"/>
                <a:cs typeface="Calibri Light" panose="020F0302020204030204" pitchFamily="34" charset="0"/>
              </a:rPr>
              <a:t>minutter</a:t>
            </a:r>
            <a:endParaRPr lang="en-GB" sz="2400" b="1" dirty="0">
              <a:solidFill>
                <a:prstClr val="white"/>
              </a:solidFill>
              <a:latin typeface="Copperplate Gothic Bold" panose="020E0705020206020404" pitchFamily="34" charset="77"/>
              <a:cs typeface="Calibri Light" panose="020F0302020204030204" pitchFamily="34" charset="0"/>
            </a:endParaRPr>
          </a:p>
        </p:txBody>
      </p:sp>
    </p:spTree>
    <p:extLst>
      <p:ext uri="{BB962C8B-B14F-4D97-AF65-F5344CB8AC3E}">
        <p14:creationId xmlns:p14="http://schemas.microsoft.com/office/powerpoint/2010/main" val="454604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425"/>
            <a:lum/>
          </a:blip>
          <a:srcRect/>
          <a:stretch>
            <a:fillRect l="-17000" r="-17000"/>
          </a:stretch>
        </a:blipFill>
        <a:effectLst/>
      </p:bgPr>
    </p:bg>
    <p:spTree>
      <p:nvGrpSpPr>
        <p:cNvPr id="1" name="">
          <a:extLst>
            <a:ext uri="{FF2B5EF4-FFF2-40B4-BE49-F238E27FC236}">
              <a16:creationId xmlns:a16="http://schemas.microsoft.com/office/drawing/2014/main" id="{B957A97D-E15C-3A4B-BAAC-0C5D0CC9A78C}"/>
            </a:ext>
          </a:extLst>
        </p:cNvPr>
        <p:cNvGrpSpPr/>
        <p:nvPr/>
      </p:nvGrpSpPr>
      <p:grpSpPr>
        <a:xfrm>
          <a:off x="0" y="0"/>
          <a:ext cx="0" cy="0"/>
          <a:chOff x="0" y="0"/>
          <a:chExt cx="0" cy="0"/>
        </a:xfrm>
      </p:grpSpPr>
      <p:sp>
        <p:nvSpPr>
          <p:cNvPr id="4" name="Tekstfelt 3">
            <a:extLst>
              <a:ext uri="{FF2B5EF4-FFF2-40B4-BE49-F238E27FC236}">
                <a16:creationId xmlns:a16="http://schemas.microsoft.com/office/drawing/2014/main" id="{E4EE1526-2453-B91C-BAAF-733D880D2022}"/>
              </a:ext>
            </a:extLst>
          </p:cNvPr>
          <p:cNvSpPr txBox="1"/>
          <p:nvPr/>
        </p:nvSpPr>
        <p:spPr>
          <a:xfrm>
            <a:off x="2010212" y="613068"/>
            <a:ext cx="8507895" cy="4204356"/>
          </a:xfrm>
          <a:prstGeom prst="rect">
            <a:avLst/>
          </a:prstGeom>
          <a:noFill/>
        </p:spPr>
        <p:txBody>
          <a:bodyPr wrap="square" rtlCol="0">
            <a:spAutoFit/>
          </a:bodyPr>
          <a:lstStyle/>
          <a:p>
            <a:pPr marL="342900" indent="-342900" defTabSz="457200">
              <a:lnSpc>
                <a:spcPct val="150000"/>
              </a:lnSpc>
              <a:buFont typeface="+mj-lt"/>
              <a:buAutoNum type="arabicPeriod"/>
            </a:pPr>
            <a:r>
              <a:rPr lang="da-DK" b="1" dirty="0">
                <a:solidFill>
                  <a:prstClr val="black"/>
                </a:solidFill>
                <a:latin typeface="Calibri"/>
              </a:rPr>
              <a:t>Hvad er en syllogisme? – og giv tre eksempler.</a:t>
            </a:r>
          </a:p>
          <a:p>
            <a:pPr marL="342900" indent="-342900" defTabSz="457200">
              <a:lnSpc>
                <a:spcPct val="150000"/>
              </a:lnSpc>
              <a:buFont typeface="+mj-lt"/>
              <a:buAutoNum type="arabicPeriod" startAt="2"/>
            </a:pPr>
            <a:r>
              <a:rPr lang="da-DK" b="1" dirty="0">
                <a:solidFill>
                  <a:prstClr val="black"/>
                </a:solidFill>
                <a:latin typeface="Calibri"/>
              </a:rPr>
              <a:t>Hvilken videnskabelig filosofi er baseret på en “a priori” erkendelse?</a:t>
            </a:r>
          </a:p>
          <a:p>
            <a:pPr marL="342900" indent="-342900" defTabSz="457200">
              <a:lnSpc>
                <a:spcPct val="150000"/>
              </a:lnSpc>
              <a:buFont typeface="+mj-lt"/>
              <a:buAutoNum type="arabicPeriod" startAt="3"/>
            </a:pPr>
            <a:r>
              <a:rPr lang="da-DK" b="1" dirty="0">
                <a:solidFill>
                  <a:prstClr val="black"/>
                </a:solidFill>
                <a:latin typeface="Calibri"/>
              </a:rPr>
              <a:t>Hvilken videnskabelig filosofi er grundlaget for Positivismen?</a:t>
            </a:r>
          </a:p>
          <a:p>
            <a:pPr marL="342900" indent="-342900" defTabSz="457200">
              <a:lnSpc>
                <a:spcPct val="150000"/>
              </a:lnSpc>
              <a:buFont typeface="+mj-lt"/>
              <a:buAutoNum type="arabicPeriod" startAt="4"/>
            </a:pPr>
            <a:r>
              <a:rPr lang="da-DK" b="1" dirty="0">
                <a:solidFill>
                  <a:prstClr val="black"/>
                </a:solidFill>
                <a:latin typeface="Calibri"/>
              </a:rPr>
              <a:t>Hvad mener </a:t>
            </a:r>
            <a:r>
              <a:rPr lang="da-DK" b="1" dirty="0" err="1">
                <a:solidFill>
                  <a:prstClr val="black"/>
                </a:solidFill>
                <a:latin typeface="Calibri"/>
              </a:rPr>
              <a:t>Comté</a:t>
            </a:r>
            <a:r>
              <a:rPr lang="da-DK" b="1" dirty="0">
                <a:solidFill>
                  <a:prstClr val="black"/>
                </a:solidFill>
                <a:latin typeface="Calibri"/>
              </a:rPr>
              <a:t> når han taler om en “Enhedsvidenskab”?</a:t>
            </a:r>
          </a:p>
          <a:p>
            <a:pPr marL="342900" indent="-342900" defTabSz="457200">
              <a:lnSpc>
                <a:spcPct val="150000"/>
              </a:lnSpc>
              <a:buFont typeface="+mj-lt"/>
              <a:buAutoNum type="arabicPeriod" startAt="5"/>
            </a:pPr>
            <a:r>
              <a:rPr lang="da-DK" b="1" dirty="0">
                <a:solidFill>
                  <a:prstClr val="black"/>
                </a:solidFill>
                <a:latin typeface="Calibri"/>
              </a:rPr>
              <a:t>Forklar ”Asymmetritesen”</a:t>
            </a:r>
          </a:p>
          <a:p>
            <a:pPr marL="342900" indent="-342900" defTabSz="457200">
              <a:lnSpc>
                <a:spcPct val="150000"/>
              </a:lnSpc>
              <a:buFont typeface="+mj-lt"/>
              <a:buAutoNum type="arabicPeriod" startAt="6"/>
            </a:pPr>
            <a:r>
              <a:rPr lang="da-DK" b="1" dirty="0">
                <a:solidFill>
                  <a:prstClr val="black"/>
                </a:solidFill>
                <a:latin typeface="Calibri"/>
              </a:rPr>
              <a:t>Hvordan viderefører Popper den klassiske rationalisme?</a:t>
            </a:r>
          </a:p>
          <a:p>
            <a:pPr marL="342900" indent="-342900" defTabSz="457200">
              <a:lnSpc>
                <a:spcPct val="150000"/>
              </a:lnSpc>
              <a:buClr>
                <a:prstClr val="black"/>
              </a:buClr>
              <a:buFont typeface="+mj-lt"/>
              <a:buAutoNum type="arabicPeriod" startAt="7"/>
            </a:pPr>
            <a:r>
              <a:rPr lang="da-DK" b="1" dirty="0">
                <a:solidFill>
                  <a:prstClr val="black"/>
                </a:solidFill>
                <a:latin typeface="Calibri"/>
              </a:rPr>
              <a:t>Hvilke fire vidensniveauer indgår jf. Kuada (2012) i et research design?</a:t>
            </a:r>
          </a:p>
          <a:p>
            <a:pPr marL="342900" indent="-342900" defTabSz="457200">
              <a:lnSpc>
                <a:spcPct val="150000"/>
              </a:lnSpc>
              <a:buClr>
                <a:prstClr val="black"/>
              </a:buClr>
              <a:buFont typeface="+mj-lt"/>
              <a:buAutoNum type="arabicPeriod" startAt="8"/>
            </a:pPr>
            <a:r>
              <a:rPr lang="da-DK" b="1" dirty="0">
                <a:solidFill>
                  <a:prstClr val="black"/>
                </a:solidFill>
                <a:latin typeface="Calibri"/>
              </a:rPr>
              <a:t>Hvilke tre ”strategier” kan en forsker jf. Kuada (2012) vælge i deres research design?</a:t>
            </a:r>
          </a:p>
          <a:p>
            <a:pPr marL="342900" indent="-342900" defTabSz="457200">
              <a:lnSpc>
                <a:spcPct val="150000"/>
              </a:lnSpc>
              <a:buClr>
                <a:prstClr val="black"/>
              </a:buClr>
              <a:buFont typeface="+mj-lt"/>
              <a:buAutoNum type="arabicPeriod" startAt="9"/>
            </a:pPr>
            <a:r>
              <a:rPr lang="da-DK" b="1" dirty="0">
                <a:solidFill>
                  <a:prstClr val="black"/>
                </a:solidFill>
                <a:latin typeface="Calibri"/>
              </a:rPr>
              <a:t>Hvad er et paradigme?</a:t>
            </a:r>
          </a:p>
          <a:p>
            <a:pPr marL="342900" indent="-342900" defTabSz="457200">
              <a:lnSpc>
                <a:spcPct val="150000"/>
              </a:lnSpc>
              <a:buClr>
                <a:prstClr val="black"/>
              </a:buClr>
              <a:buFont typeface="+mj-lt"/>
              <a:buAutoNum type="arabicPeriod" startAt="10"/>
            </a:pPr>
            <a:r>
              <a:rPr lang="da-DK" b="1" dirty="0">
                <a:solidFill>
                  <a:prstClr val="black"/>
                </a:solidFill>
                <a:latin typeface="Calibri"/>
              </a:rPr>
              <a:t>Hvad beskriver en Kuhn Cyklus?</a:t>
            </a:r>
            <a:endParaRPr lang="da-DK" dirty="0">
              <a:solidFill>
                <a:prstClr val="black"/>
              </a:solidFill>
              <a:latin typeface="Calibri"/>
            </a:endParaRPr>
          </a:p>
        </p:txBody>
      </p:sp>
      <p:pic>
        <p:nvPicPr>
          <p:cNvPr id="2" name="Billede 1">
            <a:extLst>
              <a:ext uri="{FF2B5EF4-FFF2-40B4-BE49-F238E27FC236}">
                <a16:creationId xmlns:a16="http://schemas.microsoft.com/office/drawing/2014/main" id="{09EECFCA-2C4C-8943-AEAC-BEE6CEFA980B}"/>
              </a:ext>
            </a:extLst>
          </p:cNvPr>
          <p:cNvPicPr>
            <a:picLocks noChangeAspect="1"/>
          </p:cNvPicPr>
          <p:nvPr/>
        </p:nvPicPr>
        <p:blipFill>
          <a:blip r:embed="rId3"/>
          <a:stretch>
            <a:fillRect/>
          </a:stretch>
        </p:blipFill>
        <p:spPr>
          <a:xfrm>
            <a:off x="5895010" y="4142754"/>
            <a:ext cx="1822339" cy="2277924"/>
          </a:xfrm>
          <a:prstGeom prst="rect">
            <a:avLst/>
          </a:prstGeom>
        </p:spPr>
      </p:pic>
    </p:spTree>
    <p:extLst>
      <p:ext uri="{BB962C8B-B14F-4D97-AF65-F5344CB8AC3E}">
        <p14:creationId xmlns:p14="http://schemas.microsoft.com/office/powerpoint/2010/main" val="2915788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425"/>
            <a:lum/>
          </a:blip>
          <a:srcRect/>
          <a:stretch>
            <a:fillRect l="-17000" r="-17000"/>
          </a:stretch>
        </a:blipFill>
        <a:effectLst/>
      </p:bgPr>
    </p:bg>
    <p:spTree>
      <p:nvGrpSpPr>
        <p:cNvPr id="1" name="">
          <a:extLst>
            <a:ext uri="{FF2B5EF4-FFF2-40B4-BE49-F238E27FC236}">
              <a16:creationId xmlns:a16="http://schemas.microsoft.com/office/drawing/2014/main" id="{7E145BEC-A3BD-7102-2459-34D201025236}"/>
            </a:ext>
          </a:extLst>
        </p:cNvPr>
        <p:cNvGrpSpPr/>
        <p:nvPr/>
      </p:nvGrpSpPr>
      <p:grpSpPr>
        <a:xfrm>
          <a:off x="0" y="0"/>
          <a:ext cx="0" cy="0"/>
          <a:chOff x="0" y="0"/>
          <a:chExt cx="0" cy="0"/>
        </a:xfrm>
      </p:grpSpPr>
      <p:sp>
        <p:nvSpPr>
          <p:cNvPr id="4" name="Tekstfelt 3">
            <a:extLst>
              <a:ext uri="{FF2B5EF4-FFF2-40B4-BE49-F238E27FC236}">
                <a16:creationId xmlns:a16="http://schemas.microsoft.com/office/drawing/2014/main" id="{0CE7CF8E-07D5-FA4B-263B-EEE68CDAF292}"/>
              </a:ext>
            </a:extLst>
          </p:cNvPr>
          <p:cNvSpPr txBox="1"/>
          <p:nvPr/>
        </p:nvSpPr>
        <p:spPr>
          <a:xfrm>
            <a:off x="1861931" y="10029"/>
            <a:ext cx="8289234" cy="6186309"/>
          </a:xfrm>
          <a:prstGeom prst="rect">
            <a:avLst/>
          </a:prstGeom>
          <a:noFill/>
        </p:spPr>
        <p:txBody>
          <a:bodyPr wrap="square" rtlCol="0">
            <a:spAutoFit/>
          </a:bodyPr>
          <a:lstStyle/>
          <a:p>
            <a:pPr marL="342900" indent="-342900" defTabSz="457200">
              <a:buFont typeface="+mj-lt"/>
              <a:buAutoNum type="arabicPeriod"/>
            </a:pPr>
            <a:r>
              <a:rPr lang="da-DK" dirty="0">
                <a:solidFill>
                  <a:prstClr val="black"/>
                </a:solidFill>
                <a:latin typeface="Calibri"/>
              </a:rPr>
              <a:t>Hvad er en syllogisme? – og giv tre eksempler.</a:t>
            </a:r>
          </a:p>
          <a:p>
            <a:pPr marL="285750" indent="-285750" defTabSz="457200">
              <a:buFont typeface="Wingdings" pitchFamily="2" charset="2"/>
              <a:buChar char="ü"/>
            </a:pPr>
            <a:r>
              <a:rPr lang="da-DK" b="1" dirty="0">
                <a:solidFill>
                  <a:prstClr val="white"/>
                </a:solidFill>
                <a:latin typeface="Calibri"/>
              </a:rPr>
              <a:t>En logisk slutning – induktion, deduktion og Abduktion</a:t>
            </a:r>
          </a:p>
          <a:p>
            <a:pPr marL="342900" indent="-342900" defTabSz="457200">
              <a:buFont typeface="+mj-lt"/>
              <a:buAutoNum type="arabicPeriod" startAt="2"/>
            </a:pPr>
            <a:r>
              <a:rPr lang="da-DK" dirty="0">
                <a:solidFill>
                  <a:prstClr val="black"/>
                </a:solidFill>
                <a:latin typeface="Calibri"/>
              </a:rPr>
              <a:t>Hvilken videnskabelig filosofi er baseret på en “a priori” erkendelse?</a:t>
            </a:r>
          </a:p>
          <a:p>
            <a:pPr marL="342900" indent="-342900" defTabSz="457200">
              <a:buFont typeface="Wingdings" pitchFamily="2" charset="2"/>
              <a:buChar char="ü"/>
            </a:pPr>
            <a:r>
              <a:rPr lang="da-DK" b="1" dirty="0">
                <a:solidFill>
                  <a:prstClr val="white"/>
                </a:solidFill>
                <a:latin typeface="Calibri"/>
              </a:rPr>
              <a:t>Rationalismen</a:t>
            </a:r>
          </a:p>
          <a:p>
            <a:pPr marL="342900" indent="-342900" defTabSz="457200">
              <a:buFont typeface="+mj-lt"/>
              <a:buAutoNum type="arabicPeriod" startAt="3"/>
            </a:pPr>
            <a:r>
              <a:rPr lang="da-DK" dirty="0">
                <a:solidFill>
                  <a:prstClr val="black"/>
                </a:solidFill>
                <a:latin typeface="Calibri"/>
              </a:rPr>
              <a:t>Hvilken videnskabelig filosofi er grundlaget for Positivismen?</a:t>
            </a:r>
          </a:p>
          <a:p>
            <a:pPr marL="342900" indent="-342900" defTabSz="457200">
              <a:buFont typeface="Wingdings" pitchFamily="2" charset="2"/>
              <a:buChar char="ü"/>
            </a:pPr>
            <a:r>
              <a:rPr lang="da-DK" b="1" dirty="0">
                <a:solidFill>
                  <a:prstClr val="white"/>
                </a:solidFill>
                <a:latin typeface="Calibri"/>
              </a:rPr>
              <a:t>Empirismen</a:t>
            </a:r>
          </a:p>
          <a:p>
            <a:pPr marL="342900" indent="-342900" defTabSz="457200">
              <a:buFont typeface="+mj-lt"/>
              <a:buAutoNum type="arabicPeriod" startAt="4"/>
            </a:pPr>
            <a:r>
              <a:rPr lang="da-DK" dirty="0">
                <a:solidFill>
                  <a:prstClr val="black"/>
                </a:solidFill>
                <a:latin typeface="Calibri"/>
              </a:rPr>
              <a:t>Hvad mener </a:t>
            </a:r>
            <a:r>
              <a:rPr lang="da-DK" dirty="0" err="1">
                <a:solidFill>
                  <a:prstClr val="black"/>
                </a:solidFill>
                <a:latin typeface="Calibri"/>
              </a:rPr>
              <a:t>Comté</a:t>
            </a:r>
            <a:r>
              <a:rPr lang="da-DK" dirty="0">
                <a:solidFill>
                  <a:prstClr val="black"/>
                </a:solidFill>
                <a:latin typeface="Calibri"/>
              </a:rPr>
              <a:t> når han taler om en “Enhedsvidenskab”?</a:t>
            </a:r>
          </a:p>
          <a:p>
            <a:pPr marL="285750" indent="-285750" defTabSz="457200">
              <a:buFont typeface="Wingdings" pitchFamily="2" charset="2"/>
              <a:buChar char="ü"/>
            </a:pPr>
            <a:r>
              <a:rPr lang="da-DK" b="1" dirty="0">
                <a:solidFill>
                  <a:prstClr val="white"/>
                </a:solidFill>
                <a:latin typeface="Calibri"/>
              </a:rPr>
              <a:t>At alle videnskaber bør anvende Positivismen</a:t>
            </a:r>
          </a:p>
          <a:p>
            <a:pPr marL="342900" indent="-342900" defTabSz="457200">
              <a:buFont typeface="+mj-lt"/>
              <a:buAutoNum type="arabicPeriod" startAt="5"/>
            </a:pPr>
            <a:r>
              <a:rPr lang="da-DK" dirty="0">
                <a:solidFill>
                  <a:prstClr val="black"/>
                </a:solidFill>
                <a:latin typeface="Calibri"/>
              </a:rPr>
              <a:t>Forklar ”Asymmetritesen”</a:t>
            </a:r>
          </a:p>
          <a:p>
            <a:pPr marL="342900" indent="-342900" defTabSz="457200">
              <a:buFont typeface="Wingdings" pitchFamily="2" charset="2"/>
              <a:buChar char="ü"/>
            </a:pPr>
            <a:r>
              <a:rPr lang="da-DK" b="1" dirty="0">
                <a:solidFill>
                  <a:prstClr val="white"/>
                </a:solidFill>
                <a:latin typeface="Calibri"/>
              </a:rPr>
              <a:t>Uendeligt mange observationer kan aldrig bevise en videnskabelig teori, mens en enkelt observation er tilstrækkeligt til at afvise den.</a:t>
            </a:r>
          </a:p>
          <a:p>
            <a:pPr marL="342900" indent="-342900" defTabSz="457200">
              <a:buFont typeface="+mj-lt"/>
              <a:buAutoNum type="arabicPeriod" startAt="6"/>
            </a:pPr>
            <a:r>
              <a:rPr lang="da-DK" dirty="0">
                <a:solidFill>
                  <a:prstClr val="black"/>
                </a:solidFill>
                <a:latin typeface="Calibri"/>
              </a:rPr>
              <a:t>Hvordan viderefører Popper den klassiske rationalisme?</a:t>
            </a:r>
          </a:p>
          <a:p>
            <a:pPr marL="342900" indent="-342900" defTabSz="457200">
              <a:buClr>
                <a:prstClr val="white"/>
              </a:buClr>
              <a:buFont typeface="Wingdings" pitchFamily="2" charset="2"/>
              <a:buChar char="ü"/>
            </a:pPr>
            <a:r>
              <a:rPr lang="da-DK" b="1" dirty="0">
                <a:solidFill>
                  <a:prstClr val="white"/>
                </a:solidFill>
                <a:latin typeface="Calibri"/>
              </a:rPr>
              <a:t>Afviser ontologisk antirealismen og fastholder Realismen.</a:t>
            </a:r>
          </a:p>
          <a:p>
            <a:pPr defTabSz="457200">
              <a:buClr>
                <a:prstClr val="white"/>
              </a:buClr>
            </a:pPr>
            <a:r>
              <a:rPr lang="da-DK" b="1" dirty="0">
                <a:solidFill>
                  <a:prstClr val="white"/>
                </a:solidFill>
              </a:rPr>
              <a:t>       Herved viderefører han rationalismens deduktive metode, som falsifikation.</a:t>
            </a:r>
            <a:endParaRPr lang="da-DK" b="1" dirty="0">
              <a:solidFill>
                <a:prstClr val="white"/>
              </a:solidFill>
              <a:latin typeface="Calibri"/>
            </a:endParaRPr>
          </a:p>
          <a:p>
            <a:pPr marL="342900" indent="-342900" defTabSz="457200">
              <a:buClr>
                <a:prstClr val="black"/>
              </a:buClr>
              <a:buFont typeface="+mj-lt"/>
              <a:buAutoNum type="arabicPeriod" startAt="7"/>
            </a:pPr>
            <a:r>
              <a:rPr lang="da-DK" dirty="0">
                <a:solidFill>
                  <a:prstClr val="black"/>
                </a:solidFill>
                <a:latin typeface="Calibri"/>
              </a:rPr>
              <a:t>Hvilke fire vidensniveauer indgår jf. Kuada (2012) i et research design?</a:t>
            </a:r>
          </a:p>
          <a:p>
            <a:pPr marL="342900" indent="-342900" defTabSz="457200">
              <a:buClr>
                <a:prstClr val="white"/>
              </a:buClr>
              <a:buFont typeface="Wingdings" pitchFamily="2" charset="2"/>
              <a:buChar char="ü"/>
            </a:pPr>
            <a:r>
              <a:rPr lang="da-DK" b="1" dirty="0">
                <a:solidFill>
                  <a:prstClr val="white"/>
                </a:solidFill>
                <a:latin typeface="Calibri"/>
              </a:rPr>
              <a:t>Ontologi, Epistemologi, Metodologi samt metode og teknik.</a:t>
            </a:r>
          </a:p>
          <a:p>
            <a:pPr marL="342900" indent="-342900" defTabSz="457200">
              <a:buClr>
                <a:prstClr val="black"/>
              </a:buClr>
              <a:buFont typeface="+mj-lt"/>
              <a:buAutoNum type="arabicPeriod" startAt="8"/>
            </a:pPr>
            <a:r>
              <a:rPr lang="da-DK" dirty="0">
                <a:solidFill>
                  <a:prstClr val="black"/>
                </a:solidFill>
                <a:latin typeface="Calibri"/>
              </a:rPr>
              <a:t>Hvilke tre ”strategier” kan en forsker jf. Kuada (2012) vælge i deres research design?</a:t>
            </a:r>
          </a:p>
          <a:p>
            <a:pPr marL="342900" indent="-342900" defTabSz="457200">
              <a:buClr>
                <a:prstClr val="white"/>
              </a:buClr>
              <a:buFont typeface="Wingdings" pitchFamily="2" charset="2"/>
              <a:buChar char="ü"/>
            </a:pPr>
            <a:r>
              <a:rPr lang="da-DK" b="1" dirty="0">
                <a:solidFill>
                  <a:prstClr val="white"/>
                </a:solidFill>
                <a:latin typeface="Calibri"/>
              </a:rPr>
              <a:t>Purist, Situationel og Pragmatisk</a:t>
            </a:r>
          </a:p>
          <a:p>
            <a:pPr marL="342900" indent="-342900" defTabSz="457200">
              <a:buClr>
                <a:prstClr val="black"/>
              </a:buClr>
              <a:buFont typeface="+mj-lt"/>
              <a:buAutoNum type="arabicPeriod" startAt="9"/>
            </a:pPr>
            <a:r>
              <a:rPr lang="da-DK" dirty="0">
                <a:solidFill>
                  <a:prstClr val="black"/>
                </a:solidFill>
                <a:latin typeface="Calibri"/>
              </a:rPr>
              <a:t>Hvad er et paradigme?</a:t>
            </a:r>
          </a:p>
          <a:p>
            <a:pPr marL="342900" indent="-342900" defTabSz="457200">
              <a:buClr>
                <a:prstClr val="white"/>
              </a:buClr>
              <a:buFont typeface="Wingdings" pitchFamily="2" charset="2"/>
              <a:buChar char="ü"/>
            </a:pPr>
            <a:r>
              <a:rPr lang="da-DK" b="1" dirty="0">
                <a:solidFill>
                  <a:prstClr val="white"/>
                </a:solidFill>
                <a:latin typeface="Calibri"/>
              </a:rPr>
              <a:t>Forståelseshorisonten for en fagvidenskab. Disciplinær Matrix + eksemplar</a:t>
            </a:r>
          </a:p>
          <a:p>
            <a:pPr marL="342900" indent="-342900" defTabSz="457200">
              <a:buClr>
                <a:prstClr val="black"/>
              </a:buClr>
              <a:buFont typeface="+mj-lt"/>
              <a:buAutoNum type="arabicPeriod" startAt="10"/>
            </a:pPr>
            <a:r>
              <a:rPr lang="da-DK" dirty="0">
                <a:solidFill>
                  <a:prstClr val="black"/>
                </a:solidFill>
                <a:latin typeface="Calibri"/>
              </a:rPr>
              <a:t>Hvad beskriver en Kuhn Cyklus?</a:t>
            </a:r>
          </a:p>
          <a:p>
            <a:pPr marL="342900" indent="-342900" defTabSz="457200">
              <a:buClr>
                <a:prstClr val="white"/>
              </a:buClr>
              <a:buFont typeface="Wingdings" pitchFamily="2" charset="2"/>
              <a:buChar char="ü"/>
            </a:pPr>
            <a:r>
              <a:rPr lang="da-DK" b="1" dirty="0">
                <a:solidFill>
                  <a:prstClr val="white"/>
                </a:solidFill>
                <a:latin typeface="Calibri"/>
              </a:rPr>
              <a:t>Et paradigmeskifte – jf. Kuhn (1962), en Videnskabelig Revolution</a:t>
            </a:r>
          </a:p>
        </p:txBody>
      </p:sp>
    </p:spTree>
    <p:extLst>
      <p:ext uri="{BB962C8B-B14F-4D97-AF65-F5344CB8AC3E}">
        <p14:creationId xmlns:p14="http://schemas.microsoft.com/office/powerpoint/2010/main" val="2409275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
                                            <p:txEl>
                                              <p:pRg st="20" end="20"/>
                                            </p:txEl>
                                          </p:spTgt>
                                        </p:tgtEl>
                                        <p:attrNameLst>
                                          <p:attrName>style.visibility</p:attrName>
                                        </p:attrNameLst>
                                      </p:cBhvr>
                                      <p:to>
                                        <p:strVal val="visible"/>
                                      </p:to>
                                    </p:set>
                                    <p:anim calcmode="lin" valueType="num">
                                      <p:cBhvr additive="base">
                                        <p:cTn id="47" dur="500" fill="hold"/>
                                        <p:tgtEl>
                                          <p:spTgt spid="4">
                                            <p:txEl>
                                              <p:pRg st="20" end="2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20" end="2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7000"/>
            <a:lum/>
          </a:blip>
          <a:srcRect/>
          <a:stretch>
            <a:fillRect/>
          </a:stretch>
        </a:blipFill>
        <a:effectLst/>
      </p:bgPr>
    </p:bg>
    <p:spTree>
      <p:nvGrpSpPr>
        <p:cNvPr id="1" name=""/>
        <p:cNvGrpSpPr/>
        <p:nvPr/>
      </p:nvGrpSpPr>
      <p:grpSpPr>
        <a:xfrm>
          <a:off x="0" y="0"/>
          <a:ext cx="0" cy="0"/>
          <a:chOff x="0" y="0"/>
          <a:chExt cx="0" cy="0"/>
        </a:xfrm>
      </p:grpSpPr>
      <p:pic>
        <p:nvPicPr>
          <p:cNvPr id="6148" name="Picture 4" descr="Praktisk Filosofi - Practical Philosophy: From Word to Concept">
            <a:extLst>
              <a:ext uri="{FF2B5EF4-FFF2-40B4-BE49-F238E27FC236}">
                <a16:creationId xmlns:a16="http://schemas.microsoft.com/office/drawing/2014/main" id="{D17A7AE9-2F81-BF5C-0A5D-3596B89CA14D}"/>
              </a:ext>
            </a:extLst>
          </p:cNvPr>
          <p:cNvPicPr>
            <a:picLocks noChangeAspect="1" noChangeArrowheads="1"/>
          </p:cNvPicPr>
          <p:nvPr/>
        </p:nvPicPr>
        <p:blipFill>
          <a:blip r:embed="rId3">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1871319" y="3672210"/>
            <a:ext cx="5317988" cy="2796232"/>
          </a:xfrm>
          <a:prstGeom prst="rect">
            <a:avLst/>
          </a:prstGeom>
          <a:noFill/>
          <a:extLst>
            <a:ext uri="{909E8E84-426E-40DD-AFC4-6F175D3DCCD1}">
              <a14:hiddenFill xmlns:a14="http://schemas.microsoft.com/office/drawing/2010/main">
                <a:solidFill>
                  <a:srgbClr val="FFFFFF"/>
                </a:solidFill>
              </a14:hiddenFill>
            </a:ext>
          </a:extLst>
        </p:spPr>
      </p:pic>
      <p:sp>
        <p:nvSpPr>
          <p:cNvPr id="2" name="Tekstfelt 1">
            <a:extLst>
              <a:ext uri="{FF2B5EF4-FFF2-40B4-BE49-F238E27FC236}">
                <a16:creationId xmlns:a16="http://schemas.microsoft.com/office/drawing/2014/main" id="{D9A2913C-8C7E-552E-7945-6D43CD592754}"/>
              </a:ext>
            </a:extLst>
          </p:cNvPr>
          <p:cNvSpPr txBox="1"/>
          <p:nvPr/>
        </p:nvSpPr>
        <p:spPr>
          <a:xfrm>
            <a:off x="1921016" y="717549"/>
            <a:ext cx="4115351" cy="400110"/>
          </a:xfrm>
          <a:prstGeom prst="rect">
            <a:avLst/>
          </a:prstGeom>
          <a:noFill/>
        </p:spPr>
        <p:txBody>
          <a:bodyPr wrap="square" rtlCol="0">
            <a:spAutoFit/>
          </a:bodyPr>
          <a:lstStyle/>
          <a:p>
            <a:pPr defTabSz="457200">
              <a:defRPr/>
            </a:pPr>
            <a:r>
              <a:rPr lang="en-GB" sz="2000" b="1" dirty="0">
                <a:solidFill>
                  <a:prstClr val="white"/>
                </a:solidFill>
                <a:latin typeface="Copperplate Gothic Bold" panose="020E0705020206020404" pitchFamily="34" charset="77"/>
                <a:cs typeface="Calibri Light" panose="020F0302020204030204" pitchFamily="34" charset="0"/>
              </a:rPr>
              <a:t>10 </a:t>
            </a:r>
            <a:r>
              <a:rPr lang="en-GB" sz="2000" b="1" dirty="0" err="1">
                <a:solidFill>
                  <a:prstClr val="white"/>
                </a:solidFill>
                <a:latin typeface="Copperplate Gothic Bold" panose="020E0705020206020404" pitchFamily="34" charset="77"/>
                <a:cs typeface="Calibri Light" panose="020F0302020204030204" pitchFamily="34" charset="0"/>
              </a:rPr>
              <a:t>hurtige</a:t>
            </a:r>
            <a:r>
              <a:rPr lang="en-GB" sz="2000" b="1" dirty="0">
                <a:solidFill>
                  <a:prstClr val="white"/>
                </a:solidFill>
                <a:latin typeface="Copperplate Gothic Bold" panose="020E0705020206020404" pitchFamily="34" charset="77"/>
                <a:cs typeface="Calibri Light" panose="020F0302020204030204" pitchFamily="34" charset="0"/>
              </a:rPr>
              <a:t> </a:t>
            </a:r>
            <a:r>
              <a:rPr lang="en-GB" sz="2000" b="1" dirty="0" err="1">
                <a:solidFill>
                  <a:prstClr val="white"/>
                </a:solidFill>
                <a:latin typeface="Copperplate Gothic Bold" panose="020E0705020206020404" pitchFamily="34" charset="77"/>
                <a:cs typeface="Calibri Light" panose="020F0302020204030204" pitchFamily="34" charset="0"/>
              </a:rPr>
              <a:t>på</a:t>
            </a:r>
            <a:r>
              <a:rPr lang="en-GB" sz="2000" b="1" dirty="0">
                <a:solidFill>
                  <a:prstClr val="white"/>
                </a:solidFill>
                <a:latin typeface="Copperplate Gothic Bold" panose="020E0705020206020404" pitchFamily="34" charset="77"/>
                <a:cs typeface="Calibri Light" panose="020F0302020204030204" pitchFamily="34" charset="0"/>
              </a:rPr>
              <a:t> 10 </a:t>
            </a:r>
            <a:r>
              <a:rPr lang="en-GB" sz="2000" b="1" dirty="0" err="1">
                <a:solidFill>
                  <a:prstClr val="white"/>
                </a:solidFill>
                <a:latin typeface="Copperplate Gothic Bold" panose="020E0705020206020404" pitchFamily="34" charset="77"/>
                <a:cs typeface="Calibri Light" panose="020F0302020204030204" pitchFamily="34" charset="0"/>
              </a:rPr>
              <a:t>minutter</a:t>
            </a:r>
            <a:endParaRPr lang="en-GB" sz="2000" b="1" dirty="0">
              <a:solidFill>
                <a:prstClr val="white"/>
              </a:solidFill>
              <a:latin typeface="Copperplate Gothic Bold" panose="020E0705020206020404" pitchFamily="34" charset="77"/>
              <a:cs typeface="Calibri Light" panose="020F0302020204030204" pitchFamily="34" charset="0"/>
            </a:endParaRPr>
          </a:p>
        </p:txBody>
      </p:sp>
    </p:spTree>
    <p:extLst>
      <p:ext uri="{BB962C8B-B14F-4D97-AF65-F5344CB8AC3E}">
        <p14:creationId xmlns:p14="http://schemas.microsoft.com/office/powerpoint/2010/main" val="3701245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82422">
            <a:alpha val="44596"/>
          </a:srgbClr>
        </a:solidFill>
        <a:effectLst/>
      </p:bgPr>
    </p:bg>
    <p:spTree>
      <p:nvGrpSpPr>
        <p:cNvPr id="1" name=""/>
        <p:cNvGrpSpPr/>
        <p:nvPr/>
      </p:nvGrpSpPr>
      <p:grpSpPr>
        <a:xfrm>
          <a:off x="0" y="0"/>
          <a:ext cx="0" cy="0"/>
          <a:chOff x="0" y="0"/>
          <a:chExt cx="0" cy="0"/>
        </a:xfrm>
      </p:grpSpPr>
      <p:sp>
        <p:nvSpPr>
          <p:cNvPr id="2" name="Tekstfelt 1">
            <a:extLst>
              <a:ext uri="{FF2B5EF4-FFF2-40B4-BE49-F238E27FC236}">
                <a16:creationId xmlns:a16="http://schemas.microsoft.com/office/drawing/2014/main" id="{D9A2913C-8C7E-552E-7945-6D43CD592754}"/>
              </a:ext>
            </a:extLst>
          </p:cNvPr>
          <p:cNvSpPr txBox="1"/>
          <p:nvPr/>
        </p:nvSpPr>
        <p:spPr>
          <a:xfrm>
            <a:off x="4226895" y="151021"/>
            <a:ext cx="4115351" cy="400110"/>
          </a:xfrm>
          <a:prstGeom prst="rect">
            <a:avLst/>
          </a:prstGeom>
          <a:noFill/>
        </p:spPr>
        <p:txBody>
          <a:bodyPr wrap="square" rtlCol="0">
            <a:spAutoFit/>
          </a:bodyPr>
          <a:lstStyle/>
          <a:p>
            <a:pPr defTabSz="457200">
              <a:defRPr/>
            </a:pPr>
            <a:r>
              <a:rPr lang="en-GB" sz="2000" b="1" dirty="0">
                <a:solidFill>
                  <a:prstClr val="black"/>
                </a:solidFill>
                <a:latin typeface="Copperplate Gothic Bold" panose="020E0705020206020404" pitchFamily="34" charset="77"/>
                <a:cs typeface="Calibri Light" panose="020F0302020204030204" pitchFamily="34" charset="0"/>
              </a:rPr>
              <a:t>10 </a:t>
            </a:r>
            <a:r>
              <a:rPr lang="en-GB" sz="2000" b="1" dirty="0" err="1">
                <a:solidFill>
                  <a:prstClr val="black"/>
                </a:solidFill>
                <a:latin typeface="Copperplate Gothic Bold" panose="020E0705020206020404" pitchFamily="34" charset="77"/>
                <a:cs typeface="Calibri Light" panose="020F0302020204030204" pitchFamily="34" charset="0"/>
              </a:rPr>
              <a:t>hurtige</a:t>
            </a:r>
            <a:r>
              <a:rPr lang="en-GB" sz="2000" b="1" dirty="0">
                <a:solidFill>
                  <a:prstClr val="black"/>
                </a:solidFill>
                <a:latin typeface="Copperplate Gothic Bold" panose="020E0705020206020404" pitchFamily="34" charset="77"/>
                <a:cs typeface="Calibri Light" panose="020F0302020204030204" pitchFamily="34" charset="0"/>
              </a:rPr>
              <a:t> </a:t>
            </a:r>
            <a:r>
              <a:rPr lang="en-GB" sz="2000" b="1" dirty="0" err="1">
                <a:solidFill>
                  <a:prstClr val="black"/>
                </a:solidFill>
                <a:latin typeface="Copperplate Gothic Bold" panose="020E0705020206020404" pitchFamily="34" charset="77"/>
                <a:cs typeface="Calibri Light" panose="020F0302020204030204" pitchFamily="34" charset="0"/>
              </a:rPr>
              <a:t>på</a:t>
            </a:r>
            <a:r>
              <a:rPr lang="en-GB" sz="2000" b="1" dirty="0">
                <a:solidFill>
                  <a:prstClr val="black"/>
                </a:solidFill>
                <a:latin typeface="Copperplate Gothic Bold" panose="020E0705020206020404" pitchFamily="34" charset="77"/>
                <a:cs typeface="Calibri Light" panose="020F0302020204030204" pitchFamily="34" charset="0"/>
              </a:rPr>
              <a:t> 10 </a:t>
            </a:r>
            <a:r>
              <a:rPr lang="en-GB" sz="2000" b="1" dirty="0" err="1">
                <a:solidFill>
                  <a:prstClr val="black"/>
                </a:solidFill>
                <a:latin typeface="Copperplate Gothic Bold" panose="020E0705020206020404" pitchFamily="34" charset="77"/>
                <a:cs typeface="Calibri Light" panose="020F0302020204030204" pitchFamily="34" charset="0"/>
              </a:rPr>
              <a:t>minutter</a:t>
            </a:r>
            <a:endParaRPr lang="en-GB" sz="2000" b="1" dirty="0">
              <a:solidFill>
                <a:prstClr val="black"/>
              </a:solidFill>
              <a:latin typeface="Copperplate Gothic Bold" panose="020E0705020206020404" pitchFamily="34" charset="77"/>
              <a:cs typeface="Calibri Light" panose="020F0302020204030204" pitchFamily="34" charset="0"/>
            </a:endParaRPr>
          </a:p>
        </p:txBody>
      </p:sp>
      <p:sp>
        <p:nvSpPr>
          <p:cNvPr id="4" name="Tekstfelt 3">
            <a:extLst>
              <a:ext uri="{FF2B5EF4-FFF2-40B4-BE49-F238E27FC236}">
                <a16:creationId xmlns:a16="http://schemas.microsoft.com/office/drawing/2014/main" id="{6375DA42-E84E-B7DC-DA75-D6BE90ADDEF2}"/>
              </a:ext>
            </a:extLst>
          </p:cNvPr>
          <p:cNvSpPr txBox="1"/>
          <p:nvPr/>
        </p:nvSpPr>
        <p:spPr>
          <a:xfrm>
            <a:off x="1951383" y="948695"/>
            <a:ext cx="8289234" cy="2862322"/>
          </a:xfrm>
          <a:prstGeom prst="rect">
            <a:avLst/>
          </a:prstGeom>
          <a:noFill/>
        </p:spPr>
        <p:txBody>
          <a:bodyPr wrap="square" rtlCol="0">
            <a:spAutoFit/>
          </a:bodyPr>
          <a:lstStyle/>
          <a:p>
            <a:pPr marL="342900" indent="-342900" defTabSz="457200">
              <a:buFont typeface="+mj-lt"/>
              <a:buAutoNum type="arabicPeriod"/>
              <a:defRPr/>
            </a:pPr>
            <a:r>
              <a:rPr lang="da-DK" dirty="0">
                <a:solidFill>
                  <a:prstClr val="black"/>
                </a:solidFill>
                <a:latin typeface="Calibri"/>
              </a:rPr>
              <a:t>Hvilke filosofiske teologer forbinder vi med den klassiske Hermeneutik?</a:t>
            </a:r>
          </a:p>
          <a:p>
            <a:pPr marL="342900" indent="-342900" defTabSz="457200">
              <a:buFont typeface="+mj-lt"/>
              <a:buAutoNum type="arabicPeriod" startAt="2"/>
              <a:defRPr/>
            </a:pPr>
            <a:r>
              <a:rPr lang="da-DK" dirty="0">
                <a:solidFill>
                  <a:prstClr val="black"/>
                </a:solidFill>
                <a:latin typeface="Calibri"/>
              </a:rPr>
              <a:t>Forskellen på Human/Samfundsvidenskaberne og Naturvidenskaben?</a:t>
            </a:r>
          </a:p>
          <a:p>
            <a:pPr marL="342900" indent="-342900" defTabSz="457200">
              <a:buFont typeface="+mj-lt"/>
              <a:buAutoNum type="arabicPeriod" startAt="3"/>
              <a:defRPr/>
            </a:pPr>
            <a:r>
              <a:rPr lang="da-DK" dirty="0">
                <a:solidFill>
                  <a:prstClr val="black"/>
                </a:solidFill>
                <a:latin typeface="Calibri"/>
              </a:rPr>
              <a:t>Hvad forstår vi ved begrebet Hermeneutik?</a:t>
            </a:r>
          </a:p>
          <a:p>
            <a:pPr marL="342900" indent="-342900" defTabSz="457200">
              <a:buFont typeface="+mj-lt"/>
              <a:buAutoNum type="arabicPeriod" startAt="4"/>
              <a:defRPr/>
            </a:pPr>
            <a:r>
              <a:rPr lang="da-DK" dirty="0">
                <a:solidFill>
                  <a:prstClr val="black"/>
                </a:solidFill>
                <a:latin typeface="Calibri"/>
              </a:rPr>
              <a:t>Hvad er den Hermeneutiske Cirkel?</a:t>
            </a:r>
          </a:p>
          <a:p>
            <a:pPr marL="342900" indent="-342900" defTabSz="457200">
              <a:buFont typeface="+mj-lt"/>
              <a:buAutoNum type="arabicPeriod" startAt="5"/>
              <a:defRPr/>
            </a:pPr>
            <a:r>
              <a:rPr lang="da-DK" dirty="0">
                <a:solidFill>
                  <a:prstClr val="black"/>
                </a:solidFill>
                <a:latin typeface="Calibri"/>
              </a:rPr>
              <a:t>Hvilke Syllogismer er aktive i den Hermeneutiske Cirkel?</a:t>
            </a:r>
          </a:p>
          <a:p>
            <a:pPr marL="342900" indent="-342900" defTabSz="457200">
              <a:buFont typeface="+mj-lt"/>
              <a:buAutoNum type="arabicPeriod" startAt="6"/>
              <a:defRPr/>
            </a:pPr>
            <a:r>
              <a:rPr lang="da-DK" dirty="0">
                <a:solidFill>
                  <a:prstClr val="black"/>
                </a:solidFill>
                <a:latin typeface="Calibri"/>
              </a:rPr>
              <a:t>Hvad mener </a:t>
            </a:r>
            <a:r>
              <a:rPr lang="da-DK" dirty="0" err="1">
                <a:solidFill>
                  <a:prstClr val="black"/>
                </a:solidFill>
                <a:latin typeface="Calibri"/>
              </a:rPr>
              <a:t>Dilthey</a:t>
            </a:r>
            <a:r>
              <a:rPr lang="da-DK" dirty="0">
                <a:solidFill>
                  <a:prstClr val="black"/>
                </a:solidFill>
                <a:latin typeface="Calibri"/>
              </a:rPr>
              <a:t> med ”re-</a:t>
            </a:r>
            <a:r>
              <a:rPr lang="da-DK" dirty="0" err="1">
                <a:solidFill>
                  <a:prstClr val="black"/>
                </a:solidFill>
                <a:latin typeface="Calibri"/>
              </a:rPr>
              <a:t>experience</a:t>
            </a:r>
            <a:r>
              <a:rPr lang="da-DK" dirty="0">
                <a:solidFill>
                  <a:prstClr val="black"/>
                </a:solidFill>
                <a:latin typeface="Calibri"/>
              </a:rPr>
              <a:t>” (hensættelse)?</a:t>
            </a:r>
          </a:p>
          <a:p>
            <a:pPr marL="342900" indent="-342900" defTabSz="457200">
              <a:buClr>
                <a:prstClr val="black"/>
              </a:buClr>
              <a:buFont typeface="+mj-lt"/>
              <a:buAutoNum type="arabicPeriod" startAt="7"/>
              <a:defRPr/>
            </a:pPr>
            <a:r>
              <a:rPr lang="da-DK" dirty="0">
                <a:solidFill>
                  <a:prstClr val="black"/>
                </a:solidFill>
                <a:latin typeface="Calibri"/>
              </a:rPr>
              <a:t>Forklar forskellen på </a:t>
            </a:r>
            <a:r>
              <a:rPr lang="da-DK" dirty="0" err="1">
                <a:solidFill>
                  <a:prstClr val="black"/>
                </a:solidFill>
                <a:latin typeface="Calibri"/>
              </a:rPr>
              <a:t>Diltheys</a:t>
            </a:r>
            <a:r>
              <a:rPr lang="da-DK" dirty="0">
                <a:solidFill>
                  <a:prstClr val="black"/>
                </a:solidFill>
                <a:latin typeface="Calibri"/>
              </a:rPr>
              <a:t> og </a:t>
            </a:r>
            <a:r>
              <a:rPr lang="da-DK" dirty="0" err="1">
                <a:solidFill>
                  <a:prstClr val="black"/>
                </a:solidFill>
                <a:latin typeface="Calibri"/>
              </a:rPr>
              <a:t>Gadamers</a:t>
            </a:r>
            <a:r>
              <a:rPr lang="da-DK" dirty="0">
                <a:solidFill>
                  <a:prstClr val="black"/>
                </a:solidFill>
                <a:latin typeface="Calibri"/>
              </a:rPr>
              <a:t> tilgang til Hermeneutik.</a:t>
            </a:r>
          </a:p>
          <a:p>
            <a:pPr marL="342900" indent="-342900" defTabSz="457200">
              <a:buClr>
                <a:prstClr val="black"/>
              </a:buClr>
              <a:buFont typeface="+mj-lt"/>
              <a:buAutoNum type="arabicPeriod" startAt="8"/>
              <a:defRPr/>
            </a:pPr>
            <a:r>
              <a:rPr lang="da-DK" dirty="0">
                <a:solidFill>
                  <a:prstClr val="black"/>
                </a:solidFill>
                <a:latin typeface="Calibri"/>
              </a:rPr>
              <a:t>Hvorfor afviser de Moderne Hermeneutikere re-</a:t>
            </a:r>
            <a:r>
              <a:rPr lang="da-DK" dirty="0" err="1">
                <a:solidFill>
                  <a:prstClr val="black"/>
                </a:solidFill>
                <a:latin typeface="Calibri"/>
              </a:rPr>
              <a:t>experience</a:t>
            </a:r>
            <a:r>
              <a:rPr lang="da-DK" dirty="0">
                <a:solidFill>
                  <a:prstClr val="black"/>
                </a:solidFill>
                <a:latin typeface="Calibri"/>
              </a:rPr>
              <a:t>?</a:t>
            </a:r>
          </a:p>
          <a:p>
            <a:pPr marL="342900" indent="-342900" defTabSz="457200">
              <a:buClr>
                <a:prstClr val="black"/>
              </a:buClr>
              <a:buFont typeface="+mj-lt"/>
              <a:buAutoNum type="arabicPeriod" startAt="9"/>
              <a:defRPr/>
            </a:pPr>
            <a:r>
              <a:rPr lang="da-DK" dirty="0">
                <a:solidFill>
                  <a:prstClr val="black"/>
                </a:solidFill>
                <a:latin typeface="Calibri"/>
              </a:rPr>
              <a:t>Forklar Horisontsammensmeltning</a:t>
            </a:r>
          </a:p>
          <a:p>
            <a:pPr marL="342900" indent="-342900" defTabSz="457200">
              <a:buClr>
                <a:prstClr val="black"/>
              </a:buClr>
              <a:buFont typeface="+mj-lt"/>
              <a:buAutoNum type="arabicPeriod" startAt="10"/>
              <a:defRPr/>
            </a:pPr>
            <a:r>
              <a:rPr lang="da-DK" dirty="0">
                <a:solidFill>
                  <a:prstClr val="black"/>
                </a:solidFill>
                <a:latin typeface="Calibri"/>
              </a:rPr>
              <a:t>Hvornår ved forskeren, at der er opnået horisontsammensmeltning</a:t>
            </a:r>
          </a:p>
        </p:txBody>
      </p:sp>
      <p:grpSp>
        <p:nvGrpSpPr>
          <p:cNvPr id="7" name="Gruppe 6">
            <a:extLst>
              <a:ext uri="{FF2B5EF4-FFF2-40B4-BE49-F238E27FC236}">
                <a16:creationId xmlns:a16="http://schemas.microsoft.com/office/drawing/2014/main" id="{6F5F38B7-C962-1301-9791-F404109C29E2}"/>
              </a:ext>
            </a:extLst>
          </p:cNvPr>
          <p:cNvGrpSpPr/>
          <p:nvPr/>
        </p:nvGrpSpPr>
        <p:grpSpPr>
          <a:xfrm>
            <a:off x="2526750" y="3359427"/>
            <a:ext cx="8010854" cy="3508211"/>
            <a:chOff x="1002750" y="3359426"/>
            <a:chExt cx="8010854" cy="3508211"/>
          </a:xfrm>
        </p:grpSpPr>
        <p:pic>
          <p:nvPicPr>
            <p:cNvPr id="3" name="Billede 2">
              <a:extLst>
                <a:ext uri="{FF2B5EF4-FFF2-40B4-BE49-F238E27FC236}">
                  <a16:creationId xmlns:a16="http://schemas.microsoft.com/office/drawing/2014/main" id="{82623DAD-0E72-0808-3B87-6AA28768D8C2}"/>
                </a:ext>
              </a:extLst>
            </p:cNvPr>
            <p:cNvPicPr>
              <a:picLocks noChangeAspect="1"/>
            </p:cNvPicPr>
            <p:nvPr/>
          </p:nvPicPr>
          <p:blipFill>
            <a:blip r:embed="rId2"/>
            <a:stretch>
              <a:fillRect/>
            </a:stretch>
          </p:blipFill>
          <p:spPr>
            <a:xfrm>
              <a:off x="4055165" y="3911433"/>
              <a:ext cx="2132221" cy="2910404"/>
            </a:xfrm>
            <a:prstGeom prst="rect">
              <a:avLst/>
            </a:prstGeom>
          </p:spPr>
        </p:pic>
        <p:pic>
          <p:nvPicPr>
            <p:cNvPr id="5" name="Billede 4">
              <a:extLst>
                <a:ext uri="{FF2B5EF4-FFF2-40B4-BE49-F238E27FC236}">
                  <a16:creationId xmlns:a16="http://schemas.microsoft.com/office/drawing/2014/main" id="{344B64FC-909C-3493-C51A-1A3E65CE68E6}"/>
                </a:ext>
              </a:extLst>
            </p:cNvPr>
            <p:cNvPicPr>
              <a:picLocks noChangeAspect="1"/>
            </p:cNvPicPr>
            <p:nvPr/>
          </p:nvPicPr>
          <p:blipFill>
            <a:blip r:embed="rId3"/>
            <a:stretch>
              <a:fillRect/>
            </a:stretch>
          </p:blipFill>
          <p:spPr>
            <a:xfrm>
              <a:off x="6963826" y="3359426"/>
              <a:ext cx="2049778" cy="3498574"/>
            </a:xfrm>
            <a:prstGeom prst="rect">
              <a:avLst/>
            </a:prstGeom>
          </p:spPr>
        </p:pic>
        <p:pic>
          <p:nvPicPr>
            <p:cNvPr id="6" name="Billede 5">
              <a:extLst>
                <a:ext uri="{FF2B5EF4-FFF2-40B4-BE49-F238E27FC236}">
                  <a16:creationId xmlns:a16="http://schemas.microsoft.com/office/drawing/2014/main" id="{3DE89D32-9699-707B-B6EC-2E01C7D7DCC2}"/>
                </a:ext>
              </a:extLst>
            </p:cNvPr>
            <p:cNvPicPr>
              <a:picLocks noChangeAspect="1"/>
            </p:cNvPicPr>
            <p:nvPr/>
          </p:nvPicPr>
          <p:blipFill>
            <a:blip r:embed="rId4"/>
            <a:stretch>
              <a:fillRect/>
            </a:stretch>
          </p:blipFill>
          <p:spPr>
            <a:xfrm>
              <a:off x="1002750" y="3850773"/>
              <a:ext cx="2132220" cy="3016864"/>
            </a:xfrm>
            <a:prstGeom prst="rect">
              <a:avLst/>
            </a:prstGeom>
          </p:spPr>
        </p:pic>
      </p:grpSp>
    </p:spTree>
    <p:extLst>
      <p:ext uri="{BB962C8B-B14F-4D97-AF65-F5344CB8AC3E}">
        <p14:creationId xmlns:p14="http://schemas.microsoft.com/office/powerpoint/2010/main" val="13987305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82422">
            <a:alpha val="44596"/>
          </a:srgbClr>
        </a:solidFill>
        <a:effectLst/>
      </p:bgPr>
    </p:bg>
    <p:spTree>
      <p:nvGrpSpPr>
        <p:cNvPr id="1" name=""/>
        <p:cNvGrpSpPr/>
        <p:nvPr/>
      </p:nvGrpSpPr>
      <p:grpSpPr>
        <a:xfrm>
          <a:off x="0" y="0"/>
          <a:ext cx="0" cy="0"/>
          <a:chOff x="0" y="0"/>
          <a:chExt cx="0" cy="0"/>
        </a:xfrm>
      </p:grpSpPr>
      <p:sp>
        <p:nvSpPr>
          <p:cNvPr id="2" name="Tekstfelt 1">
            <a:extLst>
              <a:ext uri="{FF2B5EF4-FFF2-40B4-BE49-F238E27FC236}">
                <a16:creationId xmlns:a16="http://schemas.microsoft.com/office/drawing/2014/main" id="{D9A2913C-8C7E-552E-7945-6D43CD592754}"/>
              </a:ext>
            </a:extLst>
          </p:cNvPr>
          <p:cNvSpPr txBox="1"/>
          <p:nvPr/>
        </p:nvSpPr>
        <p:spPr>
          <a:xfrm>
            <a:off x="4226895" y="151021"/>
            <a:ext cx="4115351" cy="400110"/>
          </a:xfrm>
          <a:prstGeom prst="rect">
            <a:avLst/>
          </a:prstGeom>
          <a:noFill/>
        </p:spPr>
        <p:txBody>
          <a:bodyPr wrap="square" rtlCol="0">
            <a:spAutoFit/>
          </a:bodyPr>
          <a:lstStyle/>
          <a:p>
            <a:pPr defTabSz="457200">
              <a:defRPr/>
            </a:pPr>
            <a:r>
              <a:rPr lang="en-GB" sz="2000" b="1" dirty="0">
                <a:solidFill>
                  <a:prstClr val="white"/>
                </a:solidFill>
                <a:latin typeface="Copperplate Gothic Bold" panose="020E0705020206020404" pitchFamily="34" charset="77"/>
                <a:cs typeface="Calibri Light" panose="020F0302020204030204" pitchFamily="34" charset="0"/>
              </a:rPr>
              <a:t>10 </a:t>
            </a:r>
            <a:r>
              <a:rPr lang="en-GB" sz="2000" b="1" dirty="0" err="1">
                <a:solidFill>
                  <a:prstClr val="white"/>
                </a:solidFill>
                <a:latin typeface="Copperplate Gothic Bold" panose="020E0705020206020404" pitchFamily="34" charset="77"/>
                <a:cs typeface="Calibri Light" panose="020F0302020204030204" pitchFamily="34" charset="0"/>
              </a:rPr>
              <a:t>hurtige</a:t>
            </a:r>
            <a:r>
              <a:rPr lang="en-GB" sz="2000" b="1" dirty="0">
                <a:solidFill>
                  <a:prstClr val="white"/>
                </a:solidFill>
                <a:latin typeface="Copperplate Gothic Bold" panose="020E0705020206020404" pitchFamily="34" charset="77"/>
                <a:cs typeface="Calibri Light" panose="020F0302020204030204" pitchFamily="34" charset="0"/>
              </a:rPr>
              <a:t> </a:t>
            </a:r>
            <a:r>
              <a:rPr lang="en-GB" sz="2000" b="1" dirty="0" err="1">
                <a:solidFill>
                  <a:prstClr val="white"/>
                </a:solidFill>
                <a:latin typeface="Copperplate Gothic Bold" panose="020E0705020206020404" pitchFamily="34" charset="77"/>
                <a:cs typeface="Calibri Light" panose="020F0302020204030204" pitchFamily="34" charset="0"/>
              </a:rPr>
              <a:t>på</a:t>
            </a:r>
            <a:r>
              <a:rPr lang="en-GB" sz="2000" b="1" dirty="0">
                <a:solidFill>
                  <a:prstClr val="white"/>
                </a:solidFill>
                <a:latin typeface="Copperplate Gothic Bold" panose="020E0705020206020404" pitchFamily="34" charset="77"/>
                <a:cs typeface="Calibri Light" panose="020F0302020204030204" pitchFamily="34" charset="0"/>
              </a:rPr>
              <a:t> 10 </a:t>
            </a:r>
            <a:r>
              <a:rPr lang="en-GB" sz="2000" b="1" dirty="0" err="1">
                <a:solidFill>
                  <a:prstClr val="white"/>
                </a:solidFill>
                <a:latin typeface="Copperplate Gothic Bold" panose="020E0705020206020404" pitchFamily="34" charset="77"/>
                <a:cs typeface="Calibri Light" panose="020F0302020204030204" pitchFamily="34" charset="0"/>
              </a:rPr>
              <a:t>minutter</a:t>
            </a:r>
            <a:endParaRPr lang="en-GB" sz="2000" b="1" dirty="0">
              <a:solidFill>
                <a:prstClr val="white"/>
              </a:solidFill>
              <a:latin typeface="Copperplate Gothic Bold" panose="020E0705020206020404" pitchFamily="34" charset="77"/>
              <a:cs typeface="Calibri Light" panose="020F0302020204030204" pitchFamily="34" charset="0"/>
            </a:endParaRPr>
          </a:p>
        </p:txBody>
      </p:sp>
      <p:sp>
        <p:nvSpPr>
          <p:cNvPr id="4" name="Tekstfelt 3">
            <a:extLst>
              <a:ext uri="{FF2B5EF4-FFF2-40B4-BE49-F238E27FC236}">
                <a16:creationId xmlns:a16="http://schemas.microsoft.com/office/drawing/2014/main" id="{6375DA42-E84E-B7DC-DA75-D6BE90ADDEF2}"/>
              </a:ext>
            </a:extLst>
          </p:cNvPr>
          <p:cNvSpPr txBox="1"/>
          <p:nvPr/>
        </p:nvSpPr>
        <p:spPr>
          <a:xfrm>
            <a:off x="1951383" y="610766"/>
            <a:ext cx="8289234" cy="5632311"/>
          </a:xfrm>
          <a:prstGeom prst="rect">
            <a:avLst/>
          </a:prstGeom>
          <a:noFill/>
        </p:spPr>
        <p:txBody>
          <a:bodyPr wrap="square" rtlCol="0">
            <a:spAutoFit/>
          </a:bodyPr>
          <a:lstStyle/>
          <a:p>
            <a:pPr marL="342900" indent="-342900" defTabSz="457200">
              <a:buFont typeface="+mj-lt"/>
              <a:buAutoNum type="arabicPeriod"/>
              <a:defRPr/>
            </a:pPr>
            <a:r>
              <a:rPr lang="da-DK" dirty="0">
                <a:solidFill>
                  <a:prstClr val="black"/>
                </a:solidFill>
                <a:latin typeface="Calibri"/>
              </a:rPr>
              <a:t>Hvilke filosofiske teologer forbinder vi med den klassiske Hermeneutik?</a:t>
            </a:r>
          </a:p>
          <a:p>
            <a:pPr marL="285750" indent="-285750" defTabSz="457200">
              <a:buFont typeface="Wingdings" pitchFamily="2" charset="2"/>
              <a:buChar char="ü"/>
              <a:defRPr/>
            </a:pPr>
            <a:r>
              <a:rPr lang="da-DK" b="1" dirty="0">
                <a:solidFill>
                  <a:prstClr val="white"/>
                </a:solidFill>
                <a:latin typeface="Calibri"/>
              </a:rPr>
              <a:t> Friedrich </a:t>
            </a:r>
            <a:r>
              <a:rPr lang="da-DK" b="1" dirty="0" err="1">
                <a:solidFill>
                  <a:prstClr val="white"/>
                </a:solidFill>
                <a:latin typeface="Calibri"/>
              </a:rPr>
              <a:t>Schleirmacher</a:t>
            </a:r>
            <a:r>
              <a:rPr lang="da-DK" b="1" dirty="0">
                <a:solidFill>
                  <a:prstClr val="white"/>
                </a:solidFill>
                <a:latin typeface="Calibri"/>
              </a:rPr>
              <a:t> og Wilhelm </a:t>
            </a:r>
            <a:r>
              <a:rPr lang="da-DK" b="1" dirty="0" err="1">
                <a:solidFill>
                  <a:prstClr val="white"/>
                </a:solidFill>
                <a:latin typeface="Calibri"/>
              </a:rPr>
              <a:t>Dilthey</a:t>
            </a:r>
            <a:r>
              <a:rPr lang="da-DK" b="1" dirty="0">
                <a:solidFill>
                  <a:prstClr val="white"/>
                </a:solidFill>
                <a:latin typeface="Calibri"/>
              </a:rPr>
              <a:t>.</a:t>
            </a:r>
          </a:p>
          <a:p>
            <a:pPr marL="342900" indent="-342900" defTabSz="457200">
              <a:buFont typeface="+mj-lt"/>
              <a:buAutoNum type="arabicPeriod" startAt="2"/>
              <a:defRPr/>
            </a:pPr>
            <a:r>
              <a:rPr lang="da-DK" dirty="0">
                <a:solidFill>
                  <a:prstClr val="black"/>
                </a:solidFill>
                <a:latin typeface="Calibri"/>
              </a:rPr>
              <a:t>Forskellen på Human/Samfundsvidenskaberne og Naturvidenskaben?</a:t>
            </a:r>
          </a:p>
          <a:p>
            <a:pPr marL="342900" indent="-342900" defTabSz="457200">
              <a:buFont typeface="Wingdings" pitchFamily="2" charset="2"/>
              <a:buChar char="ü"/>
              <a:defRPr/>
            </a:pPr>
            <a:r>
              <a:rPr lang="da-DK" b="1" dirty="0">
                <a:solidFill>
                  <a:prstClr val="white"/>
                </a:solidFill>
                <a:latin typeface="Calibri"/>
              </a:rPr>
              <a:t>Åndsvidenskaber vs. Lovmæssigheder i den fysiske natur (Naturvidenskab).</a:t>
            </a:r>
          </a:p>
          <a:p>
            <a:pPr marL="342900" indent="-342900" defTabSz="457200">
              <a:buFont typeface="+mj-lt"/>
              <a:buAutoNum type="arabicPeriod" startAt="3"/>
              <a:defRPr/>
            </a:pPr>
            <a:r>
              <a:rPr lang="da-DK" dirty="0">
                <a:solidFill>
                  <a:prstClr val="black"/>
                </a:solidFill>
                <a:latin typeface="Calibri"/>
              </a:rPr>
              <a:t>Hvad forstår vi ved begrebet Hermeneutik?</a:t>
            </a:r>
          </a:p>
          <a:p>
            <a:pPr marL="342900" indent="-342900" defTabSz="457200">
              <a:buFont typeface="Wingdings" pitchFamily="2" charset="2"/>
              <a:buChar char="ü"/>
              <a:defRPr/>
            </a:pPr>
            <a:r>
              <a:rPr lang="da-DK" b="1" dirty="0">
                <a:solidFill>
                  <a:prstClr val="white"/>
                </a:solidFill>
                <a:latin typeface="Calibri"/>
              </a:rPr>
              <a:t>En metodisk disciplin der tilbyder instrumenter til at analysere handling og tekst.</a:t>
            </a:r>
          </a:p>
          <a:p>
            <a:pPr marL="342900" indent="-342900" defTabSz="457200">
              <a:buFont typeface="+mj-lt"/>
              <a:buAutoNum type="arabicPeriod" startAt="4"/>
              <a:defRPr/>
            </a:pPr>
            <a:r>
              <a:rPr lang="da-DK" dirty="0">
                <a:solidFill>
                  <a:prstClr val="black"/>
                </a:solidFill>
                <a:latin typeface="Calibri"/>
              </a:rPr>
              <a:t>Hvad er den Hermeneutiske Cirkel?</a:t>
            </a:r>
          </a:p>
          <a:p>
            <a:pPr marL="285750" indent="-285750" defTabSz="457200">
              <a:buFont typeface="Wingdings" pitchFamily="2" charset="2"/>
              <a:buChar char="ü"/>
              <a:defRPr/>
            </a:pPr>
            <a:r>
              <a:rPr lang="da-DK" b="1" dirty="0">
                <a:solidFill>
                  <a:prstClr val="white"/>
                </a:solidFill>
                <a:latin typeface="Calibri"/>
              </a:rPr>
              <a:t> Den opfattelse, at forståelse er kontekstuel, dikotomi mellem helhed og dele.</a:t>
            </a:r>
          </a:p>
          <a:p>
            <a:pPr marL="342900" indent="-342900" defTabSz="457200">
              <a:buFont typeface="+mj-lt"/>
              <a:buAutoNum type="arabicPeriod" startAt="5"/>
              <a:defRPr/>
            </a:pPr>
            <a:r>
              <a:rPr lang="da-DK" dirty="0">
                <a:solidFill>
                  <a:prstClr val="black"/>
                </a:solidFill>
                <a:latin typeface="Calibri"/>
              </a:rPr>
              <a:t>Hvilke Syllogismer er aktive i den Hermeneutiske Cirkel?</a:t>
            </a:r>
          </a:p>
          <a:p>
            <a:pPr marL="342900" indent="-342900" defTabSz="457200">
              <a:buFont typeface="Wingdings" pitchFamily="2" charset="2"/>
              <a:buChar char="ü"/>
              <a:defRPr/>
            </a:pPr>
            <a:r>
              <a:rPr lang="da-DK" b="1" dirty="0">
                <a:solidFill>
                  <a:prstClr val="white"/>
                </a:solidFill>
                <a:latin typeface="Calibri"/>
              </a:rPr>
              <a:t>Induktion og Deduktion .. og således også abduktion.</a:t>
            </a:r>
          </a:p>
          <a:p>
            <a:pPr marL="342900" indent="-342900" defTabSz="457200">
              <a:buFont typeface="+mj-lt"/>
              <a:buAutoNum type="arabicPeriod" startAt="6"/>
              <a:defRPr/>
            </a:pPr>
            <a:r>
              <a:rPr lang="da-DK" dirty="0">
                <a:solidFill>
                  <a:prstClr val="black"/>
                </a:solidFill>
                <a:latin typeface="Calibri"/>
              </a:rPr>
              <a:t>Hvad mener </a:t>
            </a:r>
            <a:r>
              <a:rPr lang="da-DK" dirty="0" err="1">
                <a:solidFill>
                  <a:prstClr val="black"/>
                </a:solidFill>
                <a:latin typeface="Calibri"/>
              </a:rPr>
              <a:t>Dilthey</a:t>
            </a:r>
            <a:r>
              <a:rPr lang="da-DK" dirty="0">
                <a:solidFill>
                  <a:prstClr val="black"/>
                </a:solidFill>
                <a:latin typeface="Calibri"/>
              </a:rPr>
              <a:t> med ”re-</a:t>
            </a:r>
            <a:r>
              <a:rPr lang="da-DK" dirty="0" err="1">
                <a:solidFill>
                  <a:prstClr val="black"/>
                </a:solidFill>
                <a:latin typeface="Calibri"/>
              </a:rPr>
              <a:t>experience</a:t>
            </a:r>
            <a:r>
              <a:rPr lang="da-DK" dirty="0">
                <a:solidFill>
                  <a:prstClr val="black"/>
                </a:solidFill>
                <a:latin typeface="Calibri"/>
              </a:rPr>
              <a:t>” (hensættelse)?</a:t>
            </a:r>
          </a:p>
          <a:p>
            <a:pPr marL="342900" indent="-342900" defTabSz="457200">
              <a:buClr>
                <a:prstClr val="white"/>
              </a:buClr>
              <a:buFont typeface="Wingdings" pitchFamily="2" charset="2"/>
              <a:buChar char="ü"/>
              <a:defRPr/>
            </a:pPr>
            <a:r>
              <a:rPr lang="da-DK" b="1" dirty="0">
                <a:solidFill>
                  <a:prstClr val="white"/>
                </a:solidFill>
                <a:latin typeface="Calibri"/>
              </a:rPr>
              <a:t>Den rette forståelse opnås ved at sætte sig i forfatteren eller respondentens sted.</a:t>
            </a:r>
          </a:p>
          <a:p>
            <a:pPr marL="342900" indent="-342900" defTabSz="457200">
              <a:buClr>
                <a:prstClr val="black"/>
              </a:buClr>
              <a:buFont typeface="+mj-lt"/>
              <a:buAutoNum type="arabicPeriod" startAt="7"/>
              <a:defRPr/>
            </a:pPr>
            <a:r>
              <a:rPr lang="da-DK" dirty="0">
                <a:solidFill>
                  <a:prstClr val="black"/>
                </a:solidFill>
                <a:latin typeface="Calibri"/>
              </a:rPr>
              <a:t>Forklar forskellen på </a:t>
            </a:r>
            <a:r>
              <a:rPr lang="da-DK" dirty="0" err="1">
                <a:solidFill>
                  <a:prstClr val="black"/>
                </a:solidFill>
                <a:latin typeface="Calibri"/>
              </a:rPr>
              <a:t>Diltheys</a:t>
            </a:r>
            <a:r>
              <a:rPr lang="da-DK" dirty="0">
                <a:solidFill>
                  <a:prstClr val="black"/>
                </a:solidFill>
                <a:latin typeface="Calibri"/>
              </a:rPr>
              <a:t> og </a:t>
            </a:r>
            <a:r>
              <a:rPr lang="da-DK" dirty="0" err="1">
                <a:solidFill>
                  <a:prstClr val="black"/>
                </a:solidFill>
                <a:latin typeface="Calibri"/>
              </a:rPr>
              <a:t>Gademers</a:t>
            </a:r>
            <a:r>
              <a:rPr lang="da-DK" dirty="0">
                <a:solidFill>
                  <a:prstClr val="black"/>
                </a:solidFill>
                <a:latin typeface="Calibri"/>
              </a:rPr>
              <a:t> tilgang til Hermeneutik.</a:t>
            </a:r>
          </a:p>
          <a:p>
            <a:pPr marL="342900" indent="-342900" defTabSz="457200">
              <a:buClr>
                <a:prstClr val="white"/>
              </a:buClr>
              <a:buFont typeface="Wingdings" pitchFamily="2" charset="2"/>
              <a:buChar char="ü"/>
              <a:defRPr/>
            </a:pPr>
            <a:r>
              <a:rPr lang="da-DK" b="1" dirty="0" err="1">
                <a:solidFill>
                  <a:prstClr val="white"/>
                </a:solidFill>
                <a:latin typeface="Calibri"/>
              </a:rPr>
              <a:t>Gadamer</a:t>
            </a:r>
            <a:r>
              <a:rPr lang="da-DK" b="1" dirty="0">
                <a:solidFill>
                  <a:prstClr val="white"/>
                </a:solidFill>
                <a:latin typeface="Calibri"/>
              </a:rPr>
              <a:t>, argumenterer for at vi altid befinder os inde i cirklen.</a:t>
            </a:r>
          </a:p>
          <a:p>
            <a:pPr marL="342900" indent="-342900" defTabSz="457200">
              <a:buClr>
                <a:prstClr val="black"/>
              </a:buClr>
              <a:buFont typeface="+mj-lt"/>
              <a:buAutoNum type="arabicPeriod" startAt="8"/>
              <a:defRPr/>
            </a:pPr>
            <a:r>
              <a:rPr lang="da-DK" dirty="0">
                <a:solidFill>
                  <a:prstClr val="black"/>
                </a:solidFill>
                <a:latin typeface="Calibri"/>
              </a:rPr>
              <a:t>Hvorfor afviser de Moderne Hermeneutikere re-</a:t>
            </a:r>
            <a:r>
              <a:rPr lang="da-DK" dirty="0" err="1">
                <a:solidFill>
                  <a:prstClr val="black"/>
                </a:solidFill>
                <a:latin typeface="Calibri"/>
              </a:rPr>
              <a:t>experience</a:t>
            </a:r>
            <a:r>
              <a:rPr lang="da-DK" dirty="0">
                <a:solidFill>
                  <a:prstClr val="black"/>
                </a:solidFill>
                <a:latin typeface="Calibri"/>
              </a:rPr>
              <a:t>?</a:t>
            </a:r>
          </a:p>
          <a:p>
            <a:pPr marL="342900" indent="-342900" defTabSz="457200">
              <a:buClr>
                <a:prstClr val="white"/>
              </a:buClr>
              <a:buFont typeface="Wingdings" pitchFamily="2" charset="2"/>
              <a:buChar char="ü"/>
              <a:defRPr/>
            </a:pPr>
            <a:r>
              <a:rPr lang="da-DK" b="1" dirty="0">
                <a:solidFill>
                  <a:prstClr val="white"/>
                </a:solidFill>
                <a:latin typeface="Calibri"/>
              </a:rPr>
              <a:t>Vores fortolkning er et produkt af vores erfaringer, herunder også fordomme.</a:t>
            </a:r>
          </a:p>
          <a:p>
            <a:pPr marL="342900" indent="-342900" defTabSz="457200">
              <a:buClr>
                <a:prstClr val="black"/>
              </a:buClr>
              <a:buFont typeface="+mj-lt"/>
              <a:buAutoNum type="arabicPeriod" startAt="9"/>
              <a:defRPr/>
            </a:pPr>
            <a:r>
              <a:rPr lang="da-DK" dirty="0">
                <a:solidFill>
                  <a:prstClr val="black"/>
                </a:solidFill>
                <a:latin typeface="Calibri"/>
              </a:rPr>
              <a:t>Forklar Horisontsammensmeltning</a:t>
            </a:r>
          </a:p>
          <a:p>
            <a:pPr marL="342900" indent="-342900" defTabSz="457200">
              <a:buClr>
                <a:prstClr val="white"/>
              </a:buClr>
              <a:buFont typeface="Wingdings" pitchFamily="2" charset="2"/>
              <a:buChar char="ü"/>
              <a:defRPr/>
            </a:pPr>
            <a:r>
              <a:rPr lang="da-DK" b="1" dirty="0">
                <a:solidFill>
                  <a:prstClr val="white"/>
                </a:solidFill>
                <a:latin typeface="Calibri"/>
              </a:rPr>
              <a:t>Skabelse af en fælles forståelseshorisont, og derved producere ny viden.</a:t>
            </a:r>
          </a:p>
          <a:p>
            <a:pPr marL="342900" indent="-342900" defTabSz="457200">
              <a:buClr>
                <a:prstClr val="black"/>
              </a:buClr>
              <a:buFont typeface="+mj-lt"/>
              <a:buAutoNum type="arabicPeriod" startAt="10"/>
              <a:defRPr/>
            </a:pPr>
            <a:r>
              <a:rPr lang="da-DK" dirty="0">
                <a:solidFill>
                  <a:prstClr val="black"/>
                </a:solidFill>
                <a:latin typeface="Calibri"/>
              </a:rPr>
              <a:t>Hvornår ved forskeren, at der er opnået horisontsammensmeltning</a:t>
            </a:r>
          </a:p>
          <a:p>
            <a:pPr marL="285750" indent="-285750" defTabSz="457200">
              <a:buClr>
                <a:prstClr val="white"/>
              </a:buClr>
              <a:buFont typeface="Wingdings" pitchFamily="2" charset="2"/>
              <a:buChar char="ü"/>
              <a:defRPr/>
            </a:pPr>
            <a:r>
              <a:rPr lang="da-DK" b="1" dirty="0">
                <a:solidFill>
                  <a:prstClr val="white"/>
                </a:solidFill>
                <a:latin typeface="Calibri"/>
              </a:rPr>
              <a:t> eks. gennem r</a:t>
            </a:r>
            <a:r>
              <a:rPr lang="da-DK" b="1" dirty="0" err="1">
                <a:solidFill>
                  <a:prstClr val="white"/>
                </a:solidFill>
                <a:latin typeface="Calibri"/>
              </a:rPr>
              <a:t>espondentvalidering</a:t>
            </a:r>
            <a:r>
              <a:rPr lang="da-DK" b="1" dirty="0">
                <a:solidFill>
                  <a:prstClr val="white"/>
                </a:solidFill>
                <a:latin typeface="Calibri"/>
              </a:rPr>
              <a:t> i forbindelse med interviews (etik)</a:t>
            </a:r>
          </a:p>
        </p:txBody>
      </p:sp>
    </p:spTree>
    <p:extLst>
      <p:ext uri="{BB962C8B-B14F-4D97-AF65-F5344CB8AC3E}">
        <p14:creationId xmlns:p14="http://schemas.microsoft.com/office/powerpoint/2010/main" val="73556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19" end="19"/>
                                            </p:txEl>
                                          </p:spTgt>
                                        </p:tgtEl>
                                        <p:attrNameLst>
                                          <p:attrName>style.visibility</p:attrName>
                                        </p:attrNameLst>
                                      </p:cBhvr>
                                      <p:to>
                                        <p:strVal val="visible"/>
                                      </p:to>
                                    </p:set>
                                    <p:anim calcmode="lin" valueType="num">
                                      <p:cBhvr additive="base">
                                        <p:cTn id="43" dur="500" fill="hold"/>
                                        <p:tgtEl>
                                          <p:spTgt spid="4">
                                            <p:txEl>
                                              <p:pRg st="19" end="1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9" end="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CFB84-EA72-7AA1-0E47-0F961AF311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B22C8-BBE3-A832-EBBE-8A0715308B0F}"/>
              </a:ext>
            </a:extLst>
          </p:cNvPr>
          <p:cNvSpPr>
            <a:spLocks noGrp="1"/>
          </p:cNvSpPr>
          <p:nvPr>
            <p:ph type="title"/>
          </p:nvPr>
        </p:nvSpPr>
        <p:spPr>
          <a:xfrm>
            <a:off x="2516672" y="2058196"/>
            <a:ext cx="3379164" cy="2387600"/>
          </a:xfrm>
        </p:spPr>
        <p:txBody>
          <a:bodyPr vert="horz" lIns="91440" tIns="45720" rIns="91440" bIns="45720" rtlCol="0" anchor="t">
            <a:normAutofit/>
          </a:bodyPr>
          <a:lstStyle/>
          <a:p>
            <a:pPr>
              <a:lnSpc>
                <a:spcPct val="90000"/>
              </a:lnSpc>
            </a:pPr>
            <a:r>
              <a:rPr lang="en-US" sz="4400" dirty="0">
                <a:solidFill>
                  <a:schemeClr val="bg1"/>
                </a:solidFill>
                <a:latin typeface="+mj-lt"/>
                <a:cs typeface="+mj-cs"/>
              </a:rPr>
              <a:t>Martin Heidegger </a:t>
            </a:r>
            <a:r>
              <a:rPr lang="en-US" sz="4400" b="0" dirty="0">
                <a:solidFill>
                  <a:schemeClr val="bg1"/>
                </a:solidFill>
                <a:latin typeface="+mj-lt"/>
                <a:cs typeface="+mj-cs"/>
              </a:rPr>
              <a:t>(1889-1976</a:t>
            </a:r>
            <a:r>
              <a:rPr lang="en-US" sz="4400" dirty="0">
                <a:solidFill>
                  <a:schemeClr val="bg1"/>
                </a:solidFill>
                <a:latin typeface="+mj-lt"/>
                <a:cs typeface="+mj-cs"/>
              </a:rPr>
              <a:t>)</a:t>
            </a:r>
          </a:p>
        </p:txBody>
      </p:sp>
      <p:sp>
        <p:nvSpPr>
          <p:cNvPr id="3" name="Text Placeholder 2">
            <a:extLst>
              <a:ext uri="{FF2B5EF4-FFF2-40B4-BE49-F238E27FC236}">
                <a16:creationId xmlns:a16="http://schemas.microsoft.com/office/drawing/2014/main" id="{ED19AC19-44D9-7EFF-5E06-51BF36760120}"/>
              </a:ext>
            </a:extLst>
          </p:cNvPr>
          <p:cNvSpPr>
            <a:spLocks noGrp="1"/>
          </p:cNvSpPr>
          <p:nvPr>
            <p:ph type="body" sz="quarter" idx="10"/>
          </p:nvPr>
        </p:nvSpPr>
        <p:spPr>
          <a:xfrm>
            <a:off x="325961" y="1144977"/>
            <a:ext cx="11540077" cy="5700323"/>
          </a:xfrm>
          <a:solidFill>
            <a:schemeClr val="bg1">
              <a:lumMod val="95000"/>
            </a:schemeClr>
          </a:solidFill>
        </p:spPr>
        <p:txBody>
          <a:bodyPr>
            <a:noAutofit/>
          </a:bodyPr>
          <a:lstStyle/>
          <a:p>
            <a:pPr marL="457200" indent="-457200">
              <a:buFont typeface="+mj-lt"/>
              <a:buAutoNum type="arabicPeriod"/>
            </a:pPr>
            <a:r>
              <a:rPr lang="da-DK" sz="2000" cap="none" dirty="0">
                <a:latin typeface="+mn-lt"/>
              </a:rPr>
              <a:t>Hvordan anskuer Kuhn videns akkumulering?</a:t>
            </a:r>
          </a:p>
          <a:p>
            <a:pPr marL="457200" indent="-457200">
              <a:buFont typeface="+mj-lt"/>
              <a:buAutoNum type="arabicPeriod"/>
            </a:pPr>
            <a:r>
              <a:rPr lang="da-DK" sz="2000" cap="none" dirty="0">
                <a:latin typeface="+mn-lt"/>
              </a:rPr>
              <a:t>Forklar hvad sprogspil er for noget i social konstruktivisme?</a:t>
            </a:r>
          </a:p>
          <a:p>
            <a:pPr marL="457200" indent="-457200">
              <a:buFont typeface="+mj-lt"/>
              <a:buAutoNum type="arabicPeriod"/>
            </a:pPr>
            <a:r>
              <a:rPr lang="da-DK" sz="2000" cap="none" dirty="0">
                <a:latin typeface="+mn-lt"/>
              </a:rPr>
              <a:t>Hvad er det Karl Popper påpeger, som et problem med positivismens verifikation?</a:t>
            </a:r>
          </a:p>
          <a:p>
            <a:pPr marL="457200" indent="-457200">
              <a:buFont typeface="+mj-lt"/>
              <a:buAutoNum type="arabicPeriod"/>
            </a:pPr>
            <a:r>
              <a:rPr lang="da-DK" sz="2000" cap="none" dirty="0">
                <a:latin typeface="+mn-lt"/>
              </a:rPr>
              <a:t>Kan du forklare ”Examplars” indunder den disciplinære matrix ifm. Kuhn’s paradigmer?</a:t>
            </a:r>
          </a:p>
          <a:p>
            <a:pPr marL="457200" indent="-457200">
              <a:buFont typeface="+mj-lt"/>
              <a:buAutoNum type="arabicPeriod"/>
            </a:pPr>
            <a:r>
              <a:rPr lang="da-DK" sz="2000" cap="none" dirty="0">
                <a:latin typeface="+mn-lt"/>
              </a:rPr>
              <a:t>Hvad består den disciplinære matrix af i Kuhn’s paradigmer?</a:t>
            </a:r>
          </a:p>
          <a:p>
            <a:pPr marL="457200" indent="-457200">
              <a:buFont typeface="+mj-lt"/>
              <a:buAutoNum type="arabicPeriod"/>
            </a:pPr>
            <a:r>
              <a:rPr lang="da-DK" sz="2000" cap="none" dirty="0">
                <a:latin typeface="+mn-lt"/>
              </a:rPr>
              <a:t>Hvad mente Karl Popper med hans kritik af positivismens induktionsproces? </a:t>
            </a:r>
          </a:p>
          <a:p>
            <a:pPr marL="457200" indent="-457200">
              <a:buFont typeface="+mj-lt"/>
              <a:buAutoNum type="arabicPeriod"/>
            </a:pPr>
            <a:r>
              <a:rPr lang="da-DK" sz="2000" cap="none" dirty="0">
                <a:latin typeface="+mn-lt"/>
              </a:rPr>
              <a:t>Hvorfor kan casestudie resultater ikke reproduceres i andre organisationer?</a:t>
            </a:r>
          </a:p>
          <a:p>
            <a:pPr marL="457200" indent="-457200">
              <a:buFont typeface="+mj-lt"/>
              <a:buAutoNum type="arabicPeriod"/>
            </a:pPr>
            <a:r>
              <a:rPr lang="da-DK" sz="2000" cap="none" dirty="0">
                <a:latin typeface="+mn-lt"/>
              </a:rPr>
              <a:t>Hvordan kan forskellen mellem social konstruktivismen vs. rationalisme beskrives?</a:t>
            </a:r>
          </a:p>
          <a:p>
            <a:pPr marL="457200" indent="-457200">
              <a:buFont typeface="+mj-lt"/>
              <a:buAutoNum type="arabicPeriod"/>
            </a:pPr>
            <a:r>
              <a:rPr lang="da-DK" sz="2000" cap="none" dirty="0">
                <a:latin typeface="+mn-lt"/>
              </a:rPr>
              <a:t>Hvad er forskellen mellem sekventielt udforskende og sekventielt forklarende design?</a:t>
            </a:r>
          </a:p>
          <a:p>
            <a:pPr marL="457200" indent="-457200">
              <a:buFont typeface="+mj-lt"/>
              <a:buAutoNum type="arabicPeriod"/>
            </a:pPr>
            <a:r>
              <a:rPr lang="da-DK" sz="2000" cap="none" dirty="0">
                <a:latin typeface="+mn-lt"/>
              </a:rPr>
              <a:t>Hvad er den logiske rækkefølge i et researchdesign (vidensniveauer)?</a:t>
            </a:r>
          </a:p>
        </p:txBody>
      </p:sp>
      <p:sp>
        <p:nvSpPr>
          <p:cNvPr id="4" name="Titel 1">
            <a:extLst>
              <a:ext uri="{FF2B5EF4-FFF2-40B4-BE49-F238E27FC236}">
                <a16:creationId xmlns:a16="http://schemas.microsoft.com/office/drawing/2014/main" id="{BB9CE79C-42BE-D6D3-4F4E-42A20123070D}"/>
              </a:ext>
            </a:extLst>
          </p:cNvPr>
          <p:cNvSpPr txBox="1">
            <a:spLocks/>
          </p:cNvSpPr>
          <p:nvPr/>
        </p:nvSpPr>
        <p:spPr>
          <a:xfrm>
            <a:off x="0" y="12700"/>
            <a:ext cx="12192000" cy="860511"/>
          </a:xfrm>
          <a:prstGeom prst="rect">
            <a:avLst/>
          </a:prstGeom>
          <a:no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da-DK" sz="4400" b="1" noProof="0" dirty="0">
                <a:latin typeface="+mn-lt"/>
              </a:rPr>
              <a:t>10 hurtige på 10 minutter –</a:t>
            </a:r>
            <a:r>
              <a:rPr lang="da-DK" sz="4400" b="1" noProof="0" dirty="0">
                <a:solidFill>
                  <a:srgbClr val="FF0000"/>
                </a:solidFill>
                <a:latin typeface="+mn-lt"/>
              </a:rPr>
              <a:t> Ekstra</a:t>
            </a:r>
          </a:p>
        </p:txBody>
      </p:sp>
      <p:pic>
        <p:nvPicPr>
          <p:cNvPr id="5" name="Billede 4">
            <a:extLst>
              <a:ext uri="{FF2B5EF4-FFF2-40B4-BE49-F238E27FC236}">
                <a16:creationId xmlns:a16="http://schemas.microsoft.com/office/drawing/2014/main" id="{B021400E-36D6-622E-1DE7-8EB42D240B7F}"/>
              </a:ext>
            </a:extLst>
          </p:cNvPr>
          <p:cNvPicPr>
            <a:picLocks noChangeAspect="1"/>
          </p:cNvPicPr>
          <p:nvPr/>
        </p:nvPicPr>
        <p:blipFill>
          <a:blip r:embed="rId3"/>
          <a:stretch>
            <a:fillRect/>
          </a:stretch>
        </p:blipFill>
        <p:spPr>
          <a:xfrm>
            <a:off x="11046634" y="146694"/>
            <a:ext cx="754516" cy="998283"/>
          </a:xfrm>
          <a:prstGeom prst="rect">
            <a:avLst/>
          </a:prstGeom>
        </p:spPr>
      </p:pic>
    </p:spTree>
    <p:extLst>
      <p:ext uri="{BB962C8B-B14F-4D97-AF65-F5344CB8AC3E}">
        <p14:creationId xmlns:p14="http://schemas.microsoft.com/office/powerpoint/2010/main" val="2301496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0851" y="53154"/>
            <a:ext cx="4638675" cy="675169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Tekstfelt 1">
            <a:extLst>
              <a:ext uri="{FF2B5EF4-FFF2-40B4-BE49-F238E27FC236}">
                <a16:creationId xmlns:a16="http://schemas.microsoft.com/office/drawing/2014/main" id="{3702D032-B6FC-4113-8955-4672A6CDC0F1}"/>
              </a:ext>
            </a:extLst>
          </p:cNvPr>
          <p:cNvSpPr txBox="1"/>
          <p:nvPr/>
        </p:nvSpPr>
        <p:spPr>
          <a:xfrm>
            <a:off x="7702550" y="4305300"/>
            <a:ext cx="2025650" cy="553998"/>
          </a:xfrm>
          <a:prstGeom prst="rect">
            <a:avLst/>
          </a:prstGeom>
          <a:noFill/>
        </p:spPr>
        <p:txBody>
          <a:bodyPr wrap="square" rtlCol="0">
            <a:spAutoFit/>
          </a:bodyPr>
          <a:lstStyle/>
          <a:p>
            <a:pPr defTabSz="457200">
              <a:defRPr/>
            </a:pPr>
            <a:r>
              <a:rPr lang="da-DK" sz="1000" dirty="0">
                <a:solidFill>
                  <a:prstClr val="black"/>
                </a:solidFill>
                <a:latin typeface="Calibri"/>
              </a:rPr>
              <a:t>In </a:t>
            </a:r>
            <a:r>
              <a:rPr lang="da-DK" sz="1000" dirty="0" err="1">
                <a:solidFill>
                  <a:prstClr val="black"/>
                </a:solidFill>
                <a:latin typeface="Calibri"/>
              </a:rPr>
              <a:t>conflict</a:t>
            </a:r>
            <a:r>
              <a:rPr lang="da-DK" sz="1000" dirty="0">
                <a:solidFill>
                  <a:prstClr val="black"/>
                </a:solidFill>
                <a:latin typeface="Calibri"/>
              </a:rPr>
              <a:t> with </a:t>
            </a:r>
            <a:r>
              <a:rPr lang="da-DK" sz="1000" dirty="0" err="1">
                <a:solidFill>
                  <a:prstClr val="black"/>
                </a:solidFill>
                <a:latin typeface="Calibri"/>
              </a:rPr>
              <a:t>pragmatic</a:t>
            </a:r>
            <a:r>
              <a:rPr lang="da-DK" sz="1000" dirty="0">
                <a:solidFill>
                  <a:prstClr val="black"/>
                </a:solidFill>
                <a:latin typeface="Calibri"/>
              </a:rPr>
              <a:t> research </a:t>
            </a:r>
            <a:r>
              <a:rPr lang="da-DK" sz="1000" dirty="0" err="1">
                <a:solidFill>
                  <a:prstClr val="black"/>
                </a:solidFill>
                <a:latin typeface="Calibri"/>
              </a:rPr>
              <a:t>strategy</a:t>
            </a:r>
            <a:r>
              <a:rPr lang="da-DK" sz="1000" dirty="0">
                <a:solidFill>
                  <a:prstClr val="black"/>
                </a:solidFill>
                <a:latin typeface="Calibri"/>
              </a:rPr>
              <a:t> – </a:t>
            </a:r>
            <a:r>
              <a:rPr lang="da-DK" sz="1000" dirty="0" err="1">
                <a:solidFill>
                  <a:prstClr val="black"/>
                </a:solidFill>
                <a:latin typeface="Calibri"/>
              </a:rPr>
              <a:t>replace</a:t>
            </a:r>
            <a:r>
              <a:rPr lang="da-DK" sz="1000" dirty="0">
                <a:solidFill>
                  <a:prstClr val="black"/>
                </a:solidFill>
                <a:latin typeface="Calibri"/>
              </a:rPr>
              <a:t> with ”mixed </a:t>
            </a:r>
            <a:r>
              <a:rPr lang="da-DK" sz="1000" dirty="0" err="1">
                <a:solidFill>
                  <a:prstClr val="black"/>
                </a:solidFill>
                <a:latin typeface="Calibri"/>
              </a:rPr>
              <a:t>methods</a:t>
            </a:r>
            <a:r>
              <a:rPr lang="da-DK" sz="1000" dirty="0">
                <a:solidFill>
                  <a:prstClr val="black"/>
                </a:solidFill>
                <a:latin typeface="Calibri"/>
              </a:rPr>
              <a:t>”</a:t>
            </a:r>
            <a:endParaRPr lang="en-US" sz="1000" dirty="0">
              <a:solidFill>
                <a:prstClr val="black"/>
              </a:solidFill>
              <a:latin typeface="Calibri"/>
            </a:endParaRPr>
          </a:p>
        </p:txBody>
      </p:sp>
      <p:cxnSp>
        <p:nvCxnSpPr>
          <p:cNvPr id="5" name="Forbindelse: vinklet 4">
            <a:extLst>
              <a:ext uri="{FF2B5EF4-FFF2-40B4-BE49-F238E27FC236}">
                <a16:creationId xmlns:a16="http://schemas.microsoft.com/office/drawing/2014/main" id="{2A4D979E-EDC9-4435-B01C-8E690BB83D6C}"/>
              </a:ext>
            </a:extLst>
          </p:cNvPr>
          <p:cNvCxnSpPr>
            <a:cxnSpLocks/>
            <a:endCxn id="2" idx="1"/>
          </p:cNvCxnSpPr>
          <p:nvPr/>
        </p:nvCxnSpPr>
        <p:spPr>
          <a:xfrm>
            <a:off x="6407150" y="4476751"/>
            <a:ext cx="1295400" cy="10554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kstfelt 6">
            <a:extLst>
              <a:ext uri="{FF2B5EF4-FFF2-40B4-BE49-F238E27FC236}">
                <a16:creationId xmlns:a16="http://schemas.microsoft.com/office/drawing/2014/main" id="{89B7651B-9841-41B9-B6FD-FEE785D59D30}"/>
              </a:ext>
            </a:extLst>
          </p:cNvPr>
          <p:cNvSpPr txBox="1"/>
          <p:nvPr/>
        </p:nvSpPr>
        <p:spPr>
          <a:xfrm>
            <a:off x="1752600" y="1327150"/>
            <a:ext cx="2025650" cy="707886"/>
          </a:xfrm>
          <a:prstGeom prst="rect">
            <a:avLst/>
          </a:prstGeom>
          <a:noFill/>
        </p:spPr>
        <p:txBody>
          <a:bodyPr wrap="square" rtlCol="0">
            <a:spAutoFit/>
          </a:bodyPr>
          <a:lstStyle/>
          <a:p>
            <a:pPr defTabSz="457200">
              <a:defRPr/>
            </a:pPr>
            <a:r>
              <a:rPr lang="da-DK" sz="1000" dirty="0" err="1">
                <a:solidFill>
                  <a:prstClr val="black"/>
                </a:solidFill>
                <a:latin typeface="Calibri"/>
              </a:rPr>
              <a:t>Choice</a:t>
            </a:r>
            <a:r>
              <a:rPr lang="da-DK" sz="1000" dirty="0">
                <a:solidFill>
                  <a:prstClr val="black"/>
                </a:solidFill>
                <a:latin typeface="Calibri"/>
              </a:rPr>
              <a:t> of </a:t>
            </a:r>
            <a:r>
              <a:rPr lang="da-DK" sz="1000" dirty="0" err="1">
                <a:solidFill>
                  <a:prstClr val="black"/>
                </a:solidFill>
                <a:latin typeface="Calibri"/>
              </a:rPr>
              <a:t>epistemology</a:t>
            </a:r>
            <a:r>
              <a:rPr lang="da-DK" sz="1000" dirty="0">
                <a:solidFill>
                  <a:prstClr val="black"/>
                </a:solidFill>
                <a:latin typeface="Calibri"/>
              </a:rPr>
              <a:t>, </a:t>
            </a:r>
            <a:r>
              <a:rPr lang="da-DK" sz="1000" dirty="0" err="1">
                <a:solidFill>
                  <a:prstClr val="black"/>
                </a:solidFill>
                <a:latin typeface="Calibri"/>
              </a:rPr>
              <a:t>e.g</a:t>
            </a:r>
            <a:r>
              <a:rPr lang="da-DK" sz="1000" dirty="0">
                <a:solidFill>
                  <a:prstClr val="black"/>
                </a:solidFill>
                <a:latin typeface="Calibri"/>
              </a:rPr>
              <a:t>. </a:t>
            </a:r>
            <a:r>
              <a:rPr lang="da-DK" sz="1000" dirty="0" err="1">
                <a:solidFill>
                  <a:prstClr val="black"/>
                </a:solidFill>
                <a:latin typeface="Calibri"/>
              </a:rPr>
              <a:t>rationalism</a:t>
            </a:r>
            <a:r>
              <a:rPr lang="da-DK" sz="1000" dirty="0">
                <a:solidFill>
                  <a:prstClr val="black"/>
                </a:solidFill>
                <a:latin typeface="Calibri"/>
              </a:rPr>
              <a:t>, </a:t>
            </a:r>
            <a:r>
              <a:rPr lang="da-DK" sz="1000" dirty="0" err="1">
                <a:solidFill>
                  <a:prstClr val="black"/>
                </a:solidFill>
                <a:latin typeface="Calibri"/>
              </a:rPr>
              <a:t>empiricism</a:t>
            </a:r>
            <a:r>
              <a:rPr lang="da-DK" sz="1000" dirty="0">
                <a:solidFill>
                  <a:prstClr val="black"/>
                </a:solidFill>
                <a:latin typeface="Calibri"/>
              </a:rPr>
              <a:t>, </a:t>
            </a:r>
            <a:r>
              <a:rPr lang="da-DK" sz="1000" dirty="0" err="1">
                <a:solidFill>
                  <a:prstClr val="black"/>
                </a:solidFill>
                <a:latin typeface="Calibri"/>
              </a:rPr>
              <a:t>positivism</a:t>
            </a:r>
            <a:r>
              <a:rPr lang="da-DK" sz="1000" dirty="0">
                <a:solidFill>
                  <a:prstClr val="black"/>
                </a:solidFill>
                <a:latin typeface="Calibri"/>
              </a:rPr>
              <a:t>, </a:t>
            </a:r>
            <a:r>
              <a:rPr lang="da-DK" sz="1000" dirty="0" err="1">
                <a:solidFill>
                  <a:prstClr val="black"/>
                </a:solidFill>
                <a:latin typeface="Calibri"/>
              </a:rPr>
              <a:t>logical</a:t>
            </a:r>
            <a:r>
              <a:rPr lang="da-DK" sz="1000" dirty="0">
                <a:solidFill>
                  <a:prstClr val="black"/>
                </a:solidFill>
                <a:latin typeface="Calibri"/>
              </a:rPr>
              <a:t> </a:t>
            </a:r>
            <a:r>
              <a:rPr lang="da-DK" sz="1000" dirty="0" err="1">
                <a:solidFill>
                  <a:prstClr val="black"/>
                </a:solidFill>
                <a:latin typeface="Calibri"/>
              </a:rPr>
              <a:t>postivism</a:t>
            </a:r>
            <a:r>
              <a:rPr lang="da-DK" sz="1000" dirty="0">
                <a:solidFill>
                  <a:prstClr val="black"/>
                </a:solidFill>
                <a:latin typeface="Calibri"/>
              </a:rPr>
              <a:t> or </a:t>
            </a:r>
            <a:r>
              <a:rPr lang="da-DK" sz="1000" dirty="0" err="1">
                <a:solidFill>
                  <a:prstClr val="black"/>
                </a:solidFill>
                <a:latin typeface="Calibri"/>
              </a:rPr>
              <a:t>critical</a:t>
            </a:r>
            <a:r>
              <a:rPr lang="da-DK" sz="1000" dirty="0">
                <a:solidFill>
                  <a:prstClr val="black"/>
                </a:solidFill>
                <a:latin typeface="Calibri"/>
              </a:rPr>
              <a:t> </a:t>
            </a:r>
            <a:r>
              <a:rPr lang="da-DK" sz="1000" dirty="0" err="1">
                <a:solidFill>
                  <a:prstClr val="black"/>
                </a:solidFill>
                <a:latin typeface="Calibri"/>
              </a:rPr>
              <a:t>rationalism</a:t>
            </a:r>
            <a:endParaRPr lang="en-US" sz="1000" dirty="0">
              <a:solidFill>
                <a:prstClr val="black"/>
              </a:solidFill>
              <a:latin typeface="Calibri"/>
            </a:endParaRPr>
          </a:p>
        </p:txBody>
      </p:sp>
      <p:cxnSp>
        <p:nvCxnSpPr>
          <p:cNvPr id="9" name="Forbindelse: vinklet 8">
            <a:extLst>
              <a:ext uri="{FF2B5EF4-FFF2-40B4-BE49-F238E27FC236}">
                <a16:creationId xmlns:a16="http://schemas.microsoft.com/office/drawing/2014/main" id="{C9726995-08A7-44A9-97C2-905C7A0ABDA1}"/>
              </a:ext>
            </a:extLst>
          </p:cNvPr>
          <p:cNvCxnSpPr/>
          <p:nvPr/>
        </p:nvCxnSpPr>
        <p:spPr>
          <a:xfrm rot="10800000" flipV="1">
            <a:off x="3886200" y="1720850"/>
            <a:ext cx="704850" cy="508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kstfelt 12">
            <a:extLst>
              <a:ext uri="{FF2B5EF4-FFF2-40B4-BE49-F238E27FC236}">
                <a16:creationId xmlns:a16="http://schemas.microsoft.com/office/drawing/2014/main" id="{47A6F85A-5CF1-4923-890B-7DFBA3AA854E}"/>
              </a:ext>
            </a:extLst>
          </p:cNvPr>
          <p:cNvSpPr txBox="1"/>
          <p:nvPr/>
        </p:nvSpPr>
        <p:spPr>
          <a:xfrm>
            <a:off x="8007350" y="1327150"/>
            <a:ext cx="2025650" cy="707886"/>
          </a:xfrm>
          <a:prstGeom prst="rect">
            <a:avLst/>
          </a:prstGeom>
          <a:noFill/>
        </p:spPr>
        <p:txBody>
          <a:bodyPr wrap="square" rtlCol="0">
            <a:spAutoFit/>
          </a:bodyPr>
          <a:lstStyle/>
          <a:p>
            <a:pPr defTabSz="457200">
              <a:defRPr/>
            </a:pPr>
            <a:r>
              <a:rPr lang="da-DK" sz="1000" dirty="0" err="1">
                <a:solidFill>
                  <a:prstClr val="black"/>
                </a:solidFill>
                <a:latin typeface="Calibri"/>
              </a:rPr>
              <a:t>Choice</a:t>
            </a:r>
            <a:r>
              <a:rPr lang="da-DK" sz="1000" dirty="0">
                <a:solidFill>
                  <a:prstClr val="black"/>
                </a:solidFill>
                <a:latin typeface="Calibri"/>
              </a:rPr>
              <a:t> of </a:t>
            </a:r>
            <a:r>
              <a:rPr lang="da-DK" sz="1000" dirty="0" err="1">
                <a:solidFill>
                  <a:prstClr val="black"/>
                </a:solidFill>
                <a:latin typeface="Calibri"/>
              </a:rPr>
              <a:t>epistemology</a:t>
            </a:r>
            <a:r>
              <a:rPr lang="da-DK" sz="1000" dirty="0">
                <a:solidFill>
                  <a:prstClr val="black"/>
                </a:solidFill>
                <a:latin typeface="Calibri"/>
              </a:rPr>
              <a:t>, </a:t>
            </a:r>
            <a:r>
              <a:rPr lang="da-DK" sz="1000" dirty="0" err="1">
                <a:solidFill>
                  <a:prstClr val="black"/>
                </a:solidFill>
                <a:latin typeface="Calibri"/>
              </a:rPr>
              <a:t>e.g</a:t>
            </a:r>
            <a:r>
              <a:rPr lang="da-DK" sz="1000" dirty="0">
                <a:solidFill>
                  <a:prstClr val="black"/>
                </a:solidFill>
                <a:latin typeface="Calibri"/>
              </a:rPr>
              <a:t>. </a:t>
            </a:r>
            <a:r>
              <a:rPr lang="da-DK" sz="1000" dirty="0" err="1">
                <a:solidFill>
                  <a:prstClr val="black"/>
                </a:solidFill>
                <a:latin typeface="Calibri"/>
              </a:rPr>
              <a:t>classical</a:t>
            </a:r>
            <a:r>
              <a:rPr lang="da-DK" sz="1000" dirty="0">
                <a:solidFill>
                  <a:prstClr val="black"/>
                </a:solidFill>
                <a:latin typeface="Calibri"/>
              </a:rPr>
              <a:t>/</a:t>
            </a:r>
            <a:r>
              <a:rPr lang="da-DK" sz="1000" dirty="0" err="1">
                <a:solidFill>
                  <a:prstClr val="black"/>
                </a:solidFill>
                <a:latin typeface="Calibri"/>
              </a:rPr>
              <a:t>modern</a:t>
            </a:r>
            <a:r>
              <a:rPr lang="da-DK" sz="1000" dirty="0">
                <a:solidFill>
                  <a:prstClr val="black"/>
                </a:solidFill>
                <a:latin typeface="Calibri"/>
              </a:rPr>
              <a:t> </a:t>
            </a:r>
            <a:r>
              <a:rPr lang="da-DK" sz="1000" dirty="0" err="1">
                <a:solidFill>
                  <a:prstClr val="black"/>
                </a:solidFill>
                <a:latin typeface="Calibri"/>
              </a:rPr>
              <a:t>hermeneutics</a:t>
            </a:r>
            <a:r>
              <a:rPr lang="da-DK" sz="1000" dirty="0">
                <a:solidFill>
                  <a:prstClr val="black"/>
                </a:solidFill>
                <a:latin typeface="Calibri"/>
              </a:rPr>
              <a:t>, </a:t>
            </a:r>
            <a:r>
              <a:rPr lang="da-DK" sz="1000" dirty="0" err="1">
                <a:solidFill>
                  <a:prstClr val="black"/>
                </a:solidFill>
                <a:latin typeface="Calibri"/>
              </a:rPr>
              <a:t>constructivism</a:t>
            </a:r>
            <a:r>
              <a:rPr lang="da-DK" sz="1000" dirty="0">
                <a:solidFill>
                  <a:prstClr val="black"/>
                </a:solidFill>
                <a:latin typeface="Calibri"/>
              </a:rPr>
              <a:t>, social </a:t>
            </a:r>
            <a:r>
              <a:rPr lang="da-DK" sz="1000" dirty="0" err="1">
                <a:solidFill>
                  <a:prstClr val="black"/>
                </a:solidFill>
                <a:latin typeface="Calibri"/>
              </a:rPr>
              <a:t>constructivism</a:t>
            </a:r>
            <a:endParaRPr lang="en-US" sz="1000" dirty="0">
              <a:solidFill>
                <a:prstClr val="black"/>
              </a:solidFill>
              <a:latin typeface="Calibri"/>
            </a:endParaRPr>
          </a:p>
        </p:txBody>
      </p:sp>
      <p:cxnSp>
        <p:nvCxnSpPr>
          <p:cNvPr id="15" name="Forbindelse: vinklet 14">
            <a:extLst>
              <a:ext uri="{FF2B5EF4-FFF2-40B4-BE49-F238E27FC236}">
                <a16:creationId xmlns:a16="http://schemas.microsoft.com/office/drawing/2014/main" id="{27947D68-EA8D-4B9A-8642-36F12646F5BD}"/>
              </a:ext>
            </a:extLst>
          </p:cNvPr>
          <p:cNvCxnSpPr>
            <a:cxnSpLocks/>
          </p:cNvCxnSpPr>
          <p:nvPr/>
        </p:nvCxnSpPr>
        <p:spPr>
          <a:xfrm>
            <a:off x="7397750" y="1720851"/>
            <a:ext cx="660400" cy="5080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Tekstfelt 1">
            <a:extLst>
              <a:ext uri="{FF2B5EF4-FFF2-40B4-BE49-F238E27FC236}">
                <a16:creationId xmlns:a16="http://schemas.microsoft.com/office/drawing/2014/main" id="{87645F4E-12AA-1A97-BC48-319EF115432D}"/>
              </a:ext>
            </a:extLst>
          </p:cNvPr>
          <p:cNvSpPr txBox="1"/>
          <p:nvPr/>
        </p:nvSpPr>
        <p:spPr>
          <a:xfrm>
            <a:off x="7175500" y="649767"/>
            <a:ext cx="2025650" cy="553998"/>
          </a:xfrm>
          <a:prstGeom prst="rect">
            <a:avLst/>
          </a:prstGeom>
          <a:noFill/>
        </p:spPr>
        <p:txBody>
          <a:bodyPr wrap="square" rtlCol="0">
            <a:spAutoFit/>
          </a:bodyPr>
          <a:lstStyle/>
          <a:p>
            <a:pPr defTabSz="457200">
              <a:defRPr/>
            </a:pPr>
            <a:r>
              <a:rPr lang="da-DK" sz="1000" dirty="0">
                <a:solidFill>
                  <a:prstClr val="black"/>
                </a:solidFill>
                <a:latin typeface="Calibri"/>
              </a:rPr>
              <a:t>In </a:t>
            </a:r>
            <a:r>
              <a:rPr lang="da-DK" sz="1000" dirty="0" err="1">
                <a:solidFill>
                  <a:prstClr val="black"/>
                </a:solidFill>
                <a:latin typeface="Calibri"/>
              </a:rPr>
              <a:t>conflict</a:t>
            </a:r>
            <a:r>
              <a:rPr lang="da-DK" sz="1000" dirty="0">
                <a:solidFill>
                  <a:prstClr val="black"/>
                </a:solidFill>
                <a:latin typeface="Calibri"/>
              </a:rPr>
              <a:t> with </a:t>
            </a:r>
            <a:r>
              <a:rPr lang="da-DK" sz="1000" dirty="0" err="1">
                <a:solidFill>
                  <a:prstClr val="black"/>
                </a:solidFill>
                <a:latin typeface="Calibri"/>
              </a:rPr>
              <a:t>choice</a:t>
            </a:r>
            <a:r>
              <a:rPr lang="da-DK" sz="1000" dirty="0">
                <a:solidFill>
                  <a:prstClr val="black"/>
                </a:solidFill>
                <a:latin typeface="Calibri"/>
              </a:rPr>
              <a:t> of data-</a:t>
            </a:r>
            <a:r>
              <a:rPr lang="da-DK" sz="1000" dirty="0" err="1">
                <a:solidFill>
                  <a:prstClr val="black"/>
                </a:solidFill>
                <a:latin typeface="Calibri"/>
              </a:rPr>
              <a:t>collection</a:t>
            </a:r>
            <a:r>
              <a:rPr lang="da-DK" sz="1000" dirty="0">
                <a:solidFill>
                  <a:prstClr val="black"/>
                </a:solidFill>
                <a:latin typeface="Calibri"/>
              </a:rPr>
              <a:t> – </a:t>
            </a:r>
            <a:r>
              <a:rPr lang="da-DK" sz="1000" dirty="0" err="1">
                <a:solidFill>
                  <a:prstClr val="black"/>
                </a:solidFill>
                <a:latin typeface="Calibri"/>
              </a:rPr>
              <a:t>replace</a:t>
            </a:r>
            <a:r>
              <a:rPr lang="da-DK" sz="1000" dirty="0">
                <a:solidFill>
                  <a:prstClr val="black"/>
                </a:solidFill>
                <a:latin typeface="Calibri"/>
              </a:rPr>
              <a:t> with ”</a:t>
            </a:r>
            <a:r>
              <a:rPr lang="da-DK" sz="1000" dirty="0" err="1">
                <a:solidFill>
                  <a:prstClr val="black"/>
                </a:solidFill>
                <a:latin typeface="Calibri"/>
              </a:rPr>
              <a:t>situationalist</a:t>
            </a:r>
            <a:r>
              <a:rPr lang="da-DK" sz="1000" dirty="0">
                <a:solidFill>
                  <a:prstClr val="black"/>
                </a:solidFill>
                <a:latin typeface="Calibri"/>
              </a:rPr>
              <a:t>” or ”purist” </a:t>
            </a:r>
            <a:r>
              <a:rPr lang="da-DK" sz="1000" dirty="0" err="1">
                <a:solidFill>
                  <a:prstClr val="black"/>
                </a:solidFill>
                <a:latin typeface="Calibri"/>
              </a:rPr>
              <a:t>even</a:t>
            </a:r>
            <a:r>
              <a:rPr lang="da-DK" sz="1000" dirty="0">
                <a:solidFill>
                  <a:prstClr val="black"/>
                </a:solidFill>
                <a:latin typeface="Calibri"/>
              </a:rPr>
              <a:t>.</a:t>
            </a:r>
            <a:endParaRPr lang="en-US" sz="1000" dirty="0">
              <a:solidFill>
                <a:prstClr val="black"/>
              </a:solidFill>
              <a:latin typeface="Calibri"/>
            </a:endParaRPr>
          </a:p>
        </p:txBody>
      </p:sp>
      <p:cxnSp>
        <p:nvCxnSpPr>
          <p:cNvPr id="6" name="Forbindelse: vinklet 14">
            <a:extLst>
              <a:ext uri="{FF2B5EF4-FFF2-40B4-BE49-F238E27FC236}">
                <a16:creationId xmlns:a16="http://schemas.microsoft.com/office/drawing/2014/main" id="{24D3F62B-546E-9249-AC9E-3FF6E52FFBBC}"/>
              </a:ext>
            </a:extLst>
          </p:cNvPr>
          <p:cNvCxnSpPr>
            <a:cxnSpLocks/>
          </p:cNvCxnSpPr>
          <p:nvPr/>
        </p:nvCxnSpPr>
        <p:spPr>
          <a:xfrm>
            <a:off x="6407150" y="926767"/>
            <a:ext cx="660400" cy="5080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0379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alpha val="44596"/>
          </a:schemeClr>
        </a:solidFill>
        <a:effectLst/>
      </p:bgPr>
    </p:bg>
    <p:spTree>
      <p:nvGrpSpPr>
        <p:cNvPr id="1" name=""/>
        <p:cNvGrpSpPr/>
        <p:nvPr/>
      </p:nvGrpSpPr>
      <p:grpSpPr>
        <a:xfrm>
          <a:off x="0" y="0"/>
          <a:ext cx="0" cy="0"/>
          <a:chOff x="0" y="0"/>
          <a:chExt cx="0" cy="0"/>
        </a:xfrm>
      </p:grpSpPr>
      <p:sp>
        <p:nvSpPr>
          <p:cNvPr id="2" name="Tekstfelt 1">
            <a:extLst>
              <a:ext uri="{FF2B5EF4-FFF2-40B4-BE49-F238E27FC236}">
                <a16:creationId xmlns:a16="http://schemas.microsoft.com/office/drawing/2014/main" id="{D9A2913C-8C7E-552E-7945-6D43CD592754}"/>
              </a:ext>
            </a:extLst>
          </p:cNvPr>
          <p:cNvSpPr txBox="1"/>
          <p:nvPr/>
        </p:nvSpPr>
        <p:spPr>
          <a:xfrm>
            <a:off x="2649318" y="477291"/>
            <a:ext cx="5986672" cy="400110"/>
          </a:xfrm>
          <a:prstGeom prst="rect">
            <a:avLst/>
          </a:prstGeom>
          <a:noFill/>
        </p:spPr>
        <p:txBody>
          <a:bodyPr wrap="square" rtlCol="0">
            <a:spAutoFit/>
          </a:bodyPr>
          <a:lstStyle/>
          <a:p>
            <a:pPr defTabSz="457200">
              <a:defRPr/>
            </a:pPr>
            <a:r>
              <a:rPr lang="en-GB" sz="2000" b="1" dirty="0" err="1">
                <a:latin typeface="Copperplate Gothic Bold" panose="020E0705020206020404" pitchFamily="34" charset="77"/>
                <a:cs typeface="Calibri Light" panose="020F0302020204030204" pitchFamily="34" charset="0"/>
              </a:rPr>
              <a:t>Redegørelse</a:t>
            </a:r>
            <a:r>
              <a:rPr lang="en-GB" sz="2000" b="1" dirty="0">
                <a:latin typeface="Copperplate Gothic Bold" panose="020E0705020206020404" pitchFamily="34" charset="77"/>
                <a:cs typeface="Calibri Light" panose="020F0302020204030204" pitchFamily="34" charset="0"/>
              </a:rPr>
              <a:t> for research </a:t>
            </a:r>
            <a:r>
              <a:rPr lang="en-GB" sz="2000" b="1" dirty="0" err="1">
                <a:latin typeface="Copperplate Gothic Bold" panose="020E0705020206020404" pitchFamily="34" charset="77"/>
                <a:cs typeface="Calibri Light" panose="020F0302020204030204" pitchFamily="34" charset="0"/>
              </a:rPr>
              <a:t>designet</a:t>
            </a:r>
            <a:endParaRPr lang="en-GB" sz="2000" b="1" dirty="0">
              <a:latin typeface="Copperplate Gothic Bold" panose="020E0705020206020404" pitchFamily="34" charset="77"/>
              <a:cs typeface="Calibri Light" panose="020F0302020204030204" pitchFamily="34" charset="0"/>
            </a:endParaRPr>
          </a:p>
        </p:txBody>
      </p:sp>
      <p:pic>
        <p:nvPicPr>
          <p:cNvPr id="5" name="Billede 4" descr="Et billede, der indeholder tekst, dokument, skærmbillede, Font/skrifttype&#10;&#10;Automatisk genereret beskrivelse">
            <a:extLst>
              <a:ext uri="{FF2B5EF4-FFF2-40B4-BE49-F238E27FC236}">
                <a16:creationId xmlns:a16="http://schemas.microsoft.com/office/drawing/2014/main" id="{FE8ACCBC-9F43-E43D-6142-895AEC82C1B5}"/>
              </a:ext>
            </a:extLst>
          </p:cNvPr>
          <p:cNvPicPr>
            <a:picLocks noChangeAspect="1"/>
          </p:cNvPicPr>
          <p:nvPr/>
        </p:nvPicPr>
        <p:blipFill>
          <a:blip r:embed="rId2"/>
          <a:stretch>
            <a:fillRect/>
          </a:stretch>
        </p:blipFill>
        <p:spPr>
          <a:xfrm>
            <a:off x="2100648" y="1161016"/>
            <a:ext cx="6535342" cy="5219693"/>
          </a:xfrm>
          <a:prstGeom prst="rect">
            <a:avLst/>
          </a:prstGeom>
        </p:spPr>
      </p:pic>
    </p:spTree>
    <p:extLst>
      <p:ext uri="{BB962C8B-B14F-4D97-AF65-F5344CB8AC3E}">
        <p14:creationId xmlns:p14="http://schemas.microsoft.com/office/powerpoint/2010/main" val="871917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44596"/>
          </a:schemeClr>
        </a:solidFill>
        <a:effectLst/>
      </p:bgPr>
    </p:bg>
    <p:spTree>
      <p:nvGrpSpPr>
        <p:cNvPr id="1" name=""/>
        <p:cNvGrpSpPr/>
        <p:nvPr/>
      </p:nvGrpSpPr>
      <p:grpSpPr>
        <a:xfrm>
          <a:off x="0" y="0"/>
          <a:ext cx="0" cy="0"/>
          <a:chOff x="0" y="0"/>
          <a:chExt cx="0" cy="0"/>
        </a:xfrm>
      </p:grpSpPr>
      <p:sp>
        <p:nvSpPr>
          <p:cNvPr id="2" name="Tekstfelt 1">
            <a:extLst>
              <a:ext uri="{FF2B5EF4-FFF2-40B4-BE49-F238E27FC236}">
                <a16:creationId xmlns:a16="http://schemas.microsoft.com/office/drawing/2014/main" id="{D9A2913C-8C7E-552E-7945-6D43CD592754}"/>
              </a:ext>
            </a:extLst>
          </p:cNvPr>
          <p:cNvSpPr txBox="1"/>
          <p:nvPr/>
        </p:nvSpPr>
        <p:spPr>
          <a:xfrm>
            <a:off x="758734" y="378437"/>
            <a:ext cx="5986672" cy="400110"/>
          </a:xfrm>
          <a:prstGeom prst="rect">
            <a:avLst/>
          </a:prstGeom>
          <a:noFill/>
        </p:spPr>
        <p:txBody>
          <a:bodyPr wrap="square" rtlCol="0">
            <a:spAutoFit/>
          </a:bodyPr>
          <a:lstStyle/>
          <a:p>
            <a:pPr defTabSz="457200">
              <a:defRPr/>
            </a:pPr>
            <a:r>
              <a:rPr lang="en-GB" sz="2000" b="1" dirty="0" err="1">
                <a:latin typeface="Copperplate Gothic Bold" panose="020E0705020206020404" pitchFamily="34" charset="77"/>
                <a:cs typeface="Calibri Light" panose="020F0302020204030204" pitchFamily="34" charset="0"/>
              </a:rPr>
              <a:t>Redegørelse</a:t>
            </a:r>
            <a:r>
              <a:rPr lang="en-GB" sz="2000" b="1" dirty="0">
                <a:latin typeface="Copperplate Gothic Bold" panose="020E0705020206020404" pitchFamily="34" charset="77"/>
                <a:cs typeface="Calibri Light" panose="020F0302020204030204" pitchFamily="34" charset="0"/>
              </a:rPr>
              <a:t> for research </a:t>
            </a:r>
            <a:r>
              <a:rPr lang="en-GB" sz="2000" b="1" dirty="0" err="1">
                <a:latin typeface="Copperplate Gothic Bold" panose="020E0705020206020404" pitchFamily="34" charset="77"/>
                <a:cs typeface="Calibri Light" panose="020F0302020204030204" pitchFamily="34" charset="0"/>
              </a:rPr>
              <a:t>designet</a:t>
            </a:r>
            <a:endParaRPr lang="en-GB" sz="2000" b="1" dirty="0">
              <a:latin typeface="Copperplate Gothic Bold" panose="020E0705020206020404" pitchFamily="34" charset="77"/>
              <a:cs typeface="Calibri Light" panose="020F0302020204030204" pitchFamily="34" charset="0"/>
            </a:endParaRPr>
          </a:p>
        </p:txBody>
      </p:sp>
      <p:pic>
        <p:nvPicPr>
          <p:cNvPr id="3" name="Billede 2">
            <a:extLst>
              <a:ext uri="{FF2B5EF4-FFF2-40B4-BE49-F238E27FC236}">
                <a16:creationId xmlns:a16="http://schemas.microsoft.com/office/drawing/2014/main" id="{85616155-4BD5-8343-D17B-E85B16283BBF}"/>
              </a:ext>
            </a:extLst>
          </p:cNvPr>
          <p:cNvPicPr>
            <a:picLocks noChangeAspect="1"/>
          </p:cNvPicPr>
          <p:nvPr/>
        </p:nvPicPr>
        <p:blipFill>
          <a:blip r:embed="rId2"/>
          <a:stretch>
            <a:fillRect/>
          </a:stretch>
        </p:blipFill>
        <p:spPr>
          <a:xfrm>
            <a:off x="6728310" y="0"/>
            <a:ext cx="4889036" cy="6858000"/>
          </a:xfrm>
          <a:prstGeom prst="rect">
            <a:avLst/>
          </a:prstGeom>
        </p:spPr>
      </p:pic>
    </p:spTree>
    <p:extLst>
      <p:ext uri="{BB962C8B-B14F-4D97-AF65-F5344CB8AC3E}">
        <p14:creationId xmlns:p14="http://schemas.microsoft.com/office/powerpoint/2010/main" val="1441739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felt 2">
            <a:extLst>
              <a:ext uri="{FF2B5EF4-FFF2-40B4-BE49-F238E27FC236}">
                <a16:creationId xmlns:a16="http://schemas.microsoft.com/office/drawing/2014/main" id="{9FC572C2-0E8F-7CC6-03D7-8BFEA0422375}"/>
              </a:ext>
            </a:extLst>
          </p:cNvPr>
          <p:cNvSpPr txBox="1"/>
          <p:nvPr/>
        </p:nvSpPr>
        <p:spPr>
          <a:xfrm>
            <a:off x="1840375" y="0"/>
            <a:ext cx="8102277" cy="6866110"/>
          </a:xfrm>
          <a:prstGeom prst="rect">
            <a:avLst/>
          </a:prstGeom>
          <a:noFill/>
        </p:spPr>
        <p:txBody>
          <a:bodyPr wrap="square">
            <a:spAutoFit/>
          </a:bodyPr>
          <a:lstStyle/>
          <a:p>
            <a:pPr marL="342900" lvl="0" indent="-342900">
              <a:lnSpc>
                <a:spcPct val="150000"/>
              </a:lnSpc>
              <a:spcBef>
                <a:spcPts val="600"/>
              </a:spcBef>
              <a:spcAft>
                <a:spcPts val="600"/>
              </a:spcAft>
              <a:buFont typeface="+mj-lt"/>
              <a:buAutoNum type="arabicPeriod" startAt="2"/>
            </a:pPr>
            <a:r>
              <a:rPr lang="da-DK" sz="1500" b="1" kern="100" dirty="0">
                <a:effectLst/>
                <a:latin typeface="Calibri" panose="020F0502020204030204" pitchFamily="34" charset="0"/>
                <a:ea typeface="Calibri" panose="020F0502020204030204" pitchFamily="34" charset="0"/>
                <a:cs typeface="Times New Roman" panose="02020603050405020304" pitchFamily="18" charset="0"/>
              </a:rPr>
              <a:t>Redegørelse for research designet</a:t>
            </a:r>
            <a:endParaRPr lang="da-DK" sz="1500" kern="1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Bef>
                <a:spcPts val="600"/>
              </a:spcBef>
              <a:spcAft>
                <a:spcPts val="600"/>
              </a:spcAft>
            </a:pPr>
            <a:r>
              <a:rPr lang="da-DK" sz="1500" b="1" kern="100" dirty="0">
                <a:solidFill>
                  <a:srgbClr val="0070C0"/>
                </a:solidFill>
                <a:latin typeface="Calibri" panose="020F0502020204030204" pitchFamily="34" charset="0"/>
                <a:ea typeface="Calibri" panose="020F0502020204030204" pitchFamily="34" charset="0"/>
                <a:cs typeface="Times New Roman" panose="02020603050405020304" pitchFamily="18" charset="0"/>
              </a:rPr>
              <a:t>       </a:t>
            </a:r>
            <a:r>
              <a:rPr lang="da-DK" sz="1500"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2.1 Valg af videnskabelig strategi (ontologisk position)</a:t>
            </a:r>
            <a:endParaRPr lang="da-DK" sz="1500" kern="100" dirty="0">
              <a:effectLst/>
              <a:latin typeface="Calibri" panose="020F0502020204030204" pitchFamily="34" charset="0"/>
              <a:ea typeface="Calibri" panose="020F0502020204030204" pitchFamily="34" charset="0"/>
              <a:cs typeface="Times New Roman" panose="02020603050405020304" pitchFamily="18" charset="0"/>
            </a:endParaRPr>
          </a:p>
          <a:p>
            <a:pPr marL="226695">
              <a:lnSpc>
                <a:spcPct val="150000"/>
              </a:lnSpc>
              <a:spcBef>
                <a:spcPts val="300"/>
              </a:spcBef>
              <a:spcAft>
                <a:spcPts val="300"/>
              </a:spcAft>
              <a:buNone/>
            </a:pP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Ontologi er ifølge John </a:t>
            </a:r>
            <a:r>
              <a:rPr lang="da-DK" sz="1500" kern="100" dirty="0" err="1">
                <a:effectLst/>
                <a:latin typeface="Calibri" panose="020F0502020204030204" pitchFamily="34" charset="0"/>
                <a:ea typeface="Calibri" panose="020F0502020204030204" pitchFamily="34" charset="0"/>
                <a:cs typeface="Times New Roman" panose="02020603050405020304" pitchFamily="18" charset="0"/>
              </a:rPr>
              <a:t>Kuada</a:t>
            </a: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 (2015) ”</a:t>
            </a:r>
            <a:r>
              <a:rPr lang="da-DK" sz="1500" i="1" kern="100" dirty="0">
                <a:effectLst/>
                <a:latin typeface="Calibri" panose="020F0502020204030204" pitchFamily="34" charset="0"/>
                <a:ea typeface="Calibri" panose="020F0502020204030204" pitchFamily="34" charset="0"/>
                <a:cs typeface="Times New Roman" panose="02020603050405020304" pitchFamily="18" charset="0"/>
              </a:rPr>
              <a:t>et begreb, videnskabsteoretikere brugere til at beskrive beskaffenheden af det, forskeren ønsker at vide noget om</a:t>
            </a: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 Ontologi er sagt med andre ord, hvordan man ser verden og opfattelsen af det eksisterende (</a:t>
            </a:r>
            <a:r>
              <a:rPr lang="da-DK" sz="1500" kern="100" dirty="0" err="1">
                <a:effectLst/>
                <a:latin typeface="Calibri" panose="020F0502020204030204" pitchFamily="34" charset="0"/>
                <a:ea typeface="Calibri" panose="020F0502020204030204" pitchFamily="34" charset="0"/>
                <a:cs typeface="Times New Roman" panose="02020603050405020304" pitchFamily="18" charset="0"/>
              </a:rPr>
              <a:t>Saunders</a:t>
            </a: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 m.fl., 2015).</a:t>
            </a:r>
          </a:p>
          <a:p>
            <a:pPr marL="228600">
              <a:lnSpc>
                <a:spcPct val="150000"/>
              </a:lnSpc>
              <a:spcBef>
                <a:spcPts val="300"/>
              </a:spcBef>
              <a:spcAft>
                <a:spcPts val="300"/>
              </a:spcAft>
              <a:buNone/>
            </a:pP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Den videnskabelige strategi ”</a:t>
            </a:r>
            <a:r>
              <a:rPr lang="da-DK" sz="1500" kern="100" dirty="0" err="1">
                <a:effectLst/>
                <a:latin typeface="Calibri" panose="020F0502020204030204" pitchFamily="34" charset="0"/>
                <a:ea typeface="Calibri" panose="020F0502020204030204" pitchFamily="34" charset="0"/>
                <a:cs typeface="Times New Roman" panose="02020603050405020304" pitchFamily="18" charset="0"/>
              </a:rPr>
              <a:t>Situationalist</a:t>
            </a: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 er valgt, fordi situationen kalder på et subjektivt syn, da virksomheden </a:t>
            </a:r>
            <a:r>
              <a:rPr lang="da-DK" sz="1500" kern="100" dirty="0" err="1">
                <a:effectLst/>
                <a:latin typeface="Calibri" panose="020F0502020204030204" pitchFamily="34" charset="0"/>
                <a:ea typeface="Calibri" panose="020F0502020204030204" pitchFamily="34" charset="0"/>
                <a:cs typeface="Times New Roman" panose="02020603050405020304" pitchFamily="18" charset="0"/>
              </a:rPr>
              <a:t>Oquam</a:t>
            </a: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 ønsker at få en bedre kundeforståelse (Bilag A). Den subjektive del af det ontologiske kontinuum siger, at der kan være flere realiteter (</a:t>
            </a:r>
            <a:r>
              <a:rPr lang="da-DK" sz="1500" kern="100" dirty="0" err="1">
                <a:effectLst/>
                <a:latin typeface="Calibri" panose="020F0502020204030204" pitchFamily="34" charset="0"/>
                <a:ea typeface="Calibri" panose="020F0502020204030204" pitchFamily="34" charset="0"/>
                <a:cs typeface="Times New Roman" panose="02020603050405020304" pitchFamily="18" charset="0"/>
              </a:rPr>
              <a:t>Saunders</a:t>
            </a: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 m.fl., 2015). Så for at forstå disse forskellige realiteter, skal man forstå de enkelte mennesker. Det er således situationen der dikterer hvilket metode, der er bedst at bruge (Rossman &amp; Wilson, 1985), i dette tilfælde kvalitative data for at forstå forskellige individers præference.</a:t>
            </a:r>
          </a:p>
          <a:p>
            <a:pPr marL="228600">
              <a:lnSpc>
                <a:spcPct val="150000"/>
              </a:lnSpc>
              <a:spcBef>
                <a:spcPts val="300"/>
              </a:spcBef>
              <a:spcAft>
                <a:spcPts val="300"/>
              </a:spcAft>
              <a:buNone/>
            </a:pP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Da projektets problemformulering peger på et subjektivt syn og dermed kvalitative undersøgelser, da ordet ”design” henviser til en visuel fortolkning af hvordan man bedst tilgodeser kundernes ønsker. Ordet ”eftertragtet” er ligeledes fortolkende, da det er subjektivt hvornår noget er eftertragtet. </a:t>
            </a:r>
          </a:p>
          <a:p>
            <a:pPr marL="228600">
              <a:lnSpc>
                <a:spcPct val="150000"/>
              </a:lnSpc>
              <a:spcBef>
                <a:spcPts val="300"/>
              </a:spcBef>
              <a:spcAft>
                <a:spcPts val="300"/>
              </a:spcAft>
              <a:buNone/>
            </a:pPr>
            <a:r>
              <a:rPr lang="da-DK" sz="1500"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2.2 Valg af epistemologi</a:t>
            </a:r>
            <a:endParaRPr lang="da-DK" sz="1500" kern="100" dirty="0">
              <a:effectLst/>
              <a:latin typeface="Calibri" panose="020F0502020204030204" pitchFamily="34" charset="0"/>
              <a:ea typeface="Calibri" panose="020F0502020204030204" pitchFamily="34" charset="0"/>
              <a:cs typeface="Times New Roman" panose="02020603050405020304" pitchFamily="18" charset="0"/>
            </a:endParaRPr>
          </a:p>
          <a:p>
            <a:pPr marL="226695">
              <a:lnSpc>
                <a:spcPct val="150000"/>
              </a:lnSpc>
              <a:spcBef>
                <a:spcPts val="300"/>
              </a:spcBef>
              <a:spcAft>
                <a:spcPts val="300"/>
              </a:spcAft>
              <a:buNone/>
            </a:pP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Ifølge John </a:t>
            </a:r>
            <a:r>
              <a:rPr lang="da-DK" sz="1500" kern="100" dirty="0" err="1">
                <a:effectLst/>
                <a:latin typeface="Calibri" panose="020F0502020204030204" pitchFamily="34" charset="0"/>
                <a:ea typeface="Calibri" panose="020F0502020204030204" pitchFamily="34" charset="0"/>
                <a:cs typeface="Times New Roman" panose="02020603050405020304" pitchFamily="18" charset="0"/>
              </a:rPr>
              <a:t>Kuada</a:t>
            </a: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 (2015) er ”</a:t>
            </a:r>
            <a:r>
              <a:rPr lang="da-DK" sz="1500" i="1" kern="100" dirty="0">
                <a:effectLst/>
                <a:latin typeface="Calibri" panose="020F0502020204030204" pitchFamily="34" charset="0"/>
                <a:ea typeface="Calibri" panose="020F0502020204030204" pitchFamily="34" charset="0"/>
                <a:cs typeface="Times New Roman" panose="02020603050405020304" pitchFamily="18" charset="0"/>
              </a:rPr>
              <a:t>Epistemologi et begreb, der beskriver, hvad viden er, og hvordan vi tilegner os den</a:t>
            </a:r>
            <a:r>
              <a:rPr lang="da-DK" sz="15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639776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1338</TotalTime>
  <Words>1821</Words>
  <Application>Microsoft Office PowerPoint</Application>
  <PresentationFormat>Widescreen</PresentationFormat>
  <Paragraphs>285</Paragraphs>
  <Slides>21</Slides>
  <Notes>11</Notes>
  <HiddenSlides>0</HiddenSlides>
  <MMClips>0</MMClips>
  <ScaleCrop>false</ScaleCrop>
  <HeadingPairs>
    <vt:vector size="6" baseType="variant">
      <vt:variant>
        <vt:lpstr>Benyttede skrifttyper</vt:lpstr>
      </vt:variant>
      <vt:variant>
        <vt:i4>7</vt:i4>
      </vt:variant>
      <vt:variant>
        <vt:lpstr>Tema</vt:lpstr>
      </vt:variant>
      <vt:variant>
        <vt:i4>1</vt:i4>
      </vt:variant>
      <vt:variant>
        <vt:lpstr>Slidetitler</vt:lpstr>
      </vt:variant>
      <vt:variant>
        <vt:i4>21</vt:i4>
      </vt:variant>
    </vt:vector>
  </HeadingPairs>
  <TitlesOfParts>
    <vt:vector size="29" baseType="lpstr">
      <vt:lpstr>Aptos</vt:lpstr>
      <vt:lpstr>Arial</vt:lpstr>
      <vt:lpstr>Arial MT</vt:lpstr>
      <vt:lpstr>Calibri</vt:lpstr>
      <vt:lpstr>Copperplate Gothic Bold</vt:lpstr>
      <vt:lpstr>Verdana</vt:lpstr>
      <vt:lpstr>Wingdings</vt:lpstr>
      <vt:lpstr>Office Theme</vt:lpstr>
      <vt:lpstr>PoS – Dag 10</vt:lpstr>
      <vt:lpstr>Agenda </vt:lpstr>
      <vt:lpstr>PowerPoint-præsentation</vt:lpstr>
      <vt:lpstr>PowerPoint-præsentation</vt:lpstr>
      <vt:lpstr>PowerPoint-præsentation</vt:lpstr>
      <vt:lpstr>PowerPoint-præsentation</vt:lpstr>
      <vt:lpstr>PowerPoint-præsentation</vt:lpstr>
      <vt:lpstr>Aristoteles dydsetik – den gyldne middelvej</vt:lpstr>
      <vt:lpstr>Eksempler ift. de 3 filosofiske retninger</vt:lpstr>
      <vt:lpstr>Etisk kodeks ifm. forskning (DK)</vt:lpstr>
      <vt:lpstr>PowerPoint-præsentation</vt:lpstr>
      <vt:lpstr>PowerPoint-præsentation</vt:lpstr>
      <vt:lpstr>PowerPoint-præsentation</vt:lpstr>
      <vt:lpstr>PowerPoint-præsentation</vt:lpstr>
      <vt:lpstr>PowerPoint-præsentation</vt:lpstr>
      <vt:lpstr>PowerPoint-præsentation</vt:lpstr>
      <vt:lpstr>Martin Heidegger (1889-1976)</vt:lpstr>
      <vt:lpstr>PowerPoint-præsentation</vt:lpstr>
      <vt:lpstr>PowerPoint-præsentation</vt:lpstr>
      <vt:lpstr>PowerPoint-præsentation</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Jens Andersen</dc:creator>
  <cp:lastModifiedBy>Saifullah Jabbar</cp:lastModifiedBy>
  <cp:revision>16</cp:revision>
  <dcterms:created xsi:type="dcterms:W3CDTF">2024-02-16T18:58:00Z</dcterms:created>
  <dcterms:modified xsi:type="dcterms:W3CDTF">2026-03-05T13:17:49Z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2026-03-05T07:00:10Z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9aafd452-b819-40a3-a400-f94ff33b0125</vt:lpwstr>
  </property>
  <property fmtid="{D5CDD505-2E9C-101B-9397-08002B2CF9AE}" pid="7" name="MSIP_Label_defa4170-0d19-0005-0004-bc88714345d2_ActionId">
    <vt:lpwstr>9afc1451-4a83-491a-9f1e-33e1b8f86117</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