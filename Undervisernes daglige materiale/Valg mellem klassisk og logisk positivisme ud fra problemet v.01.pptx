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948" r:id="rId2"/>
    <p:sldId id="946" r:id="rId3"/>
    <p:sldId id="947" r:id="rId4"/>
  </p:sldIdLst>
  <p:sldSz cx="12192000" cy="6858000"/>
  <p:notesSz cx="6797675" cy="9926638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if Jakobsen" initials="SJ" lastIdx="1" clrIdx="0">
    <p:extLst>
      <p:ext uri="{19B8F6BF-5375-455C-9EA6-DF929625EA0E}">
        <p15:presenceInfo xmlns:p15="http://schemas.microsoft.com/office/powerpoint/2012/main" userId="f15c429ca472411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CC"/>
    <a:srgbClr val="0066CC"/>
    <a:srgbClr val="FFFFCC"/>
    <a:srgbClr val="CCECFF"/>
    <a:srgbClr val="F6988E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25" autoAdjust="0"/>
    <p:restoredTop sz="93295" autoAdjust="0"/>
  </p:normalViewPr>
  <p:slideViewPr>
    <p:cSldViewPr snapToGrid="0">
      <p:cViewPr varScale="1">
        <p:scale>
          <a:sx n="77" d="100"/>
          <a:sy n="77" d="100"/>
        </p:scale>
        <p:origin x="1200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8C79D-1B63-4962-B987-9910FE1F7D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0290F-6FB2-4B98-9C20-10E3E6C33B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01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7C0E59-6621-4802-A232-EAA671FE8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187D2F1-B417-44E3-B5F8-A19AC6789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D76C53B-0582-4CA7-8266-D5C85B9A4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EE0A-8816-4CD9-A222-0B6FB0112850}" type="datetimeFigureOut">
              <a:rPr lang="da-DK" smtClean="0"/>
              <a:t>01-03-2026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654F142-37E0-4966-B1E6-646F24D5B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EF9A76A-BB39-40F0-A07F-17355CD2E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FA1F-BF28-4FC2-915D-EC227E2557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6875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5042B-0782-4C75-8AD2-250CD79D7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B07E648-18D0-4C40-A272-384BCE039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5DB0910-B148-4F18-844C-41D4B06E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EE0A-8816-4CD9-A222-0B6FB0112850}" type="datetimeFigureOut">
              <a:rPr lang="da-DK" smtClean="0"/>
              <a:t>01-03-2026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28126D5-2F6C-4B84-89C0-E3252295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2A307AC-0781-4538-B5B4-ADE669281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FA1F-BF28-4FC2-915D-EC227E2557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91465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C2DD57-1498-4FA2-95B9-71AC5DB2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613963E-7994-40B7-A1F0-A57FC71F8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E4520D5-A49D-48F9-B33D-C80B354E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EE0A-8816-4CD9-A222-0B6FB0112850}" type="datetimeFigureOut">
              <a:rPr lang="da-DK" smtClean="0"/>
              <a:t>01-03-2026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15E6B02-8314-473E-A858-6D7FFB6B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3BF5719-70EE-4501-8407-CAD42CE2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FA1F-BF28-4FC2-915D-EC227E2557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7554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0A2EC-52F7-4A96-BA05-C750D183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5C74FA-2D42-41C8-B5A5-206EC8159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E0FD2AD-FF26-4B2E-AA1E-6E78207BF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5138850-7D42-4B83-ADF9-2BEDC594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EE0A-8816-4CD9-A222-0B6FB0112850}" type="datetimeFigureOut">
              <a:rPr lang="da-DK" smtClean="0"/>
              <a:t>01-03-2026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2DA3741-42A7-48C2-98C7-547ABC3AD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79F8B91-FF42-4240-A4A9-3280FBC4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FA1F-BF28-4FC2-915D-EC227E2557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7523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1FE555-C708-4A51-B664-5A582A017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91C5352-2558-4CEA-A401-FF20B2CC0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AACD13D-D6E1-44EF-86D2-2B37A78FB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4610FD95-0B40-4D6C-AB9D-B2E981DC9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0BEB1CA9-E50D-42C9-8D72-4F823B5F9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6BBB1B7F-E3FA-4868-B33F-C690F5A8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EE0A-8816-4CD9-A222-0B6FB0112850}" type="datetimeFigureOut">
              <a:rPr lang="da-DK" smtClean="0"/>
              <a:t>01-03-2026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EF1C256-039B-4DD9-A446-742ADCF0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42ABAA0-31A7-4B0E-AEED-72EEEDA4B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FA1F-BF28-4FC2-915D-EC227E2557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9579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8C7F96-8FB9-41FC-AD8D-7CAFD3DBD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6F062C3-ED9D-4448-A839-B9D612AF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EE0A-8816-4CD9-A222-0B6FB0112850}" type="datetimeFigureOut">
              <a:rPr lang="da-DK" smtClean="0"/>
              <a:t>01-03-2026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9FC46AA-4426-4F04-B230-83948A669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E5F78AA-4669-41C2-BDE1-49A63468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FA1F-BF28-4FC2-915D-EC227E2557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2264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8E26553B-4725-48A9-9673-39D64F761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EE0A-8816-4CD9-A222-0B6FB0112850}" type="datetimeFigureOut">
              <a:rPr lang="da-DK" smtClean="0"/>
              <a:t>01-03-2026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BEAEF74-F7DA-4D87-8DA9-7F27F80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D1AE43C-BC8B-44D7-874E-1AC0B4A9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FA1F-BF28-4FC2-915D-EC227E2557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4996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AFEBEB-7AD8-4B3E-B0C1-E3CF979CD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B63E89A-DB36-4556-865B-006238175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80EE2D1-948D-4133-8D8F-13251D752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7D67363-AFD4-4F74-B639-933000F8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EE0A-8816-4CD9-A222-0B6FB0112850}" type="datetimeFigureOut">
              <a:rPr lang="da-DK" smtClean="0"/>
              <a:t>01-03-2026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BB2FD9D-E17B-426B-BEED-531C4792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5B9E1CB-BFE8-4DAE-9368-796789D0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FA1F-BF28-4FC2-915D-EC227E2557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9168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3E8EE8-3F8F-4A0D-8465-BABEAE1BA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3BEACDD-C81D-4EC5-A93C-C74E55CE2E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CC184B9-268F-48B9-9F2D-808EF560F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30B11E1-3264-49E9-8F02-C6F426BD4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EE0A-8816-4CD9-A222-0B6FB0112850}" type="datetimeFigureOut">
              <a:rPr lang="da-DK" smtClean="0"/>
              <a:t>01-03-2026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36FA0F3-745A-47C0-9ED6-E94CEB0A5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71A6049-77E6-435D-AA17-539256CE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FA1F-BF28-4FC2-915D-EC227E2557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6965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FA99C-B197-4E90-B353-101115508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8090500-D35E-4DFC-B079-C2566094F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7E50B02-501A-4466-98D7-F8F924A6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EE0A-8816-4CD9-A222-0B6FB0112850}" type="datetimeFigureOut">
              <a:rPr lang="da-DK" smtClean="0"/>
              <a:t>01-03-2026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EC63042-716E-456B-A446-270503E6E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4FA2A18-F76E-4D50-87F3-2098F75E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FA1F-BF28-4FC2-915D-EC227E2557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452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4038A3BA-0CC9-4593-8E09-E78ED1F30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5716DE6-14DF-4AAA-920D-D5C895BA2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FB325CF-B4B1-4F3B-846D-448B72C2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EE0A-8816-4CD9-A222-0B6FB0112850}" type="datetimeFigureOut">
              <a:rPr lang="da-DK" smtClean="0"/>
              <a:t>01-03-2026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3F5288C-14D8-4F2B-980E-CDF21D9AC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9980D47-01F9-42F5-887D-CCE087C2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FA1F-BF28-4FC2-915D-EC227E2557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0106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B72C14EB-EEE7-4F72-88BE-D2796F579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85A7BC3-9F61-4234-B375-E1C17D910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5CF1C51-CD93-4CF8-9D68-5396D42B8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6EE0A-8816-4CD9-A222-0B6FB0112850}" type="datetimeFigureOut">
              <a:rPr lang="da-DK" smtClean="0"/>
              <a:t>01-03-2026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CB6F892-7BAC-443D-B9E7-B4C989559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D8B999B-B28F-4839-A286-E00591BF8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EFA1F-BF28-4FC2-915D-EC227E2557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043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eij@kea.d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tekst, Multimediesoftware, skærmbillede, software&#10;&#10;AI-genereret indhold kan være ukorrekt.">
            <a:extLst>
              <a:ext uri="{FF2B5EF4-FFF2-40B4-BE49-F238E27FC236}">
                <a16:creationId xmlns:a16="http://schemas.microsoft.com/office/drawing/2014/main" id="{E66C088D-6A1F-92B2-BBF6-0D45D45C65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05" t="29591" r="24429" b="9641"/>
          <a:stretch>
            <a:fillRect/>
          </a:stretch>
        </p:blipFill>
        <p:spPr>
          <a:xfrm>
            <a:off x="298172" y="822035"/>
            <a:ext cx="10197550" cy="584495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2CB7329B-15D6-CDC1-9182-32980A5E2A43}"/>
              </a:ext>
            </a:extLst>
          </p:cNvPr>
          <p:cNvSpPr txBox="1">
            <a:spLocks/>
          </p:cNvSpPr>
          <p:nvPr/>
        </p:nvSpPr>
        <p:spPr>
          <a:xfrm>
            <a:off x="838200" y="12700"/>
            <a:ext cx="10515600" cy="8605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a-DK" sz="4000" b="1" dirty="0">
                <a:latin typeface="+mn-lt"/>
              </a:rPr>
              <a:t>Valg af positivistisk epistemologi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DFC70FF8-BEA9-7007-97D7-AF6CC5938306}"/>
              </a:ext>
            </a:extLst>
          </p:cNvPr>
          <p:cNvSpPr txBox="1"/>
          <p:nvPr/>
        </p:nvSpPr>
        <p:spPr>
          <a:xfrm>
            <a:off x="10624751" y="5835997"/>
            <a:ext cx="1458097" cy="830997"/>
          </a:xfrm>
          <a:prstGeom prst="rect">
            <a:avLst/>
          </a:prstGeom>
          <a:solidFill>
            <a:schemeClr val="bg1">
              <a:lumMod val="85000"/>
              <a:alpha val="9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da-DK" sz="1200" i="1" dirty="0"/>
              <a:t>Seif Jakobsen</a:t>
            </a:r>
          </a:p>
          <a:p>
            <a:pPr algn="r"/>
            <a:r>
              <a:rPr lang="da-DK" sz="1200" i="1" dirty="0">
                <a:hlinkClick r:id="rId3"/>
              </a:rPr>
              <a:t>seij@kea.dk</a:t>
            </a:r>
            <a:endParaRPr lang="da-DK" sz="1200" i="1" dirty="0"/>
          </a:p>
          <a:p>
            <a:endParaRPr lang="da-DK" sz="1200" i="1" dirty="0"/>
          </a:p>
          <a:p>
            <a:r>
              <a:rPr lang="da-DK" sz="1200" i="1" dirty="0"/>
              <a:t>2. marts 2026</a:t>
            </a:r>
          </a:p>
        </p:txBody>
      </p:sp>
    </p:spTree>
    <p:extLst>
      <p:ext uri="{BB962C8B-B14F-4D97-AF65-F5344CB8AC3E}">
        <p14:creationId xmlns:p14="http://schemas.microsoft.com/office/powerpoint/2010/main" val="77411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ADDDB-A9A3-C518-4C76-3906BFD16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1B5B58-0486-33F3-CD30-95067F000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"/>
            <a:ext cx="10515600" cy="860511"/>
          </a:xfrm>
        </p:spPr>
        <p:txBody>
          <a:bodyPr>
            <a:normAutofit/>
          </a:bodyPr>
          <a:lstStyle/>
          <a:p>
            <a:r>
              <a:rPr lang="da-DK" sz="4000" b="1" dirty="0">
                <a:latin typeface="+mn-lt"/>
              </a:rPr>
              <a:t>Valg af epistemologi: valg af Logisk positivisme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77EF0E8D-7C27-B863-4A12-08B2930E5B3E}"/>
              </a:ext>
            </a:extLst>
          </p:cNvPr>
          <p:cNvSpPr txBox="1"/>
          <p:nvPr/>
        </p:nvSpPr>
        <p:spPr>
          <a:xfrm>
            <a:off x="510747" y="851748"/>
            <a:ext cx="11263097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da-DK" sz="2000" b="1" dirty="0"/>
              <a:t>Problemformulering 1: </a:t>
            </a:r>
            <a:r>
              <a:rPr lang="da-DK" sz="2000" dirty="0"/>
              <a:t>Hvordan kan Aalborg Portland ved kontinuerlig emissionsmåling opnå en samlet CO₂-udledning på maksimalt 500.000 ton i 2026?</a:t>
            </a:r>
            <a:endParaRPr lang="da-DK" sz="2000" noProof="0" dirty="0">
              <a:sym typeface="Wingdings" panose="05000000000000000000" pitchFamily="2" charset="2"/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554C9E01-6C56-9467-ABAB-44ADC9CB63B5}"/>
              </a:ext>
            </a:extLst>
          </p:cNvPr>
          <p:cNvSpPr txBox="1"/>
          <p:nvPr/>
        </p:nvSpPr>
        <p:spPr>
          <a:xfrm>
            <a:off x="510748" y="1624625"/>
            <a:ext cx="11263096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500" dirty="0"/>
              <a:t>Logisk positivisme vælges, når problemformuleringen udelukkende kan afgøres via </a:t>
            </a:r>
            <a:r>
              <a:rPr lang="da-DK" sz="2500" b="1" dirty="0"/>
              <a:t>præcise</a:t>
            </a:r>
            <a:r>
              <a:rPr lang="da-DK" sz="2500" dirty="0"/>
              <a:t>, objektive målinger foretaget med standardiseret </a:t>
            </a:r>
            <a:r>
              <a:rPr lang="da-DK" sz="2500" b="1" dirty="0"/>
              <a:t>måleudstyr</a:t>
            </a:r>
            <a:r>
              <a:rPr lang="da-DK" sz="25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500" dirty="0"/>
              <a:t>Der må ikke være behov for </a:t>
            </a:r>
            <a:r>
              <a:rPr lang="da-DK" sz="2500" b="1" dirty="0"/>
              <a:t>fortolkning</a:t>
            </a:r>
            <a:r>
              <a:rPr lang="da-DK" sz="25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500" dirty="0"/>
              <a:t>Data skal være </a:t>
            </a:r>
            <a:r>
              <a:rPr lang="da-DK" sz="2500" b="1" dirty="0"/>
              <a:t>reproducerbare</a:t>
            </a:r>
            <a:endParaRPr lang="da-DK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500" dirty="0"/>
              <a:t>Udsagnets </a:t>
            </a:r>
            <a:r>
              <a:rPr lang="da-DK" sz="2500" b="1" dirty="0"/>
              <a:t>sandhedsværdi</a:t>
            </a:r>
            <a:r>
              <a:rPr lang="da-DK" sz="2500" dirty="0"/>
              <a:t> afgøres direkte af måleresultatet.</a:t>
            </a:r>
          </a:p>
        </p:txBody>
      </p:sp>
    </p:spTree>
    <p:extLst>
      <p:ext uri="{BB962C8B-B14F-4D97-AF65-F5344CB8AC3E}">
        <p14:creationId xmlns:p14="http://schemas.microsoft.com/office/powerpoint/2010/main" val="222469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AA55A-BD8B-2AC1-6C5B-9F77E3865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0B11C8-D4A7-B179-851B-E1EACD646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"/>
            <a:ext cx="10515600" cy="860511"/>
          </a:xfrm>
        </p:spPr>
        <p:txBody>
          <a:bodyPr>
            <a:normAutofit/>
          </a:bodyPr>
          <a:lstStyle/>
          <a:p>
            <a:r>
              <a:rPr lang="da-DK" sz="4000" b="1" dirty="0">
                <a:latin typeface="+mn-lt"/>
              </a:rPr>
              <a:t>Valg af epistemologi: valg af Klassisk positivisme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6A3B7504-EFB7-42AE-49B4-11C3813897EF}"/>
              </a:ext>
            </a:extLst>
          </p:cNvPr>
          <p:cNvSpPr txBox="1"/>
          <p:nvPr/>
        </p:nvSpPr>
        <p:spPr>
          <a:xfrm>
            <a:off x="510748" y="851748"/>
            <a:ext cx="10657996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da-DK" sz="2000" b="1" dirty="0"/>
              <a:t>Problemformulering 2:</a:t>
            </a:r>
            <a:r>
              <a:rPr lang="da-DK" sz="2000" b="1" dirty="0">
                <a:solidFill>
                  <a:srgbClr val="C00000"/>
                </a:solidFill>
              </a:rPr>
              <a:t> </a:t>
            </a:r>
            <a:r>
              <a:rPr lang="da-DK" sz="2000" dirty="0"/>
              <a:t>Hvordan kan Aalborg Portland gennem implementering af situationsbestemt ledelse dokumenterbart påvirke medarbejderadfærd og organisatoriske processer på en måde, der målbar reducerer virksomhedens CO₂-udledning og sikrer kvantificerbar overholdelse af gældende CSRD- og ESG-krav?</a:t>
            </a:r>
            <a:endParaRPr lang="da-DK" sz="2000" noProof="0" dirty="0">
              <a:sym typeface="Wingdings" panose="05000000000000000000" pitchFamily="2" charset="2"/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2B6D27BE-D7A8-61C5-5EE2-F885F0E750D5}"/>
              </a:ext>
            </a:extLst>
          </p:cNvPr>
          <p:cNvSpPr txBox="1"/>
          <p:nvPr/>
        </p:nvSpPr>
        <p:spPr>
          <a:xfrm>
            <a:off x="510747" y="2288661"/>
            <a:ext cx="1126309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500" dirty="0"/>
              <a:t>Klassisk positivisme vælges, når man vil undersøge kausale sammenhænge.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500" b="1" dirty="0"/>
              <a:t>Kausalitet: </a:t>
            </a:r>
            <a:r>
              <a:rPr lang="da-DK" sz="2500" dirty="0"/>
              <a:t>find den uafhængige variabel (</a:t>
            </a:r>
            <a:r>
              <a:rPr lang="da-DK" sz="2500" b="1" dirty="0"/>
              <a:t>årsag</a:t>
            </a:r>
            <a:r>
              <a:rPr lang="da-DK" sz="2500" dirty="0"/>
              <a:t>) her ”</a:t>
            </a:r>
            <a:r>
              <a:rPr lang="da-DK" sz="2500" i="1" dirty="0">
                <a:solidFill>
                  <a:srgbClr val="0070C0"/>
                </a:solidFill>
              </a:rPr>
              <a:t>ledelsesform</a:t>
            </a:r>
            <a:r>
              <a:rPr lang="da-DK" sz="2500" dirty="0"/>
              <a:t>” og den/de afhængige variabler (</a:t>
            </a:r>
            <a:r>
              <a:rPr lang="da-DK" sz="2500" b="1" dirty="0"/>
              <a:t>effekt</a:t>
            </a:r>
            <a:r>
              <a:rPr lang="da-DK" sz="2500" dirty="0"/>
              <a:t>) her ”</a:t>
            </a:r>
            <a:r>
              <a:rPr lang="da-DK" sz="2500" i="1" dirty="0">
                <a:solidFill>
                  <a:srgbClr val="0070C0"/>
                </a:solidFill>
              </a:rPr>
              <a:t>CO₂-udledning og compliance med CSRD-krav</a:t>
            </a:r>
            <a:r>
              <a:rPr lang="da-DK" sz="2500" dirty="0"/>
              <a:t>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500" dirty="0"/>
              <a:t>Effekten skal være </a:t>
            </a:r>
            <a:r>
              <a:rPr lang="da-DK" sz="2500" b="1" dirty="0"/>
              <a:t>målbar</a:t>
            </a:r>
            <a:r>
              <a:rPr lang="da-DK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91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20535</TotalTime>
  <Words>182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Office-tema</vt:lpstr>
      <vt:lpstr>PowerPoint-præsentation</vt:lpstr>
      <vt:lpstr>Valg af epistemologi: valg af Logisk positivisme</vt:lpstr>
      <vt:lpstr>Valg af epistemologi: valg af Klassisk positivisme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Empirical Investigations  Quantitative data collection and analysis Qualitative data collection and analysis</dc:title>
  <dc:creator>Saifullah Jabbar</dc:creator>
  <cp:lastModifiedBy>Saifullah Jabbar</cp:lastModifiedBy>
  <cp:revision>197</cp:revision>
  <cp:lastPrinted>2022-09-28T05:39:08Z</cp:lastPrinted>
  <dcterms:created xsi:type="dcterms:W3CDTF">2021-09-01T14:38:29Z</dcterms:created>
  <dcterms:modified xsi:type="dcterms:W3CDTF">2026-03-02T07:21:49Z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2026-03-01T16:39:18Z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970039d4-5443-489c-a18c-0f682eddbb21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