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614" r:id="rId2"/>
    <p:sldId id="550" r:id="rId3"/>
    <p:sldId id="601" r:id="rId4"/>
    <p:sldId id="613" r:id="rId5"/>
    <p:sldId id="610" r:id="rId6"/>
    <p:sldId id="608" r:id="rId7"/>
    <p:sldId id="612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9DDD8-A547-4C70-92B5-11B4DE485A47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7805F-8154-452E-922C-AA064617FD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796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7805F-8154-452E-922C-AA064617FD10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7521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a-DK" b="0" i="1" dirty="0"/>
              <a:t>Rationalisme bygger deres a priori = viden er noget, man kan vide uden at skulle observere eller erfare noget – det er intuitivt medfødt evne</a:t>
            </a:r>
          </a:p>
          <a:p>
            <a:pPr marL="228600" indent="-228600">
              <a:buFont typeface="+mj-lt"/>
              <a:buAutoNum type="arabicPeriod"/>
            </a:pPr>
            <a:r>
              <a:rPr lang="da-DK" b="0" i="1" dirty="0"/>
              <a:t>Empirismen bygger deres a posteriori = viden er noget, man lærer gennem observation eller erfaring (vi er fødte total blanke)</a:t>
            </a:r>
          </a:p>
          <a:p>
            <a:pPr marL="228600" indent="-228600">
              <a:buFont typeface="+mj-lt"/>
              <a:buAutoNum type="arabicPeriod"/>
            </a:pPr>
            <a:r>
              <a:rPr lang="da-DK" b="0" i="1" dirty="0"/>
              <a:t>Positivismen er baseret den videnskabelig teori empirismen med syllogismen induktion, som tilgang til at opnå sand viden</a:t>
            </a:r>
          </a:p>
          <a:p>
            <a:pPr marL="228600" indent="-228600">
              <a:buFont typeface="+mj-lt"/>
              <a:buAutoNum type="arabicPeriod"/>
            </a:pPr>
            <a:r>
              <a:rPr lang="da-DK" b="0" i="1" dirty="0"/>
              <a:t>Klassisk positivisme: </a:t>
            </a:r>
            <a:r>
              <a:rPr lang="da-DK" b="0" i="1" dirty="0" err="1"/>
              <a:t>Comte’s</a:t>
            </a:r>
            <a:r>
              <a:rPr lang="da-DK" b="0" i="1" dirty="0"/>
              <a:t> tre stadier for udvikling af viden: 1) teologisk 2) metafysisk 3) positivismen - grundlæggende 2 niveauer idet 1) og 2) begge er ikke-målelige stadier!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41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D911B-579A-A618-0F20-12AC1A8D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3E81D5F-D2CC-AE08-B7B7-70AAAF629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6684E67-2E05-58B3-0D63-FDD4B8B82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A742373-8CC9-C06C-B099-5EBF2F4DE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09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D3E8-132D-1600-0A0A-45937FDB6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73793F3-A868-481F-CCB4-967631046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38F9D2C3-50F6-1AEF-8A70-70A9FE406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0C7D3F8-B575-4C22-E06E-C4D576567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49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F62E-9AFD-DEEB-26D4-CF6CAB4B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CF3C116-C773-AABB-9C54-AF3181644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16B5D94-DE18-74F5-7F67-8EBB4BE62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AB111BE-B2E4-8374-8571-120331F11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12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2482E-2FA4-9E52-002B-FEC39DE2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06669A3-8F07-B1F3-B6A8-DFF579AFF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D5282D6-3BA2-C0F0-61F2-18519777B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FBD998D-C1CA-7DFA-E39C-1498660DC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59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B7344-EA85-6A55-820B-C9049988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1863586-66F2-6878-5A6F-CF3983B93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5E21A0B-6560-6901-382D-68CC2A335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71616B7-FB47-B6AF-A7BF-C2F31A3CC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46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2FB20-77CB-8DEB-8F0F-6BF7005A4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9063E1F-1DE1-7290-04A2-3F68FFA5A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CE0CFDF-7E7F-FA56-6862-CDFDBCCE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445D66-0A45-B136-5A4D-3695034D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4550E4F-A951-79B9-D671-A65DB2D7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2383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35ED4B-7A71-4D9D-A385-62BCB2CE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B085119-D910-CA69-2020-A8946A324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791D5B5-10AF-D81B-4FFF-62765A74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487482D-C6C1-E7CC-EE2A-0DD07151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08CCC2-11A0-9EDA-D7B5-78650F11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380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8B00D-9A7D-5F09-462B-84D2F03D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D5C6E90-75BE-E650-DF9A-FE125D7F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57721CE-ABDE-3B5F-8E7E-9EFDA78D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A283598-8CDE-DE45-EE2C-FB4E25B5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12FEA7D-D3FE-2327-CE62-3C77D1CA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830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92D00-E31D-6308-0EE4-F3BB74FC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EED3EC-57AD-1F66-BD42-7CE188C37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23F914F-EDA2-A185-CDEF-A43FCE681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4A2588F-7A81-3C19-1FB8-2EA5D5A3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50DA94F-85F7-577B-D557-C94F77B8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1405E68-A6C5-6FF5-EFE1-06374A94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334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3F6E25-5F7F-EF58-DCDE-A493F9D4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BAEAD0C-552F-4C2F-26F5-31D102792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B3D8779-C538-AB22-F56D-57C904BC8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9E92490-5F1F-8F79-F0A4-7A3710309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9721721F-3286-53E5-DCDA-AC4F11EA3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E1584BD-5EEA-7A13-F744-0D3D3788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171F7A5-3981-CED2-2F9A-DCE22D9F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FCA8452-8A45-BAFD-BA24-CF45F092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819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F66E8-BD89-B378-FA09-6BE219D2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B05762E-9FF3-467A-75FB-6074E775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41A9BA5-4133-FA55-5778-92B9C652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D0CE53D-BB56-EBCB-F3AF-9B18BF2B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864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4EA7337D-0F9D-9D06-10B6-3E04F3B6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9169DAA5-2E43-8D4C-551C-731C2073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FEF904C-322D-F37E-F5C2-0851C52A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980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32386-3391-869E-832C-1B456177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4F099D-C0DF-9C9C-5EF1-13B6747DA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4B74E4F-6C95-46B0-B972-57EC87319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40FF58D-C727-301F-3BE1-89CDFFCC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6D72CDE-2F35-436F-4D2F-85B22291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8DE7E83-A6A4-B10E-5E7D-136A32B2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383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F264D-198E-D80E-5C67-0AFEB63C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02D579C-4E38-2018-B8E9-5B8BD52E1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754462F-4E35-E68F-6CB5-8C02ACF7C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E6E4AF7-B30E-6EED-DEA4-2B0BE771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56492D6-4FB5-6636-3E83-10817F8C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F9B5F5F-B118-E2CB-928B-E8A26E36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779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D7FC3-9920-3234-7E8F-0D1534C1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67CA6A5-32DE-7833-2043-F9333F353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CB71257-6049-F968-418B-106C30DB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1E24B21-2FBD-6D49-BF92-2C0485E7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6B644B0-583D-42C0-99D2-5CBFA56C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444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DF53DE2B-EEDD-E7A2-A292-D1D40D287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67F5DC3-65B2-5F4A-D1F5-32121AA95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BA1133F-3C14-A1F2-1505-0BDE689A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DFEBB94-AD80-C453-F533-4A3C82C5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26AD9A9-0B82-FFB5-360E-F8016DCE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113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2F88776B-F24D-3967-8A67-3CFDFED16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65C9AD0-DE9D-777A-514A-2748CE46C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379B639-2822-2AE3-D7AE-420BB0006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409DC-CFDE-47B7-9F1E-E57236F0971D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2ED088-5DEF-D94B-C20D-8E7E462ED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4375710-8825-E93C-81D1-B20E18190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EAA97-8E57-4155-9E8D-28E01CA72C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8205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seij@kea.d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vandfald, natur, skærmbillede, vand&#10;&#10;AI-genereret indhold kan være ukorrekt.">
            <a:extLst>
              <a:ext uri="{FF2B5EF4-FFF2-40B4-BE49-F238E27FC236}">
                <a16:creationId xmlns:a16="http://schemas.microsoft.com/office/drawing/2014/main" id="{3806E4EB-1FF7-E1A3-392F-9DCD9B296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5" t="7142" r="14780" b="799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6170B44A-55F1-4335-A1AE-18592E57DEE5}"/>
              </a:ext>
            </a:extLst>
          </p:cNvPr>
          <p:cNvSpPr txBox="1"/>
          <p:nvPr/>
        </p:nvSpPr>
        <p:spPr>
          <a:xfrm>
            <a:off x="10588250" y="5875228"/>
            <a:ext cx="1458097" cy="830997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da-DK" sz="1200" i="1" dirty="0"/>
              <a:t>Saifullah Jabbar</a:t>
            </a:r>
          </a:p>
          <a:p>
            <a:pPr algn="r"/>
            <a:r>
              <a:rPr lang="da-DK" sz="1200" i="1" dirty="0">
                <a:hlinkClick r:id="rId4"/>
              </a:rPr>
              <a:t>seij@kea.dk</a:t>
            </a:r>
            <a:endParaRPr lang="da-DK" sz="1200" i="1" dirty="0"/>
          </a:p>
          <a:p>
            <a:endParaRPr lang="da-DK" sz="1200" i="1" dirty="0"/>
          </a:p>
          <a:p>
            <a:r>
              <a:rPr lang="da-DK" sz="1200" i="1" dirty="0"/>
              <a:t>5. februar 2026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F0C7384-0831-F22A-7A79-86A6508DC41A}"/>
              </a:ext>
            </a:extLst>
          </p:cNvPr>
          <p:cNvSpPr txBox="1"/>
          <p:nvPr/>
        </p:nvSpPr>
        <p:spPr>
          <a:xfrm>
            <a:off x="4935793" y="0"/>
            <a:ext cx="2320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800" b="1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47750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kstfelt 15">
            <a:extLst>
              <a:ext uri="{FF2B5EF4-FFF2-40B4-BE49-F238E27FC236}">
                <a16:creationId xmlns:a16="http://schemas.microsoft.com/office/drawing/2014/main" id="{9550183B-F1B1-4FAD-A53A-71C767C0435D}"/>
              </a:ext>
            </a:extLst>
          </p:cNvPr>
          <p:cNvSpPr txBox="1"/>
          <p:nvPr/>
        </p:nvSpPr>
        <p:spPr>
          <a:xfrm>
            <a:off x="272343" y="196578"/>
            <a:ext cx="2281224" cy="477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500" b="1" dirty="0"/>
              <a:t>RATIONALISME</a:t>
            </a: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EFF708FC-EBFE-460C-ADA3-B0E2A141E525}"/>
              </a:ext>
            </a:extLst>
          </p:cNvPr>
          <p:cNvSpPr txBox="1"/>
          <p:nvPr/>
        </p:nvSpPr>
        <p:spPr>
          <a:xfrm>
            <a:off x="133419" y="1437948"/>
            <a:ext cx="2624915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René Descartes (1596 - 1650)</a:t>
            </a:r>
          </a:p>
          <a:p>
            <a:pPr algn="ctr"/>
            <a:r>
              <a:rPr lang="da-DK" sz="1400" b="1" dirty="0"/>
              <a:t>Baruch De Spinoza (1632 – 1677)</a:t>
            </a:r>
          </a:p>
          <a:p>
            <a:pPr algn="ctr"/>
            <a:r>
              <a:rPr lang="da-DK" sz="1400" b="1" dirty="0"/>
              <a:t>Gottfried W. L. (1646 – 1716)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C2038D72-F817-4771-9757-7986DE5A1BF6}"/>
              </a:ext>
            </a:extLst>
          </p:cNvPr>
          <p:cNvSpPr txBox="1"/>
          <p:nvPr/>
        </p:nvSpPr>
        <p:spPr>
          <a:xfrm>
            <a:off x="230406" y="930883"/>
            <a:ext cx="2357151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Viden opnås via </a:t>
            </a:r>
            <a:r>
              <a:rPr lang="da-DK" sz="1400" b="1" dirty="0">
                <a:solidFill>
                  <a:srgbClr val="FF0000"/>
                </a:solidFill>
              </a:rPr>
              <a:t>fornuft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A9337164-D761-43B9-943A-2CAF360D58F5}"/>
              </a:ext>
            </a:extLst>
          </p:cNvPr>
          <p:cNvSpPr txBox="1"/>
          <p:nvPr/>
        </p:nvSpPr>
        <p:spPr>
          <a:xfrm>
            <a:off x="230406" y="2326968"/>
            <a:ext cx="2357151" cy="7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… mennesker fødes med bestemte idéer fx med evnen til at tænke logisk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ADA9BB15-5AAD-4444-A896-3FC3F166F59E}"/>
              </a:ext>
            </a:extLst>
          </p:cNvPr>
          <p:cNvSpPr txBox="1"/>
          <p:nvPr/>
        </p:nvSpPr>
        <p:spPr>
          <a:xfrm>
            <a:off x="133419" y="3501470"/>
            <a:ext cx="2558152" cy="7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….og, at …”den eneste måde at få viden på, er gennem deduktion” (Descartes)</a:t>
            </a:r>
          </a:p>
        </p:txBody>
      </p:sp>
      <p:sp>
        <p:nvSpPr>
          <p:cNvPr id="21" name="Tekstfelt 20">
            <a:hlinkClick r:id="rId3" action="ppaction://hlinksldjump"/>
            <a:extLst>
              <a:ext uri="{FF2B5EF4-FFF2-40B4-BE49-F238E27FC236}">
                <a16:creationId xmlns:a16="http://schemas.microsoft.com/office/drawing/2014/main" id="{66BF7170-EF8D-4DB6-881A-9BCA30820EC9}"/>
              </a:ext>
            </a:extLst>
          </p:cNvPr>
          <p:cNvSpPr txBox="1"/>
          <p:nvPr/>
        </p:nvSpPr>
        <p:spPr>
          <a:xfrm>
            <a:off x="712314" y="4439326"/>
            <a:ext cx="141504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DEDUKTION</a:t>
            </a:r>
            <a:endParaRPr lang="da-DK" b="1" dirty="0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886C8E62-C4F5-4CE8-864B-F784DF290E1F}"/>
              </a:ext>
            </a:extLst>
          </p:cNvPr>
          <p:cNvSpPr txBox="1"/>
          <p:nvPr/>
        </p:nvSpPr>
        <p:spPr>
          <a:xfrm>
            <a:off x="136039" y="6123539"/>
            <a:ext cx="2521728" cy="523220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FF0000"/>
                </a:solidFill>
              </a:rPr>
              <a:t>Logisk tænkning</a:t>
            </a:r>
          </a:p>
          <a:p>
            <a:pPr algn="ctr"/>
            <a:r>
              <a:rPr lang="da-DK" sz="1400" b="1" dirty="0">
                <a:sym typeface="Wingdings" panose="05000000000000000000" pitchFamily="2" charset="2"/>
              </a:rPr>
              <a:t>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006666"/>
                </a:solidFill>
              </a:rPr>
              <a:t>Sand viden</a:t>
            </a:r>
          </a:p>
        </p:txBody>
      </p: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95B92BD7-8268-4F19-8EF9-A21CE1E54A89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1408982" y="673632"/>
            <a:ext cx="3973" cy="257251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043285A2-E3AB-4B5B-AB17-93B6CAA01FAF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1408982" y="1238660"/>
            <a:ext cx="36895" cy="199288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83E05F54-9E23-40D4-B6A1-405B952850B7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1408982" y="2176612"/>
            <a:ext cx="36895" cy="150356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F6123211-9721-4ACF-B1FC-2D0748B655C8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1408982" y="3065632"/>
            <a:ext cx="3513" cy="435838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Lige pilforbindelse 26">
            <a:extLst>
              <a:ext uri="{FF2B5EF4-FFF2-40B4-BE49-F238E27FC236}">
                <a16:creationId xmlns:a16="http://schemas.microsoft.com/office/drawing/2014/main" id="{BA4EE353-E20F-44A4-B903-7598411CAF5B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412495" y="4240134"/>
            <a:ext cx="7342" cy="199192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Pil: stribet til højre 27">
            <a:extLst>
              <a:ext uri="{FF2B5EF4-FFF2-40B4-BE49-F238E27FC236}">
                <a16:creationId xmlns:a16="http://schemas.microsoft.com/office/drawing/2014/main" id="{1C84E87D-D045-40A8-8F95-A18E697E5F70}"/>
              </a:ext>
            </a:extLst>
          </p:cNvPr>
          <p:cNvSpPr/>
          <p:nvPr/>
        </p:nvSpPr>
        <p:spPr>
          <a:xfrm rot="16200000">
            <a:off x="769219" y="5213181"/>
            <a:ext cx="1247935" cy="438887"/>
          </a:xfrm>
          <a:prstGeom prst="striped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9" name="Tekstfelt 28">
            <a:extLst>
              <a:ext uri="{FF2B5EF4-FFF2-40B4-BE49-F238E27FC236}">
                <a16:creationId xmlns:a16="http://schemas.microsoft.com/office/drawing/2014/main" id="{1FF5D4ED-FFF9-41BA-831F-E09DDA340A7F}"/>
              </a:ext>
            </a:extLst>
          </p:cNvPr>
          <p:cNvSpPr txBox="1"/>
          <p:nvPr/>
        </p:nvSpPr>
        <p:spPr>
          <a:xfrm>
            <a:off x="5304077" y="196571"/>
            <a:ext cx="3372861" cy="477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500" b="1" dirty="0"/>
              <a:t>KLASSISK POSITIVSME</a:t>
            </a:r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F54F282B-41FF-40E2-B7EA-B205D86A6CFB}"/>
              </a:ext>
            </a:extLst>
          </p:cNvPr>
          <p:cNvSpPr txBox="1"/>
          <p:nvPr/>
        </p:nvSpPr>
        <p:spPr>
          <a:xfrm>
            <a:off x="5744264" y="1521411"/>
            <a:ext cx="2521728" cy="3077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Auguste Comte (1596 - 1650)</a:t>
            </a:r>
          </a:p>
        </p:txBody>
      </p:sp>
      <p:sp>
        <p:nvSpPr>
          <p:cNvPr id="31" name="Tekstfelt 30">
            <a:extLst>
              <a:ext uri="{FF2B5EF4-FFF2-40B4-BE49-F238E27FC236}">
                <a16:creationId xmlns:a16="http://schemas.microsoft.com/office/drawing/2014/main" id="{F245E2CA-B590-44F3-BBB9-3F6BCA96487B}"/>
              </a:ext>
            </a:extLst>
          </p:cNvPr>
          <p:cNvSpPr txBox="1"/>
          <p:nvPr/>
        </p:nvSpPr>
        <p:spPr>
          <a:xfrm>
            <a:off x="5448645" y="828646"/>
            <a:ext cx="3094285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En videnskabelig teori er baseret på </a:t>
            </a:r>
            <a:r>
              <a:rPr lang="da-DK" sz="1400" b="1" dirty="0">
                <a:solidFill>
                  <a:srgbClr val="FF0000"/>
                </a:solidFill>
              </a:rPr>
              <a:t>konkrete sanseerfaringer </a:t>
            </a:r>
            <a:r>
              <a:rPr lang="da-DK" sz="1400" b="1" dirty="0"/>
              <a:t>(normativ)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52BA79BE-AF14-4DDF-B74A-9874F833C6A2}"/>
              </a:ext>
            </a:extLst>
          </p:cNvPr>
          <p:cNvSpPr txBox="1"/>
          <p:nvPr/>
        </p:nvSpPr>
        <p:spPr>
          <a:xfrm>
            <a:off x="5744264" y="1983829"/>
            <a:ext cx="2528659" cy="3077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Videnskab er </a:t>
            </a:r>
            <a:r>
              <a:rPr lang="da-DK" sz="1400" b="1" dirty="0">
                <a:solidFill>
                  <a:srgbClr val="FF0000"/>
                </a:solidFill>
              </a:rPr>
              <a:t>akkumulerende 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AA31A106-4EE8-4AC0-BCE4-66440CFBFD2B}"/>
              </a:ext>
            </a:extLst>
          </p:cNvPr>
          <p:cNvSpPr txBox="1"/>
          <p:nvPr/>
        </p:nvSpPr>
        <p:spPr>
          <a:xfrm>
            <a:off x="5746859" y="2449995"/>
            <a:ext cx="2526065" cy="11695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Videnskab er </a:t>
            </a:r>
            <a:r>
              <a:rPr lang="da-DK" sz="1400" b="1" dirty="0">
                <a:solidFill>
                  <a:srgbClr val="FF0000"/>
                </a:solidFill>
              </a:rPr>
              <a:t>Positiv</a:t>
            </a:r>
          </a:p>
          <a:p>
            <a:pPr algn="ctr"/>
            <a:r>
              <a:rPr lang="da-DK" sz="1400" b="1" dirty="0"/>
              <a:t>(</a:t>
            </a:r>
            <a:r>
              <a:rPr lang="da-DK" sz="1400" b="1" dirty="0">
                <a:solidFill>
                  <a:srgbClr val="006666"/>
                </a:solidFill>
              </a:rPr>
              <a:t>faktuel</a:t>
            </a:r>
            <a:r>
              <a:rPr lang="da-DK" sz="1400" b="1" dirty="0"/>
              <a:t> eller </a:t>
            </a:r>
            <a:r>
              <a:rPr lang="da-DK" sz="1400" b="1" dirty="0">
                <a:solidFill>
                  <a:srgbClr val="006666"/>
                </a:solidFill>
              </a:rPr>
              <a:t>konkret</a:t>
            </a:r>
            <a:r>
              <a:rPr lang="da-DK" sz="1400" b="1" dirty="0"/>
              <a:t>)</a:t>
            </a:r>
          </a:p>
          <a:p>
            <a:pPr algn="ctr"/>
            <a:r>
              <a:rPr lang="da-DK" sz="1400" b="1" dirty="0"/>
              <a:t>…handler om ..</a:t>
            </a:r>
            <a:r>
              <a:rPr lang="da-DK" sz="1400" b="1" dirty="0">
                <a:solidFill>
                  <a:srgbClr val="0000FF"/>
                </a:solidFill>
              </a:rPr>
              <a:t>forklaring</a:t>
            </a:r>
            <a:r>
              <a:rPr lang="da-DK" sz="1400" b="1" dirty="0"/>
              <a:t> og </a:t>
            </a:r>
            <a:r>
              <a:rPr lang="da-DK" sz="1400" b="1" dirty="0">
                <a:solidFill>
                  <a:srgbClr val="0000FF"/>
                </a:solidFill>
              </a:rPr>
              <a:t>forudsigelse</a:t>
            </a:r>
            <a:r>
              <a:rPr lang="da-DK" sz="1400" b="1" dirty="0"/>
              <a:t> af, hvad der sker i den sociale verden</a:t>
            </a: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D6E9EDCB-18AF-4CD5-A3B4-13D4718E299F}"/>
              </a:ext>
            </a:extLst>
          </p:cNvPr>
          <p:cNvSpPr txBox="1"/>
          <p:nvPr/>
        </p:nvSpPr>
        <p:spPr>
          <a:xfrm>
            <a:off x="6134788" y="5329560"/>
            <a:ext cx="174941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VERIFIKATION</a:t>
            </a:r>
            <a:endParaRPr lang="da-DK" b="1" dirty="0"/>
          </a:p>
        </p:txBody>
      </p:sp>
      <p:sp>
        <p:nvSpPr>
          <p:cNvPr id="35" name="Tekstfelt 34">
            <a:extLst>
              <a:ext uri="{FF2B5EF4-FFF2-40B4-BE49-F238E27FC236}">
                <a16:creationId xmlns:a16="http://schemas.microsoft.com/office/drawing/2014/main" id="{3DA4DB82-993A-48CA-B0F3-5D19E4B08207}"/>
              </a:ext>
            </a:extLst>
          </p:cNvPr>
          <p:cNvSpPr txBox="1"/>
          <p:nvPr/>
        </p:nvSpPr>
        <p:spPr>
          <a:xfrm>
            <a:off x="5733004" y="6145629"/>
            <a:ext cx="2521728" cy="523220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FF0000"/>
                </a:solidFill>
              </a:rPr>
              <a:t>Konkrete sanseerfaringer </a:t>
            </a:r>
          </a:p>
          <a:p>
            <a:pPr algn="ctr"/>
            <a:r>
              <a:rPr lang="da-DK" sz="1400" b="1" dirty="0">
                <a:sym typeface="Wingdings" panose="05000000000000000000" pitchFamily="2" charset="2"/>
              </a:rPr>
              <a:t> </a:t>
            </a:r>
            <a:r>
              <a:rPr lang="da-DK" sz="1400" b="1" dirty="0">
                <a:solidFill>
                  <a:srgbClr val="006666"/>
                </a:solidFill>
                <a:sym typeface="Wingdings" panose="05000000000000000000" pitchFamily="2" charset="2"/>
              </a:rPr>
              <a:t>Sand viden</a:t>
            </a:r>
            <a:endParaRPr lang="da-DK" sz="1400" b="1" dirty="0">
              <a:solidFill>
                <a:srgbClr val="006666"/>
              </a:solidFill>
            </a:endParaRPr>
          </a:p>
        </p:txBody>
      </p:sp>
      <p:cxnSp>
        <p:nvCxnSpPr>
          <p:cNvPr id="36" name="Lige pilforbindelse 35">
            <a:extLst>
              <a:ext uri="{FF2B5EF4-FFF2-40B4-BE49-F238E27FC236}">
                <a16:creationId xmlns:a16="http://schemas.microsoft.com/office/drawing/2014/main" id="{3B2225BE-C68D-48AB-9DC1-B2FAE765C8EB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6990508" y="673625"/>
            <a:ext cx="5280" cy="155021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Lige pilforbindelse 36">
            <a:extLst>
              <a:ext uri="{FF2B5EF4-FFF2-40B4-BE49-F238E27FC236}">
                <a16:creationId xmlns:a16="http://schemas.microsoft.com/office/drawing/2014/main" id="{27A58924-2E9C-472B-8488-F143D2F59BA6}"/>
              </a:ext>
            </a:extLst>
          </p:cNvPr>
          <p:cNvCxnSpPr>
            <a:cxnSpLocks/>
            <a:stCxn id="31" idx="2"/>
            <a:endCxn id="30" idx="0"/>
          </p:cNvCxnSpPr>
          <p:nvPr/>
        </p:nvCxnSpPr>
        <p:spPr>
          <a:xfrm>
            <a:off x="6995788" y="1351866"/>
            <a:ext cx="9340" cy="169545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Lige pilforbindelse 37">
            <a:extLst>
              <a:ext uri="{FF2B5EF4-FFF2-40B4-BE49-F238E27FC236}">
                <a16:creationId xmlns:a16="http://schemas.microsoft.com/office/drawing/2014/main" id="{A1DE40C5-10E2-4464-8941-D589D90BA1EB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7005128" y="1829188"/>
            <a:ext cx="3466" cy="154641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64DADD41-79AF-475F-B930-E6909E46B83B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7008594" y="2291606"/>
            <a:ext cx="1298" cy="158389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Pil: stribet til højre 39">
            <a:extLst>
              <a:ext uri="{FF2B5EF4-FFF2-40B4-BE49-F238E27FC236}">
                <a16:creationId xmlns:a16="http://schemas.microsoft.com/office/drawing/2014/main" id="{FE31259E-B725-4C33-AA7F-604D013553D7}"/>
              </a:ext>
            </a:extLst>
          </p:cNvPr>
          <p:cNvSpPr/>
          <p:nvPr/>
        </p:nvSpPr>
        <p:spPr>
          <a:xfrm rot="16200000">
            <a:off x="6821960" y="5666334"/>
            <a:ext cx="369333" cy="438887"/>
          </a:xfrm>
          <a:prstGeom prst="striped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54BCE090-6296-4EB5-A4B4-6E5449111CCA}"/>
              </a:ext>
            </a:extLst>
          </p:cNvPr>
          <p:cNvSpPr txBox="1"/>
          <p:nvPr/>
        </p:nvSpPr>
        <p:spPr>
          <a:xfrm>
            <a:off x="5746859" y="3730221"/>
            <a:ext cx="2526065" cy="7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…videnskab skal være </a:t>
            </a:r>
            <a:r>
              <a:rPr lang="da-DK" sz="1400" b="1" dirty="0">
                <a:solidFill>
                  <a:srgbClr val="006666"/>
                </a:solidFill>
              </a:rPr>
              <a:t>verificerbare </a:t>
            </a:r>
            <a:r>
              <a:rPr lang="da-DK" sz="1400" b="1" dirty="0"/>
              <a:t>via </a:t>
            </a:r>
            <a:r>
              <a:rPr lang="da-DK" sz="1400" b="1" dirty="0">
                <a:solidFill>
                  <a:srgbClr val="FF0000"/>
                </a:solidFill>
              </a:rPr>
              <a:t>empiriske observationer</a:t>
            </a:r>
          </a:p>
        </p:txBody>
      </p:sp>
      <p:cxnSp>
        <p:nvCxnSpPr>
          <p:cNvPr id="42" name="Lige pilforbindelse 41">
            <a:extLst>
              <a:ext uri="{FF2B5EF4-FFF2-40B4-BE49-F238E27FC236}">
                <a16:creationId xmlns:a16="http://schemas.microsoft.com/office/drawing/2014/main" id="{7555EF89-9D17-442F-85E4-C68D42C08F83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6990507" y="3619546"/>
            <a:ext cx="19385" cy="107502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Lige pilforbindelse 42">
            <a:extLst>
              <a:ext uri="{FF2B5EF4-FFF2-40B4-BE49-F238E27FC236}">
                <a16:creationId xmlns:a16="http://schemas.microsoft.com/office/drawing/2014/main" id="{A11DA854-5373-4373-9190-DCDA423B14B0}"/>
              </a:ext>
            </a:extLst>
          </p:cNvPr>
          <p:cNvCxnSpPr>
            <a:cxnSpLocks/>
            <a:stCxn id="41" idx="2"/>
            <a:endCxn id="58" idx="0"/>
          </p:cNvCxnSpPr>
          <p:nvPr/>
        </p:nvCxnSpPr>
        <p:spPr>
          <a:xfrm>
            <a:off x="7009892" y="4468885"/>
            <a:ext cx="6705" cy="150596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kstfelt 57">
            <a:extLst>
              <a:ext uri="{FF2B5EF4-FFF2-40B4-BE49-F238E27FC236}">
                <a16:creationId xmlns:a16="http://schemas.microsoft.com/office/drawing/2014/main" id="{51919D76-B5D4-4948-A8E9-ADDE4B2E8FCC}"/>
              </a:ext>
            </a:extLst>
          </p:cNvPr>
          <p:cNvSpPr txBox="1"/>
          <p:nvPr/>
        </p:nvSpPr>
        <p:spPr>
          <a:xfrm>
            <a:off x="5753564" y="4619481"/>
            <a:ext cx="252606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= </a:t>
            </a:r>
            <a:r>
              <a:rPr lang="da-DK" sz="1400" b="1" dirty="0">
                <a:solidFill>
                  <a:srgbClr val="FF0000"/>
                </a:solidFill>
              </a:rPr>
              <a:t>videnskabelige teorier er verificerbare</a:t>
            </a:r>
          </a:p>
        </p:txBody>
      </p:sp>
      <p:cxnSp>
        <p:nvCxnSpPr>
          <p:cNvPr id="61" name="Lige pilforbindelse 60">
            <a:extLst>
              <a:ext uri="{FF2B5EF4-FFF2-40B4-BE49-F238E27FC236}">
                <a16:creationId xmlns:a16="http://schemas.microsoft.com/office/drawing/2014/main" id="{376D87CD-EF80-4E6B-BB89-88E7D100AD22}"/>
              </a:ext>
            </a:extLst>
          </p:cNvPr>
          <p:cNvCxnSpPr>
            <a:cxnSpLocks/>
            <a:stCxn id="58" idx="2"/>
            <a:endCxn id="34" idx="0"/>
          </p:cNvCxnSpPr>
          <p:nvPr/>
        </p:nvCxnSpPr>
        <p:spPr>
          <a:xfrm flipH="1">
            <a:off x="7009493" y="5142701"/>
            <a:ext cx="7104" cy="186859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kstfelt 67">
            <a:extLst>
              <a:ext uri="{FF2B5EF4-FFF2-40B4-BE49-F238E27FC236}">
                <a16:creationId xmlns:a16="http://schemas.microsoft.com/office/drawing/2014/main" id="{83F5ACF4-8B51-4260-AA67-DF93F8E90B16}"/>
              </a:ext>
            </a:extLst>
          </p:cNvPr>
          <p:cNvSpPr txBox="1"/>
          <p:nvPr/>
        </p:nvSpPr>
        <p:spPr>
          <a:xfrm>
            <a:off x="8813802" y="208925"/>
            <a:ext cx="3089005" cy="477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500" b="1" dirty="0"/>
              <a:t>LOGISK POSITIVSME</a:t>
            </a:r>
          </a:p>
        </p:txBody>
      </p:sp>
      <p:sp>
        <p:nvSpPr>
          <p:cNvPr id="69" name="Tekstfelt 68">
            <a:extLst>
              <a:ext uri="{FF2B5EF4-FFF2-40B4-BE49-F238E27FC236}">
                <a16:creationId xmlns:a16="http://schemas.microsoft.com/office/drawing/2014/main" id="{D939157F-180F-4A18-9045-D579518DDC2A}"/>
              </a:ext>
            </a:extLst>
          </p:cNvPr>
          <p:cNvSpPr txBox="1"/>
          <p:nvPr/>
        </p:nvSpPr>
        <p:spPr>
          <a:xfrm>
            <a:off x="8808420" y="1929183"/>
            <a:ext cx="3096201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Rudolf Carnap (1891 – 1979)</a:t>
            </a:r>
          </a:p>
          <a:p>
            <a:pPr algn="ctr"/>
            <a:r>
              <a:rPr lang="da-DK" sz="1400" b="1" dirty="0"/>
              <a:t>Edmund Husserl (1859 – 1938)</a:t>
            </a:r>
          </a:p>
          <a:p>
            <a:pPr algn="ctr"/>
            <a:r>
              <a:rPr lang="da-DK" sz="1400" b="1" dirty="0"/>
              <a:t>Bertrand Russell (1872 – 1970)</a:t>
            </a:r>
          </a:p>
        </p:txBody>
      </p:sp>
      <p:sp>
        <p:nvSpPr>
          <p:cNvPr id="70" name="Tekstfelt 69">
            <a:extLst>
              <a:ext uri="{FF2B5EF4-FFF2-40B4-BE49-F238E27FC236}">
                <a16:creationId xmlns:a16="http://schemas.microsoft.com/office/drawing/2014/main" id="{2DA4C5DB-3347-44D9-BC2B-C6507358D652}"/>
              </a:ext>
            </a:extLst>
          </p:cNvPr>
          <p:cNvSpPr txBox="1"/>
          <p:nvPr/>
        </p:nvSpPr>
        <p:spPr>
          <a:xfrm>
            <a:off x="8813802" y="841000"/>
            <a:ext cx="3094285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Lingvistisk: </a:t>
            </a:r>
            <a:r>
              <a:rPr lang="da-DK" sz="1400" b="1" dirty="0">
                <a:solidFill>
                  <a:srgbClr val="FF0000"/>
                </a:solidFill>
              </a:rPr>
              <a:t>en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FF0000"/>
                </a:solidFill>
              </a:rPr>
              <a:t>sætning, der kan føres tilbage til simple empiriske observationer </a:t>
            </a:r>
            <a:r>
              <a:rPr lang="da-DK" sz="1400" b="1" dirty="0"/>
              <a:t>(sande/falske) og </a:t>
            </a:r>
            <a:r>
              <a:rPr lang="da-DK" sz="1400" b="1" dirty="0">
                <a:solidFill>
                  <a:srgbClr val="FF0000"/>
                </a:solidFill>
              </a:rPr>
              <a:t>verificerbare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0000FF"/>
                </a:solidFill>
              </a:rPr>
              <a:t>er meningsfulde </a:t>
            </a:r>
          </a:p>
        </p:txBody>
      </p:sp>
      <p:sp>
        <p:nvSpPr>
          <p:cNvPr id="71" name="Tekstfelt 70">
            <a:extLst>
              <a:ext uri="{FF2B5EF4-FFF2-40B4-BE49-F238E27FC236}">
                <a16:creationId xmlns:a16="http://schemas.microsoft.com/office/drawing/2014/main" id="{468A3176-12A6-49FB-8252-93881A3A4E07}"/>
              </a:ext>
            </a:extLst>
          </p:cNvPr>
          <p:cNvSpPr txBox="1"/>
          <p:nvPr/>
        </p:nvSpPr>
        <p:spPr>
          <a:xfrm>
            <a:off x="9091230" y="2871895"/>
            <a:ext cx="2528659" cy="9541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FÆNOMENALISME hører til logisk positivisme: </a:t>
            </a:r>
            <a:r>
              <a:rPr lang="da-DK" sz="1400" b="1" dirty="0">
                <a:solidFill>
                  <a:srgbClr val="FF0000"/>
                </a:solidFill>
              </a:rPr>
              <a:t>Et genstand er summen af de sanseindtryk</a:t>
            </a:r>
            <a:r>
              <a:rPr lang="da-DK" sz="1400" b="1" dirty="0">
                <a:solidFill>
                  <a:srgbClr val="006666"/>
                </a:solidFill>
              </a:rPr>
              <a:t>, man har af den</a:t>
            </a:r>
            <a:r>
              <a:rPr lang="da-DK" sz="1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3" name="Tekstfelt 72">
            <a:extLst>
              <a:ext uri="{FF2B5EF4-FFF2-40B4-BE49-F238E27FC236}">
                <a16:creationId xmlns:a16="http://schemas.microsoft.com/office/drawing/2014/main" id="{70B211E2-0982-45C0-B4CB-5CB76A1442B8}"/>
              </a:ext>
            </a:extLst>
          </p:cNvPr>
          <p:cNvSpPr txBox="1"/>
          <p:nvPr/>
        </p:nvSpPr>
        <p:spPr>
          <a:xfrm>
            <a:off x="9499945" y="5218136"/>
            <a:ext cx="174941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VERIFIKATION</a:t>
            </a:r>
            <a:endParaRPr lang="da-DK" b="1" dirty="0"/>
          </a:p>
        </p:txBody>
      </p:sp>
      <p:sp>
        <p:nvSpPr>
          <p:cNvPr id="74" name="Tekstfelt 73">
            <a:extLst>
              <a:ext uri="{FF2B5EF4-FFF2-40B4-BE49-F238E27FC236}">
                <a16:creationId xmlns:a16="http://schemas.microsoft.com/office/drawing/2014/main" id="{323D5C9C-F1F9-4EF2-A79D-06DDCA0D6E62}"/>
              </a:ext>
            </a:extLst>
          </p:cNvPr>
          <p:cNvSpPr txBox="1"/>
          <p:nvPr/>
        </p:nvSpPr>
        <p:spPr>
          <a:xfrm>
            <a:off x="9098161" y="6067365"/>
            <a:ext cx="2521728" cy="738664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FF0000"/>
                </a:solidFill>
              </a:rPr>
              <a:t>Meningskriterier + adfærdsstudier </a:t>
            </a:r>
          </a:p>
          <a:p>
            <a:pPr algn="ctr"/>
            <a:r>
              <a:rPr lang="da-DK" sz="1400" b="1" dirty="0">
                <a:sym typeface="Wingdings" panose="05000000000000000000" pitchFamily="2" charset="2"/>
              </a:rPr>
              <a:t> </a:t>
            </a:r>
            <a:r>
              <a:rPr lang="da-DK" sz="1400" b="1" dirty="0">
                <a:solidFill>
                  <a:srgbClr val="006666"/>
                </a:solidFill>
                <a:sym typeface="Wingdings" panose="05000000000000000000" pitchFamily="2" charset="2"/>
              </a:rPr>
              <a:t>Sand viden</a:t>
            </a:r>
            <a:endParaRPr lang="da-DK" sz="1400" b="1" dirty="0">
              <a:solidFill>
                <a:srgbClr val="006666"/>
              </a:solidFill>
            </a:endParaRPr>
          </a:p>
        </p:txBody>
      </p:sp>
      <p:cxnSp>
        <p:nvCxnSpPr>
          <p:cNvPr id="75" name="Lige pilforbindelse 74">
            <a:extLst>
              <a:ext uri="{FF2B5EF4-FFF2-40B4-BE49-F238E27FC236}">
                <a16:creationId xmlns:a16="http://schemas.microsoft.com/office/drawing/2014/main" id="{F36385D4-123F-4616-85DF-5BF7CC9942C3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>
            <a:off x="10358305" y="685979"/>
            <a:ext cx="2640" cy="155021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Lige pilforbindelse 75">
            <a:extLst>
              <a:ext uri="{FF2B5EF4-FFF2-40B4-BE49-F238E27FC236}">
                <a16:creationId xmlns:a16="http://schemas.microsoft.com/office/drawing/2014/main" id="{20528D64-513A-46CD-B85C-553656080EC8}"/>
              </a:ext>
            </a:extLst>
          </p:cNvPr>
          <p:cNvCxnSpPr>
            <a:cxnSpLocks/>
            <a:stCxn id="70" idx="2"/>
            <a:endCxn id="69" idx="0"/>
          </p:cNvCxnSpPr>
          <p:nvPr/>
        </p:nvCxnSpPr>
        <p:spPr>
          <a:xfrm flipH="1">
            <a:off x="10356521" y="1795107"/>
            <a:ext cx="4424" cy="134076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Lige pilforbindelse 76">
            <a:extLst>
              <a:ext uri="{FF2B5EF4-FFF2-40B4-BE49-F238E27FC236}">
                <a16:creationId xmlns:a16="http://schemas.microsoft.com/office/drawing/2014/main" id="{7F112E26-71DD-478A-B4D2-D1AF149E5A6F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 flipH="1">
            <a:off x="10355560" y="2667847"/>
            <a:ext cx="961" cy="204048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Pil: stribet til højre 78">
            <a:extLst>
              <a:ext uri="{FF2B5EF4-FFF2-40B4-BE49-F238E27FC236}">
                <a16:creationId xmlns:a16="http://schemas.microsoft.com/office/drawing/2014/main" id="{6598A40D-4C2B-4730-9F61-9958604ABD3C}"/>
              </a:ext>
            </a:extLst>
          </p:cNvPr>
          <p:cNvSpPr/>
          <p:nvPr/>
        </p:nvSpPr>
        <p:spPr>
          <a:xfrm rot="16200000">
            <a:off x="10189983" y="5622963"/>
            <a:ext cx="369333" cy="438887"/>
          </a:xfrm>
          <a:prstGeom prst="striped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0" name="Tekstfelt 79">
            <a:extLst>
              <a:ext uri="{FF2B5EF4-FFF2-40B4-BE49-F238E27FC236}">
                <a16:creationId xmlns:a16="http://schemas.microsoft.com/office/drawing/2014/main" id="{1A723450-E18C-4829-9201-632C332980BA}"/>
              </a:ext>
            </a:extLst>
          </p:cNvPr>
          <p:cNvSpPr txBox="1"/>
          <p:nvPr/>
        </p:nvSpPr>
        <p:spPr>
          <a:xfrm>
            <a:off x="9112016" y="4059374"/>
            <a:ext cx="2526065" cy="9541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BEHAVIORISME hører til logisk positivisme: </a:t>
            </a:r>
            <a:r>
              <a:rPr lang="da-DK" sz="1400" b="1" dirty="0">
                <a:solidFill>
                  <a:srgbClr val="FF0000"/>
                </a:solidFill>
              </a:rPr>
              <a:t>Studiet af menneskets adfærd, </a:t>
            </a:r>
            <a:r>
              <a:rPr lang="da-DK" sz="1400" b="1" dirty="0">
                <a:solidFill>
                  <a:srgbClr val="006666"/>
                </a:solidFill>
              </a:rPr>
              <a:t>ikke deres tanker og følelser</a:t>
            </a:r>
          </a:p>
        </p:txBody>
      </p:sp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C65DBA1E-F174-4394-B97A-BCEF36000E82}"/>
              </a:ext>
            </a:extLst>
          </p:cNvPr>
          <p:cNvCxnSpPr>
            <a:cxnSpLocks/>
            <a:stCxn id="71" idx="2"/>
            <a:endCxn id="80" idx="0"/>
          </p:cNvCxnSpPr>
          <p:nvPr/>
        </p:nvCxnSpPr>
        <p:spPr>
          <a:xfrm>
            <a:off x="10355560" y="3826002"/>
            <a:ext cx="19489" cy="233372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Lige pilforbindelse 81">
            <a:extLst>
              <a:ext uri="{FF2B5EF4-FFF2-40B4-BE49-F238E27FC236}">
                <a16:creationId xmlns:a16="http://schemas.microsoft.com/office/drawing/2014/main" id="{0D07D163-788C-4968-AC19-49DA4D63A5FB}"/>
              </a:ext>
            </a:extLst>
          </p:cNvPr>
          <p:cNvCxnSpPr>
            <a:cxnSpLocks/>
            <a:stCxn id="80" idx="2"/>
            <a:endCxn id="73" idx="0"/>
          </p:cNvCxnSpPr>
          <p:nvPr/>
        </p:nvCxnSpPr>
        <p:spPr>
          <a:xfrm flipH="1">
            <a:off x="10374650" y="5013481"/>
            <a:ext cx="399" cy="204655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kstfelt 1">
            <a:extLst>
              <a:ext uri="{FF2B5EF4-FFF2-40B4-BE49-F238E27FC236}">
                <a16:creationId xmlns:a16="http://schemas.microsoft.com/office/drawing/2014/main" id="{6C258350-27BF-0D4C-8855-5C05E72B0E9D}"/>
              </a:ext>
            </a:extLst>
          </p:cNvPr>
          <p:cNvSpPr txBox="1"/>
          <p:nvPr/>
        </p:nvSpPr>
        <p:spPr>
          <a:xfrm>
            <a:off x="3110561" y="174484"/>
            <a:ext cx="2011403" cy="477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500" b="1" dirty="0"/>
              <a:t>EMPIRICISME</a:t>
            </a:r>
          </a:p>
        </p:txBody>
      </p:sp>
      <p:sp>
        <p:nvSpPr>
          <p:cNvPr id="44" name="Tekstfelt 43">
            <a:extLst>
              <a:ext uri="{FF2B5EF4-FFF2-40B4-BE49-F238E27FC236}">
                <a16:creationId xmlns:a16="http://schemas.microsoft.com/office/drawing/2014/main" id="{B18A68AA-225B-B180-CD84-427E12DEC3DE}"/>
              </a:ext>
            </a:extLst>
          </p:cNvPr>
          <p:cNvSpPr txBox="1"/>
          <p:nvPr/>
        </p:nvSpPr>
        <p:spPr>
          <a:xfrm>
            <a:off x="2937024" y="908784"/>
            <a:ext cx="2357151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Viden opnås via </a:t>
            </a:r>
            <a:r>
              <a:rPr lang="da-DK" sz="1400" b="1" dirty="0">
                <a:solidFill>
                  <a:srgbClr val="FF0000"/>
                </a:solidFill>
              </a:rPr>
              <a:t>sanseapparatet</a:t>
            </a:r>
          </a:p>
        </p:txBody>
      </p:sp>
      <p:sp>
        <p:nvSpPr>
          <p:cNvPr id="45" name="Tekstfelt 44">
            <a:extLst>
              <a:ext uri="{FF2B5EF4-FFF2-40B4-BE49-F238E27FC236}">
                <a16:creationId xmlns:a16="http://schemas.microsoft.com/office/drawing/2014/main" id="{1F876F8F-41DB-E911-9114-69341BC10790}"/>
              </a:ext>
            </a:extLst>
          </p:cNvPr>
          <p:cNvSpPr txBox="1"/>
          <p:nvPr/>
        </p:nvSpPr>
        <p:spPr>
          <a:xfrm>
            <a:off x="2923166" y="2588174"/>
            <a:ext cx="2357151" cy="7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…vi er født, som et  blankt stykke papir dvs. uden nogen idéer eller koncepter!</a:t>
            </a:r>
          </a:p>
        </p:txBody>
      </p:sp>
      <p:sp>
        <p:nvSpPr>
          <p:cNvPr id="46" name="Tekstfelt 45">
            <a:hlinkClick r:id="rId4" action="ppaction://hlinksldjump"/>
            <a:extLst>
              <a:ext uri="{FF2B5EF4-FFF2-40B4-BE49-F238E27FC236}">
                <a16:creationId xmlns:a16="http://schemas.microsoft.com/office/drawing/2014/main" id="{76655F4B-563D-D8AE-81CC-F775F0C8B8CB}"/>
              </a:ext>
            </a:extLst>
          </p:cNvPr>
          <p:cNvSpPr txBox="1"/>
          <p:nvPr/>
        </p:nvSpPr>
        <p:spPr>
          <a:xfrm>
            <a:off x="3394218" y="4599001"/>
            <a:ext cx="1415046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INDUKTION</a:t>
            </a:r>
            <a:endParaRPr lang="da-DK" sz="1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7" name="Tekstfelt 46">
            <a:extLst>
              <a:ext uri="{FF2B5EF4-FFF2-40B4-BE49-F238E27FC236}">
                <a16:creationId xmlns:a16="http://schemas.microsoft.com/office/drawing/2014/main" id="{731B51A6-5E7E-85A6-1205-42A98B0319AF}"/>
              </a:ext>
            </a:extLst>
          </p:cNvPr>
          <p:cNvSpPr txBox="1"/>
          <p:nvPr/>
        </p:nvSpPr>
        <p:spPr>
          <a:xfrm>
            <a:off x="2826182" y="6123540"/>
            <a:ext cx="2521728" cy="523220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FF0000"/>
                </a:solidFill>
              </a:rPr>
              <a:t>Sansemæssig erfaringer</a:t>
            </a:r>
          </a:p>
          <a:p>
            <a:pPr algn="ctr"/>
            <a:r>
              <a:rPr lang="da-DK" sz="1400" b="1" dirty="0">
                <a:sym typeface="Wingdings" panose="05000000000000000000" pitchFamily="2" charset="2"/>
              </a:rPr>
              <a:t> </a:t>
            </a:r>
            <a:r>
              <a:rPr lang="da-DK" sz="1400" b="1" dirty="0">
                <a:solidFill>
                  <a:srgbClr val="006666"/>
                </a:solidFill>
                <a:sym typeface="Wingdings" panose="05000000000000000000" pitchFamily="2" charset="2"/>
              </a:rPr>
              <a:t>Sand viden</a:t>
            </a:r>
            <a:endParaRPr lang="da-DK" sz="1400" b="1" dirty="0">
              <a:solidFill>
                <a:srgbClr val="006666"/>
              </a:solidFill>
            </a:endParaRPr>
          </a:p>
        </p:txBody>
      </p:sp>
      <p:cxnSp>
        <p:nvCxnSpPr>
          <p:cNvPr id="48" name="Lige pilforbindelse 47">
            <a:extLst>
              <a:ext uri="{FF2B5EF4-FFF2-40B4-BE49-F238E27FC236}">
                <a16:creationId xmlns:a16="http://schemas.microsoft.com/office/drawing/2014/main" id="{9C86D8A9-5E2B-7FC2-46E6-BBC8BE605933}"/>
              </a:ext>
            </a:extLst>
          </p:cNvPr>
          <p:cNvCxnSpPr>
            <a:cxnSpLocks/>
            <a:stCxn id="2" idx="2"/>
            <a:endCxn id="44" idx="0"/>
          </p:cNvCxnSpPr>
          <p:nvPr/>
        </p:nvCxnSpPr>
        <p:spPr>
          <a:xfrm flipH="1">
            <a:off x="4115600" y="651538"/>
            <a:ext cx="663" cy="257246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Lige pilforbindelse 48">
            <a:extLst>
              <a:ext uri="{FF2B5EF4-FFF2-40B4-BE49-F238E27FC236}">
                <a16:creationId xmlns:a16="http://schemas.microsoft.com/office/drawing/2014/main" id="{9BE36C36-9674-B854-9152-0A0742455CA9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4105238" y="1432004"/>
            <a:ext cx="10362" cy="299895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BDB2E367-E91D-D194-0882-FDBFB395641F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4101742" y="2305894"/>
            <a:ext cx="3496" cy="28228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Lige pilforbindelse 50">
            <a:extLst>
              <a:ext uri="{FF2B5EF4-FFF2-40B4-BE49-F238E27FC236}">
                <a16:creationId xmlns:a16="http://schemas.microsoft.com/office/drawing/2014/main" id="{D75BF8E2-324E-4659-74EC-40B115D9BBB0}"/>
              </a:ext>
            </a:extLst>
          </p:cNvPr>
          <p:cNvCxnSpPr>
            <a:cxnSpLocks/>
            <a:stCxn id="45" idx="2"/>
            <a:endCxn id="55" idx="0"/>
          </p:cNvCxnSpPr>
          <p:nvPr/>
        </p:nvCxnSpPr>
        <p:spPr>
          <a:xfrm>
            <a:off x="4101742" y="3326838"/>
            <a:ext cx="12905" cy="254488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Lige pilforbindelse 51">
            <a:extLst>
              <a:ext uri="{FF2B5EF4-FFF2-40B4-BE49-F238E27FC236}">
                <a16:creationId xmlns:a16="http://schemas.microsoft.com/office/drawing/2014/main" id="{9FBF0B40-05BE-4CB5-13BD-CCB361E25B0C}"/>
              </a:ext>
            </a:extLst>
          </p:cNvPr>
          <p:cNvCxnSpPr>
            <a:cxnSpLocks/>
          </p:cNvCxnSpPr>
          <p:nvPr/>
        </p:nvCxnSpPr>
        <p:spPr>
          <a:xfrm flipH="1">
            <a:off x="4113318" y="4250203"/>
            <a:ext cx="1329" cy="264819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Pil: stribet til højre 52">
            <a:extLst>
              <a:ext uri="{FF2B5EF4-FFF2-40B4-BE49-F238E27FC236}">
                <a16:creationId xmlns:a16="http://schemas.microsoft.com/office/drawing/2014/main" id="{F0D3A3AA-3A32-A889-FABC-10FDFEA85E05}"/>
              </a:ext>
            </a:extLst>
          </p:cNvPr>
          <p:cNvSpPr/>
          <p:nvPr/>
        </p:nvSpPr>
        <p:spPr>
          <a:xfrm rot="16200000">
            <a:off x="3572115" y="5245801"/>
            <a:ext cx="1055381" cy="438887"/>
          </a:xfrm>
          <a:prstGeom prst="striped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54D41C23-A8F7-0234-2D74-981C8CB2E57B}"/>
              </a:ext>
            </a:extLst>
          </p:cNvPr>
          <p:cNvSpPr txBox="1"/>
          <p:nvPr/>
        </p:nvSpPr>
        <p:spPr>
          <a:xfrm>
            <a:off x="2832801" y="1708749"/>
            <a:ext cx="2521728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John Locke (1632 - 1704)</a:t>
            </a:r>
          </a:p>
          <a:p>
            <a:pPr algn="ctr"/>
            <a:r>
              <a:rPr lang="da-DK" sz="1400" b="1" dirty="0"/>
              <a:t>George Berkeley (1685 – 1753)</a:t>
            </a:r>
          </a:p>
          <a:p>
            <a:pPr algn="ctr"/>
            <a:r>
              <a:rPr lang="da-DK" sz="1400" b="1" dirty="0"/>
              <a:t>David Hume (1712 – 1784)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D91F5EFB-9AEE-46B5-E0F6-FDE1D987A377}"/>
              </a:ext>
            </a:extLst>
          </p:cNvPr>
          <p:cNvSpPr txBox="1"/>
          <p:nvPr/>
        </p:nvSpPr>
        <p:spPr>
          <a:xfrm>
            <a:off x="2851614" y="3581326"/>
            <a:ext cx="2526065" cy="7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/>
              <a:t>… og, at viden udledes fra vores sansemæssige erfaring af virkelighed …</a:t>
            </a:r>
          </a:p>
        </p:txBody>
      </p:sp>
    </p:spTree>
    <p:extLst>
      <p:ext uri="{BB962C8B-B14F-4D97-AF65-F5344CB8AC3E}">
        <p14:creationId xmlns:p14="http://schemas.microsoft.com/office/powerpoint/2010/main" val="421463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0" grpId="0" animBg="1"/>
      <p:bldP spid="41" grpId="0" animBg="1"/>
      <p:bldP spid="58" grpId="0" animBg="1"/>
      <p:bldP spid="68" grpId="0" animBg="1"/>
      <p:bldP spid="69" grpId="0" animBg="1"/>
      <p:bldP spid="70" grpId="0" animBg="1"/>
      <p:bldP spid="71" grpId="0" animBg="1"/>
      <p:bldP spid="73" grpId="0" animBg="1"/>
      <p:bldP spid="74" grpId="0" animBg="1"/>
      <p:bldP spid="79" grpId="0" animBg="1"/>
      <p:bldP spid="80" grpId="0" animBg="1"/>
      <p:bldP spid="2" grpId="0" animBg="1"/>
      <p:bldP spid="44" grpId="0" animBg="1"/>
      <p:bldP spid="45" grpId="0" animBg="1"/>
      <p:bldP spid="46" grpId="0" animBg="1"/>
      <p:bldP spid="47" grpId="0" animBg="1"/>
      <p:bldP spid="53" grpId="0" animBg="1"/>
      <p:bldP spid="54" grpId="0" animBg="1"/>
      <p:bldP spid="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F879-7AEE-9AD7-B476-EAB0C084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14CC2-2F04-0BD4-7254-0C25E09D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00"/>
            <a:ext cx="12192000" cy="860511"/>
          </a:xfrm>
        </p:spPr>
        <p:txBody>
          <a:bodyPr>
            <a:normAutofit/>
          </a:bodyPr>
          <a:lstStyle/>
          <a:p>
            <a:pPr algn="ctr"/>
            <a:r>
              <a:rPr lang="da-DK" b="1" noProof="0" dirty="0">
                <a:latin typeface="+mn-lt"/>
              </a:rPr>
              <a:t>Syllogismer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5A96BE04-2786-E295-B1E8-AF259EA98AF4}"/>
              </a:ext>
            </a:extLst>
          </p:cNvPr>
          <p:cNvSpPr txBox="1"/>
          <p:nvPr/>
        </p:nvSpPr>
        <p:spPr>
          <a:xfrm>
            <a:off x="86866" y="6413176"/>
            <a:ext cx="17957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/>
              <a:t>(Holm, 2021)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5C4DC372-A01C-669C-3CCF-6C8463E6BF64}"/>
              </a:ext>
            </a:extLst>
          </p:cNvPr>
          <p:cNvSpPr txBox="1">
            <a:spLocks/>
          </p:cNvSpPr>
          <p:nvPr/>
        </p:nvSpPr>
        <p:spPr>
          <a:xfrm>
            <a:off x="6492241" y="873211"/>
            <a:ext cx="5212080" cy="54670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da-DK" sz="2500" b="1" dirty="0"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da-DK" sz="2500" b="1" dirty="0"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da-DK" sz="2500" b="1" dirty="0"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da-DK" sz="2500" b="1" dirty="0"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500" b="1" dirty="0">
                <a:cs typeface="Times New Roman" panose="02020603050405020304" pitchFamily="18" charset="0"/>
              </a:rPr>
              <a:t>Induktionsprocessen – der bevæger sig fra enkelte dele til helhed hører under a posteriori!</a:t>
            </a:r>
            <a:endParaRPr lang="da-DK" sz="2500" i="1" noProof="0" dirty="0">
              <a:cs typeface="Times New Roman" panose="02020603050405020304" pitchFamily="18" charset="0"/>
            </a:endParaRP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2456679F-AE00-228F-2855-0674B1DED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" t="5922" b="3892"/>
          <a:stretch/>
        </p:blipFill>
        <p:spPr>
          <a:xfrm>
            <a:off x="358048" y="873211"/>
            <a:ext cx="5944715" cy="409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1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C13C-BA51-DEA9-F175-ADBE04A4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383DF-D950-89BF-C04B-35BCFC86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00"/>
            <a:ext cx="12192000" cy="860511"/>
          </a:xfrm>
        </p:spPr>
        <p:txBody>
          <a:bodyPr>
            <a:normAutofit/>
          </a:bodyPr>
          <a:lstStyle/>
          <a:p>
            <a:pPr algn="ctr"/>
            <a:r>
              <a:rPr lang="da-DK" sz="3800" b="1" noProof="0" dirty="0">
                <a:latin typeface="+mn-lt"/>
              </a:rPr>
              <a:t>Research-diagram</a:t>
            </a:r>
            <a:endParaRPr lang="da-DK" sz="3800" b="1" noProof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F6B4857D-5C35-165A-BAA8-93C9F4713AFD}"/>
              </a:ext>
            </a:extLst>
          </p:cNvPr>
          <p:cNvSpPr txBox="1">
            <a:spLocks/>
          </p:cNvSpPr>
          <p:nvPr/>
        </p:nvSpPr>
        <p:spPr>
          <a:xfrm>
            <a:off x="258856" y="873211"/>
            <a:ext cx="11617833" cy="54670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Hvad er forudsætning for valg af ontologisk ståsted – Purisme, </a:t>
            </a:r>
            <a:r>
              <a:rPr lang="da-DK" sz="2100" b="1" dirty="0" err="1">
                <a:cs typeface="Times New Roman" panose="02020603050405020304" pitchFamily="18" charset="0"/>
              </a:rPr>
              <a:t>situationalisme</a:t>
            </a:r>
            <a:r>
              <a:rPr lang="da-DK" sz="2100" b="1" dirty="0">
                <a:cs typeface="Times New Roman" panose="02020603050405020304" pitchFamily="18" charset="0"/>
              </a:rPr>
              <a:t> eller pragmatisme?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1700" b="1" dirty="0">
                <a:solidFill>
                  <a:srgbClr val="C00000"/>
                </a:solidFill>
                <a:cs typeface="Times New Roman" panose="02020603050405020304" pitchFamily="18" charset="0"/>
              </a:rPr>
              <a:t>Problemformulering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noProof="0" dirty="0">
                <a:cs typeface="Times New Roman" panose="02020603050405020304" pitchFamily="18" charset="0"/>
              </a:rPr>
              <a:t>Hvad er grundlaget for valg af epistemologi?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1700" b="1" dirty="0">
                <a:solidFill>
                  <a:srgbClr val="C00000"/>
                </a:solidFill>
                <a:cs typeface="Times New Roman" panose="02020603050405020304" pitchFamily="18" charset="0"/>
              </a:rPr>
              <a:t>Problemformulering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noProof="0" dirty="0">
                <a:cs typeface="Times New Roman" panose="02020603050405020304" pitchFamily="18" charset="0"/>
              </a:rPr>
              <a:t>Hvad kaldes de tre undersøgelsestilgange?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1700" b="1" dirty="0">
                <a:solidFill>
                  <a:srgbClr val="C00000"/>
                </a:solidFill>
                <a:cs typeface="Times New Roman" panose="02020603050405020304" pitchFamily="18" charset="0"/>
              </a:rPr>
              <a:t>Det er de tre syllogismer: Induktion, Deduktion og Abduktion (logiske processer)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noProof="0" dirty="0">
                <a:cs typeface="Times New Roman" panose="02020603050405020304" pitchFamily="18" charset="0"/>
              </a:rPr>
              <a:t>Hvad  er syllogisme og hvad består den af?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1700" b="1" dirty="0">
                <a:solidFill>
                  <a:srgbClr val="C00000"/>
                </a:solidFill>
                <a:cs typeface="Times New Roman" panose="02020603050405020304" pitchFamily="18" charset="0"/>
              </a:rPr>
              <a:t>Logisk proces til at opnå sand viden – de består af 2 præmisser, som er grundlaget for at drage en logisk konklusion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noProof="0" dirty="0">
                <a:cs typeface="Times New Roman" panose="02020603050405020304" pitchFamily="18" charset="0"/>
              </a:rPr>
              <a:t>Hvilke to metodiske tilgange har I lært sidste gang?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1700" b="1" noProof="0" dirty="0">
                <a:solidFill>
                  <a:srgbClr val="C00000"/>
                </a:solidFill>
                <a:cs typeface="Times New Roman" panose="02020603050405020304" pitchFamily="18" charset="0"/>
              </a:rPr>
              <a:t>Udforskende: </a:t>
            </a:r>
            <a:r>
              <a:rPr lang="da-DK" sz="1700" b="1" noProof="0" dirty="0">
                <a:cs typeface="Times New Roman" panose="02020603050405020304" pitchFamily="18" charset="0"/>
              </a:rPr>
              <a:t>Den sekventielle udforskende: Start kvalitativt </a:t>
            </a:r>
            <a:r>
              <a:rPr lang="da-DK" sz="1700" b="1" noProof="0" dirty="0">
                <a:cs typeface="Times New Roman" panose="02020603050405020304" pitchFamily="18" charset="0"/>
                <a:sym typeface="Wingdings" panose="05000000000000000000" pitchFamily="2" charset="2"/>
              </a:rPr>
              <a:t> Kvantitativt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1700" b="1" dirty="0">
                <a:solidFill>
                  <a:srgbClr val="C00000"/>
                </a:solidFill>
                <a:cs typeface="Times New Roman" panose="02020603050405020304" pitchFamily="18" charset="0"/>
              </a:rPr>
              <a:t>Forklarende: </a:t>
            </a:r>
            <a:r>
              <a:rPr lang="da-DK" sz="1700" b="1" dirty="0">
                <a:cs typeface="Times New Roman" panose="02020603050405020304" pitchFamily="18" charset="0"/>
              </a:rPr>
              <a:t>Den sekventielle forklarende: Start </a:t>
            </a:r>
            <a:r>
              <a:rPr lang="da-DK" sz="1700" b="1" dirty="0">
                <a:cs typeface="Times New Roman" panose="02020603050405020304" pitchFamily="18" charset="0"/>
                <a:sym typeface="Wingdings" panose="05000000000000000000" pitchFamily="2" charset="2"/>
              </a:rPr>
              <a:t>Kvantitativt  </a:t>
            </a:r>
            <a:r>
              <a:rPr lang="da-DK" sz="1700" b="1" dirty="0">
                <a:cs typeface="Times New Roman" panose="02020603050405020304" pitchFamily="18" charset="0"/>
              </a:rPr>
              <a:t>kvalitativt</a:t>
            </a:r>
            <a:endParaRPr lang="da-DK" sz="1700" b="1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da-DK" sz="1700" b="1" noProof="0" dirty="0">
              <a:solidFill>
                <a:srgbClr val="00B0F0"/>
              </a:solidFill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da-DK" sz="2100" b="1" noProof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1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84DF-0705-DFEF-D6E6-EE428FB5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CEBAD-33CF-1FFB-73CE-9D77A158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00"/>
            <a:ext cx="12192000" cy="860511"/>
          </a:xfrm>
        </p:spPr>
        <p:txBody>
          <a:bodyPr>
            <a:normAutofit/>
          </a:bodyPr>
          <a:lstStyle/>
          <a:p>
            <a:pPr algn="ctr"/>
            <a:r>
              <a:rPr lang="da-DK" sz="3800" b="1" noProof="0" dirty="0">
                <a:latin typeface="+mn-lt"/>
              </a:rPr>
              <a:t>10 hurtige på 10 minutter</a:t>
            </a:r>
            <a:endParaRPr lang="da-DK" sz="3800" b="1" noProof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A1FC49A1-5088-DB7D-734D-8C586A19B824}"/>
              </a:ext>
            </a:extLst>
          </p:cNvPr>
          <p:cNvSpPr txBox="1">
            <a:spLocks/>
          </p:cNvSpPr>
          <p:nvPr/>
        </p:nvSpPr>
        <p:spPr>
          <a:xfrm>
            <a:off x="258856" y="873211"/>
            <a:ext cx="11617833" cy="54670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Hvorfor kan klassisk positivisme ikke kombineres nominalistisk ontologi?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Forklar præcist, hvorfor induktion metodisk hører under a posteriori-viden og ikke a priori-viden.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Hvilken af de 3 syllogismer indebærer størst usikkerhed og hvorfor?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Hvordan adskiller John Lockes og George Berkeleys syn på perception sig fundamentalt?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Hvad er David Humes grundlæggende kritik af induktion?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Hvilken berømt rationalistisk filosof havde mantraet "Cogito, ergo sum" og hvad betyder det?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Hvordan adskiller klassisk positivisme sig fra logisk positivisme?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Hvordan retfærdiggøre min sit ontologiske valg?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Hvilken epistemologisk retning knytter sig til fortolkning af menneskers oplevelser?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Hvor på det ontologiske kontinuum placeres realisme og relativisme?</a:t>
            </a:r>
            <a:endParaRPr lang="da-DK" sz="2100" b="1" noProof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76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36797-0FA6-885F-692F-07A19054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078EFA-98A6-59C8-82DA-199E3136F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00"/>
            <a:ext cx="12192000" cy="860511"/>
          </a:xfrm>
        </p:spPr>
        <p:txBody>
          <a:bodyPr>
            <a:normAutofit/>
          </a:bodyPr>
          <a:lstStyle/>
          <a:p>
            <a:pPr algn="ctr"/>
            <a:r>
              <a:rPr lang="da-DK" sz="3800" b="1" noProof="0" dirty="0">
                <a:latin typeface="+mn-lt"/>
              </a:rPr>
              <a:t>Fem hurtige på fem minutter</a:t>
            </a:r>
            <a:endParaRPr lang="da-DK" sz="3800" b="1" noProof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07A6E349-097B-C70F-95A0-B28D870622BC}"/>
              </a:ext>
            </a:extLst>
          </p:cNvPr>
          <p:cNvSpPr txBox="1">
            <a:spLocks/>
          </p:cNvSpPr>
          <p:nvPr/>
        </p:nvSpPr>
        <p:spPr>
          <a:xfrm>
            <a:off x="258856" y="873211"/>
            <a:ext cx="11617833" cy="54670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Hvorfor kan klassisk positivisme ikke kombineres nominalistisk ontologi?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Inkonsistens mellem ontologi og epistemologi idet nominalismen antager virkelighed ud fra social konstruktion.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Forklar præcist, hvorfor induktion metodisk hører under a posteriori-viden og ikke a priori-viden.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Fordi induktion bygger på sanseerfaring og a priori-viden er uafhængig af sanseerfaring!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Hvilken af de 3 syllogismer indebærer størst usikkerhed og hvorfor?</a:t>
            </a: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Abduktion er mest usikker, fordi konklusionen kun er den mest sandsynlige forklaring.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Hvordan adskiller John Lockes og George Berkeleys syn på perception sig fundamentalt?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Locke opererer med både objektive og subjektive kvaliteter mens George kun opererer med subjektiv syn.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a-DK" sz="2100" b="1" dirty="0">
                <a:cs typeface="Times New Roman" panose="02020603050405020304" pitchFamily="18" charset="0"/>
              </a:rPr>
              <a:t>Hvad er David Humes grundlæggende kritik af induktion?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Induktion forudsætter, uden rationel begrundelse, at fremtiden ligner fortiden</a:t>
            </a:r>
            <a:endParaRPr lang="da-DK" sz="2100" b="1" i="1" noProof="0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42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D4FC-12C2-3783-AE68-E79538A1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BADE01-4A39-0B98-1F5E-8E58ECEE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00"/>
            <a:ext cx="12192000" cy="860511"/>
          </a:xfrm>
        </p:spPr>
        <p:txBody>
          <a:bodyPr>
            <a:normAutofit/>
          </a:bodyPr>
          <a:lstStyle/>
          <a:p>
            <a:pPr algn="ctr"/>
            <a:r>
              <a:rPr lang="da-DK" sz="3800" b="1" noProof="0" dirty="0">
                <a:latin typeface="+mn-lt"/>
              </a:rPr>
              <a:t>Fem hurtige på fem minutter</a:t>
            </a:r>
            <a:endParaRPr lang="da-DK" sz="3800" b="1" noProof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E21DDA3D-B500-76A1-E4AC-96FFE1D02579}"/>
              </a:ext>
            </a:extLst>
          </p:cNvPr>
          <p:cNvSpPr txBox="1">
            <a:spLocks/>
          </p:cNvSpPr>
          <p:nvPr/>
        </p:nvSpPr>
        <p:spPr>
          <a:xfrm>
            <a:off x="258856" y="873211"/>
            <a:ext cx="11617833" cy="546709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da-DK" sz="2100" b="1" dirty="0">
                <a:cs typeface="Times New Roman" panose="02020603050405020304" pitchFamily="18" charset="0"/>
              </a:rPr>
              <a:t>Hvilken berømt rationalistisk filosof havde mantraet "Cogito, ergo sum" og hvad betyder det?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René Descartes. (Jeg tænker, derfor er jeg.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da-DK" sz="2100" b="1" dirty="0">
                <a:cs typeface="Times New Roman" panose="02020603050405020304" pitchFamily="18" charset="0"/>
              </a:rPr>
              <a:t>Hvordan adskiller klassisk positivisme sig fra logisk positivisme?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Klassisk positivisme er bredere og mindre kritisk, mens logisk positivisme insisterer på streng empirisk verificering og logisk analyse.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da-DK" sz="2100" b="1" dirty="0">
                <a:cs typeface="Times New Roman" panose="02020603050405020304" pitchFamily="18" charset="0"/>
              </a:rPr>
              <a:t>Hvordan retfærdiggøre man sit ontologiske valg?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Det gøres ud fra problemformuleringen!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da-DK" sz="2100" b="1" dirty="0">
                <a:cs typeface="Times New Roman" panose="02020603050405020304" pitchFamily="18" charset="0"/>
              </a:rPr>
              <a:t>Hvilken epistemologisk retning knytter sig til fortolkning af menneskers oplevelser?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Fortolkende epistemologi.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da-DK" sz="2100" b="1" dirty="0">
                <a:cs typeface="Times New Roman" panose="02020603050405020304" pitchFamily="18" charset="0"/>
              </a:rPr>
              <a:t>Hvor på det ontologiske kontinuum placeres realisme og relativisme? 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a-DK" sz="2100" i="1" dirty="0">
                <a:solidFill>
                  <a:srgbClr val="0000FF"/>
                </a:solidFill>
                <a:cs typeface="Times New Roman" panose="02020603050405020304" pitchFamily="18" charset="0"/>
              </a:rPr>
              <a:t>Realisme = objektivistisk yderpunkt, Relativisme = subjektivistisk yderpunkt</a:t>
            </a:r>
            <a:endParaRPr lang="da-DK" sz="2100" i="1" noProof="0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16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2643</TotalTime>
  <Words>889</Words>
  <Application>Microsoft Office PowerPoint</Application>
  <PresentationFormat>Widescreen</PresentationFormat>
  <Paragraphs>110</Paragraphs>
  <Slides>7</Slides>
  <Notes>7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4" baseType="lpstr">
      <vt:lpstr>Aharoni</vt:lpstr>
      <vt:lpstr>Arial</vt:lpstr>
      <vt:lpstr>Calibri</vt:lpstr>
      <vt:lpstr>Calibri Light</vt:lpstr>
      <vt:lpstr>Times New Roman</vt:lpstr>
      <vt:lpstr>Wingdings</vt:lpstr>
      <vt:lpstr>Office-tema</vt:lpstr>
      <vt:lpstr>PowerPoint-præsentation</vt:lpstr>
      <vt:lpstr>PowerPoint-præsentation</vt:lpstr>
      <vt:lpstr>Syllogismer</vt:lpstr>
      <vt:lpstr>Research-diagram</vt:lpstr>
      <vt:lpstr>10 hurtige på 10 minutter</vt:lpstr>
      <vt:lpstr>Fem hurtige på fem minutter</vt:lpstr>
      <vt:lpstr>Fem hurtige på fem minutter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Saifullah Jabbar</dc:creator>
  <cp:lastModifiedBy>Saifullah Jabbar</cp:lastModifiedBy>
  <cp:revision>14</cp:revision>
  <dcterms:created xsi:type="dcterms:W3CDTF">2025-09-07T08:06:49Z</dcterms:created>
  <dcterms:modified xsi:type="dcterms:W3CDTF">2026-02-06T09:55:03Z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2025-09-08T06:14:23Z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64d92c81-9373-49ba-9c6e-33722dd32f50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