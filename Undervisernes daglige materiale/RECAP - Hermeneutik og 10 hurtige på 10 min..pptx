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557" r:id="rId2"/>
    <p:sldId id="501" r:id="rId3"/>
    <p:sldId id="596" r:id="rId4"/>
    <p:sldId id="597" r:id="rId5"/>
    <p:sldId id="600" r:id="rId6"/>
    <p:sldId id="601" r:id="rId7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6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7AD792-846B-4292-B477-09885B82B7BE}" type="datetimeFigureOut">
              <a:rPr lang="da-DK" smtClean="0"/>
              <a:t>15-02-2026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96D249-554A-46B8-A5D3-B2D9FD2514D8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63685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20290F-6FB2-4B98-9C20-10E3E6C33B9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5784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20290F-6FB2-4B98-9C20-10E3E6C33B9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8146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A9F7F-37C7-D9FA-6061-C0FCF4FDB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9D69CB06-2EAD-8CFB-7161-5350B922D9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81532924-3988-163A-84F2-655538C820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5891F8D5-44AB-98C2-DFEB-AA1F4A8EC4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20290F-6FB2-4B98-9C20-10E3E6C33B9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0196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83A41-F2B3-F209-2997-B363D99FE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D2F146A1-957D-551C-AB1E-2ED9209BE2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CAB7F5CC-E822-2EAD-C21A-D1842CDD03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DFF15985-C04B-1A16-2DAE-29BEB021B1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20290F-6FB2-4B98-9C20-10E3E6C33B9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8078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183D8-469D-C974-5B17-A67AB0340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39EBEF9F-05F4-31B4-2A20-76AFAC8E68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AD632979-E24E-708B-CBF5-795FE0ED0A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A6EF6F3B-B14D-C565-6E64-26A13E8891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20290F-6FB2-4B98-9C20-10E3E6C33B9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3827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B5D379-5B0B-CF6B-C3AE-75899A1DEF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BF9ECCF9-6EAA-5104-D439-DDD61F0754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77966F3F-C3C6-B482-C457-319EB0653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1203C-7BA9-43A5-975E-E43FF2F46FFC}" type="datetimeFigureOut">
              <a:rPr lang="da-DK" smtClean="0"/>
              <a:t>15-02-2026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FE37E76D-7738-4DFC-3BF6-52676B049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58903898-BC2B-6B58-3201-6C82BF7FE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55C17-2C6E-4FCD-B8B0-ADD91125A3D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03605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1F970B-6B34-6498-8852-BDFB4E054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46F70D3C-641E-B63C-34A4-8A9C6AF87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953F78C4-2BA6-6F83-2F74-61ADC7F99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1203C-7BA9-43A5-975E-E43FF2F46FFC}" type="datetimeFigureOut">
              <a:rPr lang="da-DK" smtClean="0"/>
              <a:t>15-02-2026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68CB5904-3F1E-7A67-D637-0677A5A55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9A57B026-1525-2115-85B4-39BF5862A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55C17-2C6E-4FCD-B8B0-ADD91125A3D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9375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301FFC-3FFD-3928-5873-A287ECF17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CC4A1164-3DB4-E780-1A6A-5765546F8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818BA42D-311B-CBDC-73E4-11F3F919A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1203C-7BA9-43A5-975E-E43FF2F46FFC}" type="datetimeFigureOut">
              <a:rPr lang="da-DK" smtClean="0"/>
              <a:t>15-02-2026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168073F3-C3EC-8FE5-A346-17B6F04C2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72A4AC01-7265-07E1-451C-14FA120A7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55C17-2C6E-4FCD-B8B0-ADD91125A3D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40823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A0DB56-B854-5C43-EEEE-A7E5F8E67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9B02B39-FAE1-B52A-9642-72A871E410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6FB95363-B429-D4A3-D847-E55D6F9F2D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00F767DE-79E8-FDA1-089A-E477B3419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1203C-7BA9-43A5-975E-E43FF2F46FFC}" type="datetimeFigureOut">
              <a:rPr lang="da-DK" smtClean="0"/>
              <a:t>15-02-2026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89EE53C8-2094-1862-07E0-4B1C7F8E9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EFE7CE3E-D319-A220-BE0F-EB6AEAA2D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55C17-2C6E-4FCD-B8B0-ADD91125A3D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74331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E8D287-E59A-2D24-DE7A-B31CE9D25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E970F88E-6934-AEB8-15B4-9392FF334C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E416CE4E-7EB9-82BE-7EA5-BF248EA097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6FB002E1-1C06-AD94-34B6-C1946B2610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99B56273-A71B-9384-1B9A-39E05FA26D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2CE80441-96E1-2DAB-7DC3-964502C40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1203C-7BA9-43A5-975E-E43FF2F46FFC}" type="datetimeFigureOut">
              <a:rPr lang="da-DK" smtClean="0"/>
              <a:t>15-02-2026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3AC73580-11C4-F1B4-9C3D-A2556DAD9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9543C5CE-27E5-5AB4-2B19-9CDBA02E2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55C17-2C6E-4FCD-B8B0-ADD91125A3D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8500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9AEC8E-33B6-61D0-2015-F98F20F57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0D6C3533-5B7D-F465-4B49-0D548901E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1203C-7BA9-43A5-975E-E43FF2F46FFC}" type="datetimeFigureOut">
              <a:rPr lang="da-DK" smtClean="0"/>
              <a:t>15-02-2026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7F82BC65-F637-04E3-235A-DCA81D61A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EA062C9F-2C3D-3182-1421-FFFA43FBB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55C17-2C6E-4FCD-B8B0-ADD91125A3D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60353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8F19FF14-53E4-2488-121A-7BB13F6D7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1203C-7BA9-43A5-975E-E43FF2F46FFC}" type="datetimeFigureOut">
              <a:rPr lang="da-DK" smtClean="0"/>
              <a:t>15-02-2026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58286A6A-D6DD-086F-FF02-9FB8BB8F9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37E65590-D196-5F49-E28B-7D3F62EA2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55C17-2C6E-4FCD-B8B0-ADD91125A3D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95223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571FFA-EF8F-3660-0882-2FD18A28E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5E05DA1-7F83-8C33-72AB-3DB3D413B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72A6DB38-DDD7-7CD2-19BA-CD0BF3DBD1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074ED3DF-ACBB-02CE-5705-7CAE460D3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1203C-7BA9-43A5-975E-E43FF2F46FFC}" type="datetimeFigureOut">
              <a:rPr lang="da-DK" smtClean="0"/>
              <a:t>15-02-2026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4EE839B9-7A8D-F26A-F932-27DE82A35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B34E39D6-44ED-A99D-AB2F-3349F3F26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55C17-2C6E-4FCD-B8B0-ADD91125A3D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67399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12DA1D-3BE1-827F-3FC8-FE0B9B6C5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EAF89231-4105-3E5A-ACD0-06E2824437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BEFA701E-A05D-AB00-E8E9-AB1B3BE525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2B54FE21-CA2C-5144-433B-E1FB0D0EB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1203C-7BA9-43A5-975E-E43FF2F46FFC}" type="datetimeFigureOut">
              <a:rPr lang="da-DK" smtClean="0"/>
              <a:t>15-02-2026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EE24EF02-3860-69AD-6BF9-6CB29868E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6DC8FF18-512B-41CE-C96A-7621FF041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55C17-2C6E-4FCD-B8B0-ADD91125A3D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33104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EDA991-163F-6DEB-B6A0-0B1ED98F4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4B375338-4220-BEF5-B304-8392C9FDD3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7875EB9F-A252-9977-EB8E-98A1FBDFA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1203C-7BA9-43A5-975E-E43FF2F46FFC}" type="datetimeFigureOut">
              <a:rPr lang="da-DK" smtClean="0"/>
              <a:t>15-02-2026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E5D762E-A388-5586-20E2-B3832679E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520B8D04-8735-060D-8162-F754CB662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55C17-2C6E-4FCD-B8B0-ADD91125A3D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87529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7FAAA759-226D-1FFB-95CB-38A17829DD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A40065E0-127B-257E-608B-D5DE0B6A12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7E3A8DF-4400-5DB9-7452-AB4A69534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1203C-7BA9-43A5-975E-E43FF2F46FFC}" type="datetimeFigureOut">
              <a:rPr lang="da-DK" smtClean="0"/>
              <a:t>15-02-2026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3D98800E-F3A9-88F4-1F6A-81F38855A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6C95E1B0-E1B7-4539-FA56-0D89257D0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55C17-2C6E-4FCD-B8B0-ADD91125A3D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002566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alvt billede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694945" y="905020"/>
            <a:ext cx="4947703" cy="736366"/>
          </a:xfrm>
          <a:prstGeom prst="rect">
            <a:avLst/>
          </a:prstGeom>
        </p:spPr>
        <p:txBody>
          <a:bodyPr vert="horz"/>
          <a:lstStyle>
            <a:lvl1pPr algn="l">
              <a:defRPr sz="3200" b="1" i="0" cap="all">
                <a:latin typeface="Verdana"/>
                <a:cs typeface="Calibri (Headings)"/>
              </a:defRPr>
            </a:lvl1pPr>
          </a:lstStyle>
          <a:p>
            <a:r>
              <a:rPr lang="da-DK" dirty="0"/>
              <a:t>Overskrift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704134" y="1640895"/>
            <a:ext cx="4948653" cy="4648615"/>
          </a:xfrm>
          <a:prstGeom prst="rect">
            <a:avLst/>
          </a:prstGeom>
        </p:spPr>
        <p:txBody>
          <a:bodyPr vert="horz"/>
          <a:lstStyle>
            <a:lvl1pPr marL="0" indent="0">
              <a:spcBef>
                <a:spcPts val="1000"/>
              </a:spcBef>
              <a:buNone/>
              <a:defRPr sz="1800" b="1" i="0" cap="all">
                <a:latin typeface="Verdana"/>
              </a:defRPr>
            </a:lvl1pPr>
            <a:lvl2pPr marL="0" indent="0">
              <a:spcBef>
                <a:spcPts val="1000"/>
              </a:spcBef>
              <a:buNone/>
              <a:defRPr sz="1800" baseline="0">
                <a:latin typeface="Verdana"/>
              </a:defRPr>
            </a:lvl2pPr>
            <a:lvl3pPr marL="0" indent="0">
              <a:spcBef>
                <a:spcPts val="1000"/>
              </a:spcBef>
              <a:buNone/>
              <a:defRPr sz="1200">
                <a:latin typeface="Verdana"/>
              </a:defRPr>
            </a:lvl3pPr>
            <a:lvl4pPr marL="0" indent="0">
              <a:buNone/>
              <a:defRPr>
                <a:latin typeface="Verdana"/>
              </a:defRPr>
            </a:lvl4pPr>
            <a:lvl5pPr marL="0" indent="0">
              <a:buNone/>
              <a:defRPr>
                <a:latin typeface="Verdana"/>
              </a:defRPr>
            </a:lvl5pPr>
          </a:lstStyle>
          <a:p>
            <a:pPr lvl="0"/>
            <a:r>
              <a:rPr lang="da-DK" dirty="0"/>
              <a:t>Klik for at tilføje</a:t>
            </a:r>
          </a:p>
          <a:p>
            <a:pPr lvl="1"/>
            <a:r>
              <a:rPr lang="da-DK" dirty="0"/>
              <a:t>Brug indryk for at få mindre tekst</a:t>
            </a:r>
          </a:p>
          <a:p>
            <a:pPr lvl="2"/>
            <a:r>
              <a:rPr lang="da-DK" dirty="0"/>
              <a:t>Brug 3 indryk for endnu mindre tekst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316133" y="0"/>
            <a:ext cx="5875867" cy="6858000"/>
          </a:xfrm>
          <a:prstGeom prst="rect">
            <a:avLst/>
          </a:prstGeom>
        </p:spPr>
        <p:txBody>
          <a:bodyPr vert="horz"/>
          <a:lstStyle/>
          <a:p>
            <a:r>
              <a:rPr lang="da-DK"/>
              <a:t>Drag picture to placeholder or click icon to add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256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2129E017-1220-91EC-B43C-01697B062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BA0E5979-F776-BF48-DACD-27EAD406A0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1A741768-E670-0A7A-2372-298125268A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D1203C-7BA9-43A5-975E-E43FF2F46FFC}" type="datetimeFigureOut">
              <a:rPr lang="da-DK" smtClean="0"/>
              <a:t>15-02-2026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9179FCC5-14E3-16B4-7AD3-790F96B760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F9A60D88-3F4B-2EE3-C638-287AA3C76D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E55C17-2C6E-4FCD-B8B0-ADD91125A3D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63171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51FDDBA6-F3C7-2BB3-C687-34EBB34E0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200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kstfelt 85">
            <a:extLst>
              <a:ext uri="{FF2B5EF4-FFF2-40B4-BE49-F238E27FC236}">
                <a16:creationId xmlns:a16="http://schemas.microsoft.com/office/drawing/2014/main" id="{368D3A21-9077-4DA1-973D-A69318421A49}"/>
              </a:ext>
            </a:extLst>
          </p:cNvPr>
          <p:cNvSpPr txBox="1"/>
          <p:nvPr/>
        </p:nvSpPr>
        <p:spPr>
          <a:xfrm>
            <a:off x="133739" y="60327"/>
            <a:ext cx="11892197" cy="4770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a-DK" sz="2500" b="1" dirty="0"/>
              <a:t>HERMENEUTIK</a:t>
            </a:r>
          </a:p>
        </p:txBody>
      </p:sp>
      <p:sp>
        <p:nvSpPr>
          <p:cNvPr id="87" name="Tekstfelt 86">
            <a:extLst>
              <a:ext uri="{FF2B5EF4-FFF2-40B4-BE49-F238E27FC236}">
                <a16:creationId xmlns:a16="http://schemas.microsoft.com/office/drawing/2014/main" id="{905ABCE6-6847-4C1B-87AA-8BC176858424}"/>
              </a:ext>
            </a:extLst>
          </p:cNvPr>
          <p:cNvSpPr txBox="1"/>
          <p:nvPr/>
        </p:nvSpPr>
        <p:spPr>
          <a:xfrm>
            <a:off x="142163" y="890304"/>
            <a:ext cx="11887219" cy="27699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a-DK" sz="1200" b="1" dirty="0"/>
              <a:t>FRIEDRICH SCHLEIERMACHER (1768-1834) – KLASSISK HERMENUTIK DEL 1 AF 2</a:t>
            </a:r>
          </a:p>
        </p:txBody>
      </p:sp>
      <p:sp>
        <p:nvSpPr>
          <p:cNvPr id="104" name="Tekstfelt 103">
            <a:extLst>
              <a:ext uri="{FF2B5EF4-FFF2-40B4-BE49-F238E27FC236}">
                <a16:creationId xmlns:a16="http://schemas.microsoft.com/office/drawing/2014/main" id="{1EDA96F8-C63F-4BC4-8649-8D64B1689743}"/>
              </a:ext>
            </a:extLst>
          </p:cNvPr>
          <p:cNvSpPr txBox="1"/>
          <p:nvPr/>
        </p:nvSpPr>
        <p:spPr>
          <a:xfrm>
            <a:off x="133739" y="4085526"/>
            <a:ext cx="11921864" cy="27699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a-DK" sz="1200" b="1" dirty="0"/>
              <a:t>HANS-GEORG GADAMER (1900-2002) – MODERNE HERMENEUTIK</a:t>
            </a:r>
          </a:p>
        </p:txBody>
      </p:sp>
      <p:sp>
        <p:nvSpPr>
          <p:cNvPr id="105" name="Tekstfelt 104">
            <a:extLst>
              <a:ext uri="{FF2B5EF4-FFF2-40B4-BE49-F238E27FC236}">
                <a16:creationId xmlns:a16="http://schemas.microsoft.com/office/drawing/2014/main" id="{25A15FEC-BDAC-4258-9D87-B12165C9E4F4}"/>
              </a:ext>
            </a:extLst>
          </p:cNvPr>
          <p:cNvSpPr txBox="1"/>
          <p:nvPr/>
        </p:nvSpPr>
        <p:spPr>
          <a:xfrm>
            <a:off x="124325" y="4944181"/>
            <a:ext cx="11931278" cy="523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a-DK" sz="1400" b="1" dirty="0">
                <a:solidFill>
                  <a:srgbClr val="C00000"/>
                </a:solidFill>
              </a:rPr>
              <a:t>HORISONTSAMMENSMELTNING:</a:t>
            </a:r>
            <a:r>
              <a:rPr lang="da-DK" sz="1400" b="1" dirty="0"/>
              <a:t> Forståelse opstår, når </a:t>
            </a:r>
            <a:r>
              <a:rPr lang="da-DK" sz="1400" b="1" dirty="0">
                <a:solidFill>
                  <a:srgbClr val="0000CC"/>
                </a:solidFill>
              </a:rPr>
              <a:t>fortolkerens horisont</a:t>
            </a:r>
            <a:r>
              <a:rPr lang="da-DK" sz="1400" b="1" dirty="0"/>
              <a:t> mødes med </a:t>
            </a:r>
            <a:r>
              <a:rPr lang="da-DK" sz="1400" b="1" dirty="0">
                <a:solidFill>
                  <a:srgbClr val="0000CC"/>
                </a:solidFill>
              </a:rPr>
              <a:t>tekstens eller interviewpersonens horisont</a:t>
            </a:r>
            <a:r>
              <a:rPr lang="da-DK" sz="1400" b="1" dirty="0"/>
              <a:t>, og begge udvides til en </a:t>
            </a:r>
            <a:r>
              <a:rPr lang="da-DK" sz="1400" b="1" dirty="0">
                <a:solidFill>
                  <a:srgbClr val="FF0000"/>
                </a:solidFill>
              </a:rPr>
              <a:t>NY</a:t>
            </a:r>
            <a:r>
              <a:rPr lang="da-DK" sz="1400" b="1" dirty="0"/>
              <a:t> fælles forståelse.</a:t>
            </a:r>
          </a:p>
        </p:txBody>
      </p:sp>
      <p:sp>
        <p:nvSpPr>
          <p:cNvPr id="2" name="Tekstfelt 1">
            <a:extLst>
              <a:ext uri="{FF2B5EF4-FFF2-40B4-BE49-F238E27FC236}">
                <a16:creationId xmlns:a16="http://schemas.microsoft.com/office/drawing/2014/main" id="{8457AE83-34AB-DD81-1389-78C96BCB0C2A}"/>
              </a:ext>
            </a:extLst>
          </p:cNvPr>
          <p:cNvSpPr txBox="1"/>
          <p:nvPr/>
        </p:nvSpPr>
        <p:spPr>
          <a:xfrm>
            <a:off x="133740" y="556127"/>
            <a:ext cx="11887219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a-DK" sz="1400" b="1" dirty="0">
                <a:solidFill>
                  <a:srgbClr val="C00000"/>
                </a:solidFill>
              </a:rPr>
              <a:t>FORTOLKNINGSPROCES SLUTTER ALDRIG:</a:t>
            </a:r>
            <a:r>
              <a:rPr lang="da-DK" sz="1400" b="1" dirty="0"/>
              <a:t> Fordi fuld rekonstruktion er umulig (</a:t>
            </a:r>
            <a:r>
              <a:rPr lang="da-DK" sz="1400" b="1" dirty="0">
                <a:solidFill>
                  <a:srgbClr val="0000CC"/>
                </a:solidFill>
              </a:rPr>
              <a:t>KLASSISK</a:t>
            </a:r>
            <a:r>
              <a:rPr lang="da-DK" sz="1400" b="1" dirty="0"/>
              <a:t>), og fordi horisontsammensmeltning aldrig er endelig (</a:t>
            </a:r>
            <a:r>
              <a:rPr lang="da-DK" sz="1400" b="1" dirty="0">
                <a:solidFill>
                  <a:srgbClr val="0000CC"/>
                </a:solidFill>
              </a:rPr>
              <a:t>MODERNE</a:t>
            </a:r>
            <a:r>
              <a:rPr lang="da-DK" sz="1400" b="1" dirty="0"/>
              <a:t>).</a:t>
            </a: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451BF913-FF2F-7180-83B5-F6D6384D812C}"/>
              </a:ext>
            </a:extLst>
          </p:cNvPr>
          <p:cNvSpPr txBox="1"/>
          <p:nvPr/>
        </p:nvSpPr>
        <p:spPr>
          <a:xfrm>
            <a:off x="142163" y="1205405"/>
            <a:ext cx="11887219" cy="523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a-DK" sz="1400" b="1" dirty="0">
                <a:solidFill>
                  <a:srgbClr val="C00000"/>
                </a:solidFill>
              </a:rPr>
              <a:t>KLASSISK HERMENEUTIK:</a:t>
            </a:r>
            <a:r>
              <a:rPr lang="da-DK" sz="1400" b="1" dirty="0"/>
              <a:t> </a:t>
            </a:r>
            <a:r>
              <a:rPr lang="da-DK" sz="1400" b="1" dirty="0">
                <a:solidFill>
                  <a:srgbClr val="0000CC"/>
                </a:solidFill>
              </a:rPr>
              <a:t>Bibelfortolkning</a:t>
            </a:r>
            <a:r>
              <a:rPr lang="da-DK" sz="1400" b="1" dirty="0"/>
              <a:t> baseret på </a:t>
            </a:r>
            <a:r>
              <a:rPr lang="da-DK" sz="1400" b="1" dirty="0">
                <a:solidFill>
                  <a:srgbClr val="00B050"/>
                </a:solidFill>
              </a:rPr>
              <a:t>grammatisk</a:t>
            </a:r>
            <a:r>
              <a:rPr lang="da-DK" sz="1400" b="1" dirty="0"/>
              <a:t> og </a:t>
            </a:r>
            <a:r>
              <a:rPr lang="da-DK" sz="1400" b="1" dirty="0">
                <a:solidFill>
                  <a:srgbClr val="00B050"/>
                </a:solidFill>
              </a:rPr>
              <a:t>psykologisk</a:t>
            </a:r>
            <a:r>
              <a:rPr lang="da-DK" sz="1400" b="1" dirty="0"/>
              <a:t> forståelse; </a:t>
            </a:r>
            <a:r>
              <a:rPr lang="da-DK" sz="1400" b="1" dirty="0">
                <a:solidFill>
                  <a:srgbClr val="0000CC"/>
                </a:solidFill>
              </a:rPr>
              <a:t>fundament</a:t>
            </a:r>
            <a:r>
              <a:rPr lang="da-DK" sz="1400" b="1" dirty="0"/>
              <a:t> for moderne hermeneutik.</a:t>
            </a:r>
          </a:p>
          <a:p>
            <a:pPr algn="ctr"/>
            <a:r>
              <a:rPr lang="da-DK" sz="1400" b="1" dirty="0">
                <a:solidFill>
                  <a:srgbClr val="00B050"/>
                </a:solidFill>
              </a:rPr>
              <a:t>OBJEKTIV:</a:t>
            </a:r>
            <a:r>
              <a:rPr lang="da-DK" sz="1400" b="1" dirty="0">
                <a:solidFill>
                  <a:srgbClr val="006666"/>
                </a:solidFill>
              </a:rPr>
              <a:t> </a:t>
            </a:r>
            <a:r>
              <a:rPr lang="da-DK" sz="1400" b="1" dirty="0">
                <a:solidFill>
                  <a:srgbClr val="0000CC"/>
                </a:solidFill>
              </a:rPr>
              <a:t>Læs ordret – </a:t>
            </a:r>
            <a:r>
              <a:rPr lang="da-DK" sz="1400" b="1" dirty="0">
                <a:solidFill>
                  <a:srgbClr val="006666"/>
                </a:solidFill>
              </a:rPr>
              <a:t>ord/grammatik/sprogstruktur </a:t>
            </a:r>
            <a:r>
              <a:rPr lang="da-DK" sz="1400" b="1" dirty="0">
                <a:solidFill>
                  <a:srgbClr val="C00000"/>
                </a:solidFill>
              </a:rPr>
              <a:t>&amp;</a:t>
            </a:r>
            <a:r>
              <a:rPr lang="da-DK" sz="1400" b="1" dirty="0">
                <a:solidFill>
                  <a:srgbClr val="006666"/>
                </a:solidFill>
              </a:rPr>
              <a:t> </a:t>
            </a:r>
            <a:r>
              <a:rPr lang="da-DK" sz="1400" b="1" dirty="0">
                <a:solidFill>
                  <a:srgbClr val="00B050"/>
                </a:solidFill>
              </a:rPr>
              <a:t>SUBJEKTIV:</a:t>
            </a:r>
            <a:r>
              <a:rPr lang="da-DK" sz="1400" b="1" dirty="0">
                <a:solidFill>
                  <a:srgbClr val="006666"/>
                </a:solidFill>
              </a:rPr>
              <a:t> </a:t>
            </a:r>
            <a:r>
              <a:rPr lang="da-DK" sz="1400" b="1" dirty="0">
                <a:solidFill>
                  <a:srgbClr val="0000CC"/>
                </a:solidFill>
              </a:rPr>
              <a:t>Læs mellem linjerne</a:t>
            </a:r>
            <a:r>
              <a:rPr lang="da-DK" sz="1400" b="1" dirty="0">
                <a:solidFill>
                  <a:srgbClr val="006666"/>
                </a:solidFill>
              </a:rPr>
              <a:t> – intention/følelser/tanker</a:t>
            </a:r>
          </a:p>
        </p:txBody>
      </p:sp>
      <p:sp>
        <p:nvSpPr>
          <p:cNvPr id="12" name="Tekstfelt 11">
            <a:extLst>
              <a:ext uri="{FF2B5EF4-FFF2-40B4-BE49-F238E27FC236}">
                <a16:creationId xmlns:a16="http://schemas.microsoft.com/office/drawing/2014/main" id="{75C943B9-95A8-3D68-2D86-CA7C9D2FD374}"/>
              </a:ext>
            </a:extLst>
          </p:cNvPr>
          <p:cNvSpPr txBox="1"/>
          <p:nvPr/>
        </p:nvSpPr>
        <p:spPr>
          <a:xfrm>
            <a:off x="124325" y="2325486"/>
            <a:ext cx="11931278" cy="27699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a-DK" sz="1200" b="1" dirty="0"/>
              <a:t>WILHELM DILTHEY  (1833-1911) – KLASSISK HERMENEUTIK DEL 2 AF 2</a:t>
            </a:r>
          </a:p>
        </p:txBody>
      </p:sp>
      <p:sp>
        <p:nvSpPr>
          <p:cNvPr id="16" name="Tekstfelt 15">
            <a:extLst>
              <a:ext uri="{FF2B5EF4-FFF2-40B4-BE49-F238E27FC236}">
                <a16:creationId xmlns:a16="http://schemas.microsoft.com/office/drawing/2014/main" id="{D894E61A-DF07-1EDC-5B69-C44139B87AB3}"/>
              </a:ext>
            </a:extLst>
          </p:cNvPr>
          <p:cNvSpPr txBox="1"/>
          <p:nvPr/>
        </p:nvSpPr>
        <p:spPr>
          <a:xfrm>
            <a:off x="124325" y="5501164"/>
            <a:ext cx="11931278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a-DK" sz="1400" b="1" dirty="0">
                <a:solidFill>
                  <a:srgbClr val="C00000"/>
                </a:solidFill>
              </a:rPr>
              <a:t>MODERNE HERMENEUTIK:</a:t>
            </a:r>
            <a:r>
              <a:rPr lang="da-DK" sz="1400" b="1" dirty="0"/>
              <a:t> </a:t>
            </a:r>
            <a:r>
              <a:rPr lang="da-DK" sz="1400" b="1" dirty="0">
                <a:solidFill>
                  <a:srgbClr val="0000CC"/>
                </a:solidFill>
              </a:rPr>
              <a:t>Objekt</a:t>
            </a:r>
            <a:r>
              <a:rPr lang="da-DK" sz="1400" b="1" dirty="0"/>
              <a:t> og </a:t>
            </a:r>
            <a:r>
              <a:rPr lang="da-DK" sz="1400" b="1" dirty="0">
                <a:solidFill>
                  <a:srgbClr val="0000CC"/>
                </a:solidFill>
              </a:rPr>
              <a:t>subjekt</a:t>
            </a:r>
            <a:r>
              <a:rPr lang="da-DK" sz="1400" b="1" dirty="0"/>
              <a:t> er </a:t>
            </a:r>
            <a:r>
              <a:rPr lang="da-DK" sz="1400" b="1" dirty="0">
                <a:solidFill>
                  <a:srgbClr val="00B050"/>
                </a:solidFill>
              </a:rPr>
              <a:t>begge inden for cirklen</a:t>
            </a:r>
            <a:r>
              <a:rPr lang="da-DK" sz="1400" b="1" dirty="0"/>
              <a:t>, fordi de er historisk situerede og præget af forforståelse (horisont).</a:t>
            </a:r>
          </a:p>
        </p:txBody>
      </p:sp>
      <p:sp>
        <p:nvSpPr>
          <p:cNvPr id="3" name="Tekstfelt 2">
            <a:extLst>
              <a:ext uri="{FF2B5EF4-FFF2-40B4-BE49-F238E27FC236}">
                <a16:creationId xmlns:a16="http://schemas.microsoft.com/office/drawing/2014/main" id="{5C71B59B-96F7-D241-B447-CD167D4E657B}"/>
              </a:ext>
            </a:extLst>
          </p:cNvPr>
          <p:cNvSpPr txBox="1"/>
          <p:nvPr/>
        </p:nvSpPr>
        <p:spPr>
          <a:xfrm>
            <a:off x="133739" y="1760296"/>
            <a:ext cx="11887219" cy="523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a-DK" sz="1400" b="1" dirty="0">
                <a:solidFill>
                  <a:srgbClr val="C00000"/>
                </a:solidFill>
              </a:rPr>
              <a:t>DEN HERMENEUTISK CIRKEL: </a:t>
            </a:r>
            <a:r>
              <a:rPr lang="da-DK" sz="1400" b="1" dirty="0"/>
              <a:t>Grundlagt af Friedrich Schleiermacher og videreudviklet af Wilhelm Dilthey:</a:t>
            </a:r>
          </a:p>
          <a:p>
            <a:pPr algn="ctr"/>
            <a:r>
              <a:rPr lang="da-DK" sz="1400" b="1" dirty="0">
                <a:solidFill>
                  <a:srgbClr val="0000CC"/>
                </a:solidFill>
              </a:rPr>
              <a:t>Forståelse opstår i en cirkulær bevægelse</a:t>
            </a:r>
            <a:r>
              <a:rPr lang="da-DK" sz="1400" b="1" dirty="0"/>
              <a:t> mellem </a:t>
            </a:r>
            <a:r>
              <a:rPr lang="da-DK" sz="1400" b="1" dirty="0">
                <a:solidFill>
                  <a:srgbClr val="00B050"/>
                </a:solidFill>
              </a:rPr>
              <a:t>dele</a:t>
            </a:r>
            <a:r>
              <a:rPr lang="da-DK" sz="1400" b="1" dirty="0"/>
              <a:t> og </a:t>
            </a:r>
            <a:r>
              <a:rPr lang="da-DK" sz="1400" b="1" dirty="0">
                <a:solidFill>
                  <a:srgbClr val="00B050"/>
                </a:solidFill>
              </a:rPr>
              <a:t>helhed</a:t>
            </a:r>
            <a:r>
              <a:rPr lang="da-DK" sz="1400" b="1" dirty="0"/>
              <a:t> – </a:t>
            </a:r>
            <a:r>
              <a:rPr lang="da-DK" sz="1400" b="1" dirty="0">
                <a:solidFill>
                  <a:schemeClr val="accent4">
                    <a:lumMod val="75000"/>
                  </a:schemeClr>
                </a:solidFill>
              </a:rPr>
              <a:t>helheden forstås ud fra delene</a:t>
            </a:r>
            <a:r>
              <a:rPr lang="da-DK" sz="1400" b="1" dirty="0"/>
              <a:t>, og </a:t>
            </a:r>
            <a:r>
              <a:rPr lang="da-DK" sz="1400" b="1" dirty="0">
                <a:solidFill>
                  <a:schemeClr val="accent2">
                    <a:lumMod val="75000"/>
                  </a:schemeClr>
                </a:solidFill>
              </a:rPr>
              <a:t>delene ud fra helheden</a:t>
            </a:r>
            <a:r>
              <a:rPr lang="da-DK" sz="1400" b="1" dirty="0"/>
              <a:t>.</a:t>
            </a:r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E16322D0-84B5-C2E9-E8D8-6B614C0A4CF4}"/>
              </a:ext>
            </a:extLst>
          </p:cNvPr>
          <p:cNvSpPr txBox="1"/>
          <p:nvPr/>
        </p:nvSpPr>
        <p:spPr>
          <a:xfrm>
            <a:off x="133740" y="4391743"/>
            <a:ext cx="11921864" cy="523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a-DK" sz="1400" b="1" dirty="0">
                <a:solidFill>
                  <a:srgbClr val="C00000"/>
                </a:solidFill>
              </a:rPr>
              <a:t>MODERNE HERMENEUTIK:</a:t>
            </a:r>
            <a:r>
              <a:rPr lang="da-DK" sz="1400" b="1" dirty="0"/>
              <a:t> Gadamer fremhæver </a:t>
            </a:r>
            <a:r>
              <a:rPr lang="da-DK" sz="1400" b="1" dirty="0">
                <a:solidFill>
                  <a:srgbClr val="0000CC"/>
                </a:solidFill>
              </a:rPr>
              <a:t>historisk-kulturel kontekst</a:t>
            </a:r>
            <a:r>
              <a:rPr lang="da-DK" sz="1400" b="1" dirty="0"/>
              <a:t>, </a:t>
            </a:r>
            <a:r>
              <a:rPr lang="da-DK" sz="1400" b="1" dirty="0">
                <a:solidFill>
                  <a:srgbClr val="0000CC"/>
                </a:solidFill>
              </a:rPr>
              <a:t>forforståelse</a:t>
            </a:r>
            <a:r>
              <a:rPr lang="da-DK" sz="1400" b="1" dirty="0"/>
              <a:t> og </a:t>
            </a:r>
            <a:r>
              <a:rPr lang="da-DK" sz="1400" b="1" dirty="0">
                <a:solidFill>
                  <a:srgbClr val="0000CC"/>
                </a:solidFill>
              </a:rPr>
              <a:t>åbenhed for dialogens/tekstens særpræghed</a:t>
            </a:r>
            <a:r>
              <a:rPr lang="da-DK" sz="1400" b="1" dirty="0"/>
              <a:t> som betingelser for sand forståelse.</a:t>
            </a:r>
            <a:endParaRPr lang="da-DK" sz="1400" b="1" dirty="0">
              <a:solidFill>
                <a:srgbClr val="006666"/>
              </a:solidFill>
            </a:endParaRPr>
          </a:p>
        </p:txBody>
      </p:sp>
      <p:sp>
        <p:nvSpPr>
          <p:cNvPr id="9" name="Tekstfelt 8">
            <a:extLst>
              <a:ext uri="{FF2B5EF4-FFF2-40B4-BE49-F238E27FC236}">
                <a16:creationId xmlns:a16="http://schemas.microsoft.com/office/drawing/2014/main" id="{05714EF5-6DC9-5EB5-ED96-057238D0C392}"/>
              </a:ext>
            </a:extLst>
          </p:cNvPr>
          <p:cNvSpPr txBox="1"/>
          <p:nvPr/>
        </p:nvSpPr>
        <p:spPr>
          <a:xfrm>
            <a:off x="142163" y="2630253"/>
            <a:ext cx="11878795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a-DK" sz="1400" b="1" dirty="0">
                <a:solidFill>
                  <a:srgbClr val="C00000"/>
                </a:solidFill>
              </a:rPr>
              <a:t>KLASSISK HERMENEUTIK:</a:t>
            </a:r>
            <a:r>
              <a:rPr lang="da-DK" sz="1400" b="1" dirty="0"/>
              <a:t> …</a:t>
            </a:r>
            <a:r>
              <a:rPr lang="da-DK" sz="1400" b="1" i="1" dirty="0">
                <a:solidFill>
                  <a:srgbClr val="00B050"/>
                </a:solidFill>
              </a:rPr>
              <a:t>prøver ikke at </a:t>
            </a:r>
            <a:r>
              <a:rPr lang="da-DK" sz="1400" b="1" i="1" dirty="0">
                <a:solidFill>
                  <a:srgbClr val="FF0000"/>
                </a:solidFill>
              </a:rPr>
              <a:t>forklare</a:t>
            </a:r>
            <a:r>
              <a:rPr lang="da-DK" sz="1400" b="1" i="1" dirty="0">
                <a:solidFill>
                  <a:srgbClr val="00B050"/>
                </a:solidFill>
              </a:rPr>
              <a:t> kausale relationer mellem variabler, men derimod at </a:t>
            </a:r>
            <a:r>
              <a:rPr lang="da-DK" sz="1400" b="1" i="1" dirty="0">
                <a:solidFill>
                  <a:srgbClr val="FF0000"/>
                </a:solidFill>
              </a:rPr>
              <a:t>forstå</a:t>
            </a:r>
            <a:r>
              <a:rPr lang="da-DK" sz="1400" b="1" i="1" dirty="0">
                <a:solidFill>
                  <a:srgbClr val="00B050"/>
                </a:solidFill>
              </a:rPr>
              <a:t> mening</a:t>
            </a:r>
          </a:p>
        </p:txBody>
      </p:sp>
      <p:sp>
        <p:nvSpPr>
          <p:cNvPr id="11" name="Tekstfelt 10">
            <a:extLst>
              <a:ext uri="{FF2B5EF4-FFF2-40B4-BE49-F238E27FC236}">
                <a16:creationId xmlns:a16="http://schemas.microsoft.com/office/drawing/2014/main" id="{73FF518D-CC46-E9C4-81FE-93DDDA7868C0}"/>
              </a:ext>
            </a:extLst>
          </p:cNvPr>
          <p:cNvSpPr txBox="1"/>
          <p:nvPr/>
        </p:nvSpPr>
        <p:spPr>
          <a:xfrm>
            <a:off x="134373" y="2955502"/>
            <a:ext cx="11882243" cy="7386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a-DK" sz="1400" b="1" dirty="0">
                <a:solidFill>
                  <a:srgbClr val="C00000"/>
                </a:solidFill>
              </a:rPr>
              <a:t>KLASSISK HERMENEUTIK:</a:t>
            </a:r>
            <a:r>
              <a:rPr lang="da-DK" sz="1400" b="1" dirty="0"/>
              <a:t> </a:t>
            </a:r>
            <a:r>
              <a:rPr lang="da-DK" sz="1400" b="1" dirty="0">
                <a:solidFill>
                  <a:srgbClr val="0000FF"/>
                </a:solidFill>
              </a:rPr>
              <a:t>Erlebnis</a:t>
            </a:r>
            <a:r>
              <a:rPr lang="da-DK" sz="1400" b="1" dirty="0"/>
              <a:t>, </a:t>
            </a:r>
            <a:r>
              <a:rPr lang="da-DK" sz="1400" b="1" dirty="0">
                <a:solidFill>
                  <a:srgbClr val="FF0000"/>
                </a:solidFill>
              </a:rPr>
              <a:t>Nacherleben</a:t>
            </a:r>
            <a:r>
              <a:rPr lang="da-DK" sz="1400" b="1" dirty="0"/>
              <a:t> og Verstehen:</a:t>
            </a:r>
          </a:p>
          <a:p>
            <a:pPr algn="ctr"/>
            <a:r>
              <a:rPr lang="da-DK" sz="1400" b="1" dirty="0"/>
              <a:t>Forfatterens oprindelige oplevelse (</a:t>
            </a:r>
            <a:r>
              <a:rPr lang="da-DK" sz="1400" b="1" dirty="0">
                <a:solidFill>
                  <a:srgbClr val="0000CC"/>
                </a:solidFill>
              </a:rPr>
              <a:t>Erlebnis</a:t>
            </a:r>
            <a:r>
              <a:rPr lang="da-DK" sz="1400" b="1" dirty="0"/>
              <a:t>) rekonstrueres gennem fortolkerens indlevende genoplevelse (</a:t>
            </a:r>
            <a:r>
              <a:rPr lang="da-DK" sz="1400" b="1" dirty="0">
                <a:solidFill>
                  <a:srgbClr val="FF0000"/>
                </a:solidFill>
              </a:rPr>
              <a:t>Nacherleben</a:t>
            </a:r>
            <a:r>
              <a:rPr lang="da-DK" sz="1400" b="1" dirty="0"/>
              <a:t>), hvilket muliggør den sande forståelse (Verstehen).</a:t>
            </a:r>
          </a:p>
        </p:txBody>
      </p:sp>
      <p:sp>
        <p:nvSpPr>
          <p:cNvPr id="25" name="Tekstfelt 24">
            <a:extLst>
              <a:ext uri="{FF2B5EF4-FFF2-40B4-BE49-F238E27FC236}">
                <a16:creationId xmlns:a16="http://schemas.microsoft.com/office/drawing/2014/main" id="{97036BBC-A268-B224-59F7-AB0444275779}"/>
              </a:ext>
            </a:extLst>
          </p:cNvPr>
          <p:cNvSpPr txBox="1"/>
          <p:nvPr/>
        </p:nvSpPr>
        <p:spPr>
          <a:xfrm>
            <a:off x="142163" y="3735864"/>
            <a:ext cx="11913440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a-DK" sz="1400" b="1" dirty="0">
                <a:solidFill>
                  <a:srgbClr val="C00000"/>
                </a:solidFill>
              </a:rPr>
              <a:t>KLASSISKE HERMENEUTIK:</a:t>
            </a:r>
            <a:r>
              <a:rPr lang="da-DK" sz="1400" b="1" dirty="0"/>
              <a:t> </a:t>
            </a:r>
            <a:r>
              <a:rPr lang="da-DK" sz="1400" b="1" dirty="0">
                <a:solidFill>
                  <a:srgbClr val="0000CC"/>
                </a:solidFill>
              </a:rPr>
              <a:t>Objekt</a:t>
            </a:r>
            <a:r>
              <a:rPr lang="da-DK" sz="1400" b="1" dirty="0"/>
              <a:t> er </a:t>
            </a:r>
            <a:r>
              <a:rPr lang="da-DK" sz="1400" b="1" dirty="0">
                <a:solidFill>
                  <a:srgbClr val="00B050"/>
                </a:solidFill>
              </a:rPr>
              <a:t>inden for </a:t>
            </a:r>
            <a:r>
              <a:rPr lang="da-DK" sz="1400" b="1" dirty="0"/>
              <a:t>og </a:t>
            </a:r>
            <a:r>
              <a:rPr lang="da-DK" sz="1400" b="1" dirty="0">
                <a:solidFill>
                  <a:srgbClr val="0000CC"/>
                </a:solidFill>
              </a:rPr>
              <a:t>Subjekt</a:t>
            </a:r>
            <a:r>
              <a:rPr lang="da-DK" sz="1400" b="1" dirty="0"/>
              <a:t> er </a:t>
            </a:r>
            <a:r>
              <a:rPr lang="da-DK" sz="1400" b="1" dirty="0">
                <a:solidFill>
                  <a:srgbClr val="00B050"/>
                </a:solidFill>
              </a:rPr>
              <a:t>udenfor cirklen</a:t>
            </a:r>
            <a:r>
              <a:rPr lang="da-DK" sz="1400" b="1" dirty="0"/>
              <a:t>, fordi forståelse ses som metodisk rekonstruktion af en forudgiven mening.</a:t>
            </a:r>
          </a:p>
        </p:txBody>
      </p:sp>
      <p:sp>
        <p:nvSpPr>
          <p:cNvPr id="26" name="Tekstfelt 25">
            <a:extLst>
              <a:ext uri="{FF2B5EF4-FFF2-40B4-BE49-F238E27FC236}">
                <a16:creationId xmlns:a16="http://schemas.microsoft.com/office/drawing/2014/main" id="{40469A6F-CA94-CEF4-72D5-123325EEB573}"/>
              </a:ext>
            </a:extLst>
          </p:cNvPr>
          <p:cNvSpPr txBox="1"/>
          <p:nvPr/>
        </p:nvSpPr>
        <p:spPr>
          <a:xfrm>
            <a:off x="129463" y="5843304"/>
            <a:ext cx="11931278" cy="27699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a-DK" sz="1200" b="1" dirty="0"/>
              <a:t>MARTIN HEIDEGGER (1889-1976) – BINDELED MELLEM KLASSISK OG MODERNE HERMENEUTIK</a:t>
            </a:r>
          </a:p>
        </p:txBody>
      </p:sp>
      <p:sp>
        <p:nvSpPr>
          <p:cNvPr id="27" name="Tekstfelt 26">
            <a:extLst>
              <a:ext uri="{FF2B5EF4-FFF2-40B4-BE49-F238E27FC236}">
                <a16:creationId xmlns:a16="http://schemas.microsoft.com/office/drawing/2014/main" id="{C0101C6B-DF2E-E81D-9BAC-42C2865D3019}"/>
              </a:ext>
            </a:extLst>
          </p:cNvPr>
          <p:cNvSpPr txBox="1"/>
          <p:nvPr/>
        </p:nvSpPr>
        <p:spPr>
          <a:xfrm>
            <a:off x="124325" y="6161564"/>
            <a:ext cx="11943978" cy="523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a-DK" sz="1400" b="1" dirty="0">
                <a:solidFill>
                  <a:srgbClr val="0000CC"/>
                </a:solidFill>
              </a:rPr>
              <a:t>Heidegger forstod forståelse ontologisk</a:t>
            </a:r>
            <a:r>
              <a:rPr lang="da-DK" sz="1400" b="1" dirty="0"/>
              <a:t>; </a:t>
            </a:r>
            <a:r>
              <a:rPr lang="da-DK" sz="1400" b="1" dirty="0">
                <a:solidFill>
                  <a:srgbClr val="00B050"/>
                </a:solidFill>
              </a:rPr>
              <a:t>Gadamer udviklede en ontologisk forankret hermeneutik</a:t>
            </a:r>
            <a:r>
              <a:rPr lang="da-DK" sz="1400" b="1" dirty="0"/>
              <a:t> </a:t>
            </a:r>
            <a:r>
              <a:rPr lang="da-DK" sz="1400" b="1" dirty="0">
                <a:solidFill>
                  <a:srgbClr val="FF0000"/>
                </a:solidFill>
              </a:rPr>
              <a:t>frem for klassisk fortolkningsmetode eller -teknik</a:t>
            </a:r>
            <a:r>
              <a:rPr lang="da-DK" sz="1400" b="1" dirty="0"/>
              <a:t>.</a:t>
            </a:r>
          </a:p>
          <a:p>
            <a:pPr algn="ctr"/>
            <a:r>
              <a:rPr lang="da-DK" sz="1400" b="1" dirty="0"/>
              <a:t>Fra metodisk fortolkningslære (teknik) → til ontologisk forankret epistemologi (filosofi)</a:t>
            </a:r>
          </a:p>
        </p:txBody>
      </p:sp>
    </p:spTree>
    <p:extLst>
      <p:ext uri="{BB962C8B-B14F-4D97-AF65-F5344CB8AC3E}">
        <p14:creationId xmlns:p14="http://schemas.microsoft.com/office/powerpoint/2010/main" val="1920005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 animBg="1"/>
      <p:bldP spid="87" grpId="0" animBg="1"/>
      <p:bldP spid="104" grpId="0" animBg="1"/>
      <p:bldP spid="105" grpId="0" animBg="1"/>
      <p:bldP spid="2" grpId="0" animBg="1"/>
      <p:bldP spid="8" grpId="0" animBg="1"/>
      <p:bldP spid="12" grpId="0" animBg="1"/>
      <p:bldP spid="16" grpId="0" animBg="1"/>
      <p:bldP spid="3" grpId="0" animBg="1"/>
      <p:bldP spid="6" grpId="0" animBg="1"/>
      <p:bldP spid="9" grpId="0" animBg="1"/>
      <p:bldP spid="11" grpId="0" animBg="1"/>
      <p:bldP spid="25" grpId="0" animBg="1"/>
      <p:bldP spid="26" grpId="0" animBg="1"/>
      <p:bldP spid="2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2BFC83F3-2916-204A-572B-597150780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5" name="Tekstfelt 4">
            <a:extLst>
              <a:ext uri="{FF2B5EF4-FFF2-40B4-BE49-F238E27FC236}">
                <a16:creationId xmlns:a16="http://schemas.microsoft.com/office/drawing/2014/main" id="{4A489302-4E0C-644C-0CD1-CC7E2F358AA5}"/>
              </a:ext>
            </a:extLst>
          </p:cNvPr>
          <p:cNvSpPr txBox="1"/>
          <p:nvPr/>
        </p:nvSpPr>
        <p:spPr>
          <a:xfrm>
            <a:off x="3617494" y="3032"/>
            <a:ext cx="4957012" cy="11695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da-DK" sz="3500" b="1" dirty="0"/>
              <a:t>10 hurtige på 10 minutter</a:t>
            </a:r>
          </a:p>
          <a:p>
            <a:pPr algn="ctr"/>
            <a:r>
              <a:rPr lang="da-DK" sz="3500" b="1" dirty="0"/>
              <a:t>(Hermeneutik)</a:t>
            </a:r>
          </a:p>
        </p:txBody>
      </p:sp>
    </p:spTree>
    <p:extLst>
      <p:ext uri="{BB962C8B-B14F-4D97-AF65-F5344CB8AC3E}">
        <p14:creationId xmlns:p14="http://schemas.microsoft.com/office/powerpoint/2010/main" val="341415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52841-66F5-03C9-322B-4BB55F120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F0CC4-C0B3-8FBA-24FC-DE129809B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6672" y="2058196"/>
            <a:ext cx="337916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 dirty="0">
                <a:solidFill>
                  <a:schemeClr val="bg1"/>
                </a:solidFill>
                <a:latin typeface="+mj-lt"/>
                <a:cs typeface="+mj-cs"/>
              </a:rPr>
              <a:t>Martin Heidegger </a:t>
            </a:r>
            <a:r>
              <a:rPr lang="en-US" sz="4400" b="0" dirty="0">
                <a:solidFill>
                  <a:schemeClr val="bg1"/>
                </a:solidFill>
                <a:latin typeface="+mj-lt"/>
                <a:cs typeface="+mj-cs"/>
              </a:rPr>
              <a:t>(1889-1976</a:t>
            </a:r>
            <a:r>
              <a:rPr lang="en-US" sz="4400" dirty="0">
                <a:solidFill>
                  <a:schemeClr val="bg1"/>
                </a:solidFill>
                <a:latin typeface="+mj-lt"/>
                <a:cs typeface="+mj-cs"/>
              </a:rPr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FAA6B-3414-EF80-ACE8-A916989CAC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7395" y="1029660"/>
            <a:ext cx="11540077" cy="5700323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da-DK" sz="2000" cap="none" noProof="0" dirty="0">
                <a:latin typeface="+mn-lt"/>
              </a:rPr>
              <a:t>Hvad er Dilthey’s begreb ”</a:t>
            </a:r>
            <a:r>
              <a:rPr lang="da-DK" sz="2000" i="1" cap="none" noProof="0" dirty="0">
                <a:latin typeface="+mn-lt"/>
              </a:rPr>
              <a:t>Erlebnis</a:t>
            </a:r>
            <a:r>
              <a:rPr lang="da-DK" sz="2000" cap="none" noProof="0" dirty="0">
                <a:latin typeface="+mn-lt"/>
              </a:rPr>
              <a:t>” – er det klassisk eller moderne hermeneutik?</a:t>
            </a:r>
          </a:p>
          <a:p>
            <a:pPr marL="457200" indent="-457200">
              <a:buFont typeface="+mj-lt"/>
              <a:buAutoNum type="arabicPeriod"/>
            </a:pPr>
            <a:r>
              <a:rPr lang="da-DK" sz="2000" cap="none" noProof="0" dirty="0">
                <a:latin typeface="+mn-lt"/>
              </a:rPr>
              <a:t>Forklar Dilthey’s udsagn: “Man as a fact prior to history and society is a fiction.”</a:t>
            </a:r>
          </a:p>
          <a:p>
            <a:pPr marL="457200" indent="-457200">
              <a:buFont typeface="+mj-lt"/>
              <a:buAutoNum type="arabicPeriod"/>
            </a:pPr>
            <a:r>
              <a:rPr lang="da-DK" sz="2000" cap="none" dirty="0">
                <a:latin typeface="+mn-lt"/>
              </a:rPr>
              <a:t>Hvorfor taler man om den hermeneutiske cirkel som en spiral snarere end en lukket kreds?</a:t>
            </a:r>
            <a:endParaRPr lang="da-DK" sz="2000" cap="none" noProof="0" dirty="0">
              <a:latin typeface="+mn-lt"/>
            </a:endParaRPr>
          </a:p>
          <a:p>
            <a:pPr marL="457200" indent="-457200">
              <a:buFont typeface="+mj-lt"/>
              <a:buAutoNum type="arabicPeriod"/>
            </a:pPr>
            <a:r>
              <a:rPr lang="da-DK" sz="2000" cap="none" dirty="0">
                <a:latin typeface="+mn-lt"/>
              </a:rPr>
              <a:t>Hvor er objekt og subjekt placeret i klassiske hermeneutik og hvorfor?</a:t>
            </a:r>
            <a:endParaRPr lang="da-DK" sz="2000" cap="none" noProof="0" dirty="0">
              <a:latin typeface="+mn-lt"/>
            </a:endParaRPr>
          </a:p>
          <a:p>
            <a:pPr marL="457200" indent="-457200">
              <a:buFont typeface="+mj-lt"/>
              <a:buAutoNum type="arabicPeriod"/>
            </a:pPr>
            <a:r>
              <a:rPr lang="da-DK" sz="2000" cap="none" dirty="0">
                <a:latin typeface="+mn-lt"/>
              </a:rPr>
              <a:t>Hvor er objekt og subjekt placeret i moderne hermeneutik og hvorfor?</a:t>
            </a:r>
          </a:p>
          <a:p>
            <a:pPr marL="457200" indent="-457200">
              <a:buFont typeface="+mj-lt"/>
              <a:buAutoNum type="arabicPeriod"/>
            </a:pPr>
            <a:r>
              <a:rPr lang="da-DK" sz="2000" cap="none" dirty="0">
                <a:latin typeface="+mn-lt"/>
              </a:rPr>
              <a:t>Hvad betegner objekt og subjekt i hermeneutikken?</a:t>
            </a:r>
          </a:p>
          <a:p>
            <a:pPr marL="457200" indent="-457200">
              <a:buFont typeface="+mj-lt"/>
              <a:buAutoNum type="arabicPeriod"/>
            </a:pPr>
            <a:r>
              <a:rPr lang="da-DK" sz="2000" cap="none" dirty="0">
                <a:latin typeface="+mn-lt"/>
              </a:rPr>
              <a:t>Hvad sagde Gadamer om fordomme/forforståelse i moderne hermeneutik?</a:t>
            </a:r>
          </a:p>
          <a:p>
            <a:pPr marL="457200" indent="-457200">
              <a:buFont typeface="+mj-lt"/>
              <a:buAutoNum type="arabicPeriod"/>
            </a:pPr>
            <a:r>
              <a:rPr lang="da-DK" sz="2000" cap="none" dirty="0">
                <a:latin typeface="+mn-lt"/>
              </a:rPr>
              <a:t>Hvornår opnås den fulde sande forståelse iht. den morderne hermeneutik?</a:t>
            </a:r>
          </a:p>
          <a:p>
            <a:pPr marL="457200" indent="-457200">
              <a:buFont typeface="+mj-lt"/>
              <a:buAutoNum type="arabicPeriod"/>
            </a:pPr>
            <a:r>
              <a:rPr lang="da-DK" sz="2000" cap="none" dirty="0">
                <a:latin typeface="+mn-lt"/>
              </a:rPr>
              <a:t>Hvad betyder Gadamers pointe om “åbenhed for tekstens fremmedhed”?</a:t>
            </a:r>
          </a:p>
          <a:p>
            <a:pPr marL="457200" indent="-457200">
              <a:buFont typeface="+mj-lt"/>
              <a:buAutoNum type="arabicPeriod"/>
            </a:pPr>
            <a:r>
              <a:rPr lang="da-DK" sz="2000" cap="none" dirty="0">
                <a:latin typeface="+mn-lt"/>
              </a:rPr>
              <a:t>Hvordan udfordrer Gadamers begreb om “horisontsammensmeltning” den klassiske forestilling om, at man kan rekonstruere forfatterens oprindelige mening?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AFCF67CF-4598-562F-5848-5A04F0206B99}"/>
              </a:ext>
            </a:extLst>
          </p:cNvPr>
          <p:cNvSpPr txBox="1">
            <a:spLocks/>
          </p:cNvSpPr>
          <p:nvPr/>
        </p:nvSpPr>
        <p:spPr>
          <a:xfrm>
            <a:off x="0" y="12700"/>
            <a:ext cx="12192000" cy="86051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4400" b="1" noProof="0" dirty="0">
                <a:latin typeface="+mn-lt"/>
              </a:rPr>
              <a:t>10 hurtige på 10 minutter</a:t>
            </a:r>
          </a:p>
        </p:txBody>
      </p:sp>
    </p:spTree>
    <p:extLst>
      <p:ext uri="{BB962C8B-B14F-4D97-AF65-F5344CB8AC3E}">
        <p14:creationId xmlns:p14="http://schemas.microsoft.com/office/powerpoint/2010/main" val="1632019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32D4B-FF28-3A2A-68EA-B2E512079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12A75-A5F4-63B4-08E3-2227821BE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6672" y="2058196"/>
            <a:ext cx="337916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 dirty="0">
                <a:solidFill>
                  <a:schemeClr val="bg1"/>
                </a:solidFill>
                <a:latin typeface="+mj-lt"/>
                <a:cs typeface="+mj-cs"/>
              </a:rPr>
              <a:t>Martin Heidegger </a:t>
            </a:r>
            <a:r>
              <a:rPr lang="en-US" sz="4400" b="0" dirty="0">
                <a:solidFill>
                  <a:schemeClr val="bg1"/>
                </a:solidFill>
                <a:latin typeface="+mj-lt"/>
                <a:cs typeface="+mj-cs"/>
              </a:rPr>
              <a:t>(1889-1976</a:t>
            </a:r>
            <a:r>
              <a:rPr lang="en-US" sz="4400" dirty="0">
                <a:solidFill>
                  <a:schemeClr val="bg1"/>
                </a:solidFill>
                <a:latin typeface="+mj-lt"/>
                <a:cs typeface="+mj-cs"/>
              </a:rPr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D321B6-5EA2-FA15-DB73-7FB4EF7DB1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7395" y="1029660"/>
            <a:ext cx="11540077" cy="5700323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da-DK" sz="2000" cap="none" dirty="0">
                <a:latin typeface="+mn-lt"/>
              </a:rPr>
              <a:t>Hvad er Dilthey’s begreb ”</a:t>
            </a:r>
            <a:r>
              <a:rPr lang="da-DK" sz="2000" i="1" cap="none" dirty="0">
                <a:latin typeface="+mn-lt"/>
              </a:rPr>
              <a:t>Erlebnis</a:t>
            </a:r>
            <a:r>
              <a:rPr lang="da-DK" sz="2000" cap="none" dirty="0">
                <a:latin typeface="+mn-lt"/>
              </a:rPr>
              <a:t>” – er det klassisk eller moderne hermeneutik?</a:t>
            </a:r>
            <a:endParaRPr lang="da-DK" sz="2000" cap="none" noProof="0" dirty="0">
              <a:latin typeface="+mn-lt"/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da-DK" sz="2000" i="1" dirty="0">
                <a:solidFill>
                  <a:srgbClr val="0000FF"/>
                </a:solidFill>
                <a:latin typeface="+mn-lt"/>
              </a:rPr>
              <a:t>Klassisk: Hvordan vi som mennesker oplever verden indefra den psykologisk (subjektive) dimension</a:t>
            </a:r>
            <a:endParaRPr lang="da-DK" sz="2000" i="1" noProof="0" dirty="0">
              <a:solidFill>
                <a:srgbClr val="0000FF"/>
              </a:solidFill>
              <a:latin typeface="+mn-lt"/>
            </a:endParaRPr>
          </a:p>
          <a:p>
            <a:pPr marL="457200" indent="-457200">
              <a:buFont typeface="+mj-lt"/>
              <a:buAutoNum type="arabicPeriod"/>
            </a:pPr>
            <a:r>
              <a:rPr lang="da-DK" sz="2000" cap="none" noProof="0" dirty="0">
                <a:latin typeface="+mn-lt"/>
              </a:rPr>
              <a:t>Forklar Dilthey’s udsagn: “Man as a fact prior to history and society is a fiction.”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da-DK" sz="2000" i="1" dirty="0">
                <a:solidFill>
                  <a:srgbClr val="0000FF"/>
                </a:solidFill>
                <a:latin typeface="+mn-lt"/>
              </a:rPr>
              <a:t>Mennesket kan kun forstås i historisk og social kontekst.</a:t>
            </a:r>
            <a:endParaRPr lang="da-DK" sz="2000" i="1" noProof="0" dirty="0">
              <a:solidFill>
                <a:srgbClr val="0000FF"/>
              </a:solidFill>
              <a:latin typeface="+mn-lt"/>
            </a:endParaRPr>
          </a:p>
          <a:p>
            <a:pPr marL="457200" indent="-457200">
              <a:buFont typeface="+mj-lt"/>
              <a:buAutoNum type="arabicPeriod"/>
            </a:pPr>
            <a:r>
              <a:rPr lang="da-DK" sz="2000" cap="none" dirty="0">
                <a:latin typeface="+mn-lt"/>
              </a:rPr>
              <a:t>Hvorfor taler man om den hermeneutiske cirkel som en spiral snarere end en lukket kreds?</a:t>
            </a:r>
            <a:endParaRPr lang="da-DK" sz="2000" cap="none" noProof="0" dirty="0">
              <a:latin typeface="+mn-lt"/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da-DK" sz="2000" i="1" dirty="0">
                <a:solidFill>
                  <a:srgbClr val="0000FF"/>
                </a:solidFill>
                <a:latin typeface="+mn-lt"/>
              </a:rPr>
              <a:t>Fordi forståelse/tolkning er kumulativ, ikke endelig – derfor en spiral, ikke en lukket cirkel.</a:t>
            </a:r>
            <a:endParaRPr lang="da-DK" sz="2000" i="1" noProof="0" dirty="0">
              <a:solidFill>
                <a:srgbClr val="0000FF"/>
              </a:solidFill>
              <a:latin typeface="+mn-lt"/>
            </a:endParaRPr>
          </a:p>
          <a:p>
            <a:pPr marL="457200" indent="-457200">
              <a:buFont typeface="+mj-lt"/>
              <a:buAutoNum type="arabicPeriod"/>
            </a:pPr>
            <a:r>
              <a:rPr lang="da-DK" sz="2000" cap="none" dirty="0">
                <a:latin typeface="+mn-lt"/>
              </a:rPr>
              <a:t>Hvor er objekt og subjekt placeret i klassiske hermeneutik og hvorfor?</a:t>
            </a:r>
            <a:endParaRPr lang="da-DK" sz="2000" cap="none" noProof="0" dirty="0">
              <a:latin typeface="+mn-lt"/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da-DK" sz="2000" i="1" dirty="0">
                <a:solidFill>
                  <a:srgbClr val="0000FF"/>
                </a:solidFill>
                <a:latin typeface="+mn-lt"/>
              </a:rPr>
              <a:t>Objekt er indenfor cirklen og subjekt er udenfor – </a:t>
            </a:r>
            <a:r>
              <a:rPr lang="da-DK" sz="2000" b="1" i="1" dirty="0">
                <a:solidFill>
                  <a:srgbClr val="FF0000"/>
                </a:solidFill>
                <a:latin typeface="+mn-lt"/>
              </a:rPr>
              <a:t>årsag:</a:t>
            </a:r>
            <a:r>
              <a:rPr lang="da-DK" sz="2000" i="1" dirty="0">
                <a:solidFill>
                  <a:srgbClr val="0000FF"/>
                </a:solidFill>
                <a:latin typeface="+mn-lt"/>
              </a:rPr>
              <a:t> Forståelse i klassisk hermeneutik er en metodisk proces, hvor fortolker genskaber forfatterens oprindelige intension/tanker og følelser. Fortolker er neutral og derfor udenfor cirklen.</a:t>
            </a:r>
            <a:endParaRPr lang="da-DK" sz="2000" i="1" noProof="0" dirty="0">
              <a:solidFill>
                <a:srgbClr val="0000FF"/>
              </a:solidFill>
              <a:latin typeface="+mn-lt"/>
            </a:endParaRPr>
          </a:p>
          <a:p>
            <a:pPr marL="457200" indent="-457200">
              <a:buFont typeface="+mj-lt"/>
              <a:buAutoNum type="arabicPeriod"/>
            </a:pPr>
            <a:r>
              <a:rPr lang="da-DK" sz="2000" cap="none" dirty="0">
                <a:latin typeface="+mn-lt"/>
              </a:rPr>
              <a:t>Hvor er objekt og subjekt placeret i moderne hermeneutik og hvorfor?</a:t>
            </a:r>
            <a:endParaRPr lang="da-DK" sz="2000" cap="none" noProof="0" dirty="0">
              <a:latin typeface="+mn-lt"/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da-DK" sz="2000" i="1" noProof="0" dirty="0">
                <a:solidFill>
                  <a:srgbClr val="0000FF"/>
                </a:solidFill>
                <a:latin typeface="+mn-lt"/>
              </a:rPr>
              <a:t>Både objekt og subjekt er indenfor cirklen – </a:t>
            </a:r>
            <a:r>
              <a:rPr lang="da-DK" sz="2000" b="1" i="1" noProof="0" dirty="0">
                <a:solidFill>
                  <a:srgbClr val="FF0000"/>
                </a:solidFill>
                <a:latin typeface="+mn-lt"/>
              </a:rPr>
              <a:t>årsag:</a:t>
            </a:r>
            <a:r>
              <a:rPr lang="da-DK" sz="2000" i="1" noProof="0" dirty="0">
                <a:solidFill>
                  <a:srgbClr val="0000FF"/>
                </a:solidFill>
                <a:latin typeface="+mn-lt"/>
              </a:rPr>
              <a:t> Forståelse i moderne hermeneutik er en </a:t>
            </a:r>
            <a:r>
              <a:rPr lang="da-DK" sz="2000" i="1" noProof="0" dirty="0">
                <a:solidFill>
                  <a:srgbClr val="00B050"/>
                </a:solidFill>
                <a:latin typeface="+mn-lt"/>
              </a:rPr>
              <a:t>dialogisk</a:t>
            </a:r>
            <a:r>
              <a:rPr lang="da-DK" sz="2000" i="1" noProof="0" dirty="0">
                <a:solidFill>
                  <a:srgbClr val="0000FF"/>
                </a:solidFill>
                <a:latin typeface="+mn-lt"/>
              </a:rPr>
              <a:t> </a:t>
            </a:r>
            <a:r>
              <a:rPr lang="da-DK" sz="2000" i="1" noProof="0" dirty="0">
                <a:solidFill>
                  <a:srgbClr val="00B050"/>
                </a:solidFill>
                <a:latin typeface="+mn-lt"/>
              </a:rPr>
              <a:t>proces</a:t>
            </a:r>
            <a:r>
              <a:rPr lang="da-DK" sz="2000" i="1" noProof="0" dirty="0">
                <a:solidFill>
                  <a:srgbClr val="0000FF"/>
                </a:solidFill>
                <a:latin typeface="+mn-lt"/>
              </a:rPr>
              <a:t>, hvor både teksten/informantens horisont og fortolkerens horisont smelter sammen!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36CA582F-CE1A-E356-2216-88CDF3DAB237}"/>
              </a:ext>
            </a:extLst>
          </p:cNvPr>
          <p:cNvSpPr txBox="1">
            <a:spLocks/>
          </p:cNvSpPr>
          <p:nvPr/>
        </p:nvSpPr>
        <p:spPr>
          <a:xfrm>
            <a:off x="0" y="12700"/>
            <a:ext cx="12192000" cy="86051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4400" b="1" noProof="0" dirty="0">
                <a:latin typeface="+mn-lt"/>
              </a:rPr>
              <a:t>10 hurtige på 10 minutter – </a:t>
            </a:r>
            <a:r>
              <a:rPr lang="da-DK" sz="4400" b="1" noProof="0" dirty="0">
                <a:solidFill>
                  <a:srgbClr val="FF0000"/>
                </a:solidFill>
                <a:latin typeface="+mn-lt"/>
              </a:rPr>
              <a:t>LØSNING</a:t>
            </a:r>
            <a:endParaRPr lang="da-DK" sz="4400" b="1" noProof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07726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16B84-2F18-F6D3-8423-C09F7799A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9ABBE-5829-3E8C-ECA1-825545423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6672" y="2058196"/>
            <a:ext cx="337916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 dirty="0">
                <a:solidFill>
                  <a:schemeClr val="bg1"/>
                </a:solidFill>
                <a:latin typeface="+mj-lt"/>
                <a:cs typeface="+mj-cs"/>
              </a:rPr>
              <a:t>Martin Heidegger </a:t>
            </a:r>
            <a:r>
              <a:rPr lang="en-US" sz="4400" b="0" dirty="0">
                <a:solidFill>
                  <a:schemeClr val="bg1"/>
                </a:solidFill>
                <a:latin typeface="+mj-lt"/>
                <a:cs typeface="+mj-cs"/>
              </a:rPr>
              <a:t>(1889-1976</a:t>
            </a:r>
            <a:r>
              <a:rPr lang="en-US" sz="4400" dirty="0">
                <a:solidFill>
                  <a:schemeClr val="bg1"/>
                </a:solidFill>
                <a:latin typeface="+mj-lt"/>
                <a:cs typeface="+mj-cs"/>
              </a:rPr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8A48A2-AF25-0928-A073-4FD5F43103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7395" y="1029660"/>
            <a:ext cx="11540077" cy="5700323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 startAt="6"/>
            </a:pPr>
            <a:r>
              <a:rPr lang="da-DK" sz="2000" cap="none" dirty="0">
                <a:latin typeface="+mn-lt"/>
              </a:rPr>
              <a:t>Hvad betegner objekt og subjekt i hermeneutikken?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a-DK" sz="2000" i="1" cap="none" dirty="0">
                <a:solidFill>
                  <a:srgbClr val="0000FF"/>
                </a:solidFill>
                <a:latin typeface="+mn-lt"/>
              </a:rPr>
              <a:t>Objekt – klassisk:</a:t>
            </a:r>
            <a:r>
              <a:rPr lang="da-DK" sz="2000" b="0" i="1" cap="none" dirty="0">
                <a:solidFill>
                  <a:srgbClr val="0000FF"/>
                </a:solidFill>
                <a:latin typeface="+mn-lt"/>
              </a:rPr>
              <a:t> Tekst, </a:t>
            </a:r>
            <a:r>
              <a:rPr lang="da-DK" sz="2000" i="1" cap="none" dirty="0">
                <a:solidFill>
                  <a:srgbClr val="0000FF"/>
                </a:solidFill>
                <a:latin typeface="+mn-lt"/>
              </a:rPr>
              <a:t>Objekt – moderne:</a:t>
            </a:r>
            <a:r>
              <a:rPr lang="da-DK" sz="2000" b="0" i="1" cap="none" dirty="0">
                <a:solidFill>
                  <a:srgbClr val="0000FF"/>
                </a:solidFill>
                <a:latin typeface="+mn-lt"/>
              </a:rPr>
              <a:t> Tekst/dialog, </a:t>
            </a:r>
            <a:r>
              <a:rPr lang="da-DK" sz="2000" i="1" cap="none" dirty="0">
                <a:solidFill>
                  <a:srgbClr val="0000FF"/>
                </a:solidFill>
                <a:latin typeface="+mn-lt"/>
              </a:rPr>
              <a:t>Subjekt – klassisk/moderne:</a:t>
            </a:r>
            <a:r>
              <a:rPr lang="da-DK" sz="2000" b="0" i="1" cap="none" dirty="0">
                <a:solidFill>
                  <a:srgbClr val="0000FF"/>
                </a:solidFill>
                <a:latin typeface="+mn-lt"/>
              </a:rPr>
              <a:t> Fortolker/læser</a:t>
            </a:r>
          </a:p>
          <a:p>
            <a:pPr marL="457200" indent="-457200">
              <a:buFont typeface="+mj-lt"/>
              <a:buAutoNum type="arabicPeriod" startAt="7"/>
            </a:pPr>
            <a:r>
              <a:rPr lang="da-DK" sz="2000" cap="none" dirty="0">
                <a:latin typeface="+mn-lt"/>
              </a:rPr>
              <a:t>Hvad sagde Gadamer om fordomme/forforståelse i moderne hermeneutik?</a:t>
            </a:r>
            <a:endParaRPr lang="da-DK" sz="2000" cap="none" noProof="0" dirty="0">
              <a:latin typeface="+mn-lt"/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da-DK" sz="2000" i="1" dirty="0">
                <a:solidFill>
                  <a:srgbClr val="00B050"/>
                </a:solidFill>
                <a:latin typeface="+mn-lt"/>
              </a:rPr>
              <a:t>Uundgåelige</a:t>
            </a:r>
            <a:r>
              <a:rPr lang="da-DK" sz="2000" i="1" dirty="0">
                <a:solidFill>
                  <a:srgbClr val="0000FF"/>
                </a:solidFill>
                <a:latin typeface="+mn-lt"/>
              </a:rPr>
              <a:t> og </a:t>
            </a:r>
            <a:r>
              <a:rPr lang="da-DK" sz="2000" i="1" dirty="0">
                <a:solidFill>
                  <a:srgbClr val="00B050"/>
                </a:solidFill>
                <a:latin typeface="+mn-lt"/>
              </a:rPr>
              <a:t>nødvendige</a:t>
            </a:r>
            <a:r>
              <a:rPr lang="da-DK" sz="2000" i="1" dirty="0">
                <a:solidFill>
                  <a:srgbClr val="0000FF"/>
                </a:solidFill>
                <a:latin typeface="+mn-lt"/>
              </a:rPr>
              <a:t> udgangspunkter for forståelse.</a:t>
            </a:r>
            <a:endParaRPr lang="da-DK" sz="2000" i="1" noProof="0" dirty="0">
              <a:solidFill>
                <a:srgbClr val="0000FF"/>
              </a:solidFill>
              <a:latin typeface="+mn-lt"/>
            </a:endParaRPr>
          </a:p>
          <a:p>
            <a:pPr marL="457200" indent="-457200">
              <a:buFont typeface="+mj-lt"/>
              <a:buAutoNum type="arabicPeriod" startAt="7"/>
            </a:pPr>
            <a:r>
              <a:rPr lang="da-DK" sz="2000" cap="none" dirty="0">
                <a:latin typeface="+mn-lt"/>
              </a:rPr>
              <a:t>Hvornår opnås den fulde sande forståelse iht. den morderne hermeneutik?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da-DK" sz="2000" i="1" dirty="0">
                <a:solidFill>
                  <a:srgbClr val="0000FF"/>
                </a:solidFill>
                <a:latin typeface="+mn-lt"/>
              </a:rPr>
              <a:t>Aldrig – forståelsesprocessen er en uendelig spiral, hvor forståelsen øges og øges, men uden at nå den fulde forståelse.</a:t>
            </a:r>
          </a:p>
          <a:p>
            <a:pPr marL="457200" indent="-457200">
              <a:buFont typeface="+mj-lt"/>
              <a:buAutoNum type="arabicPeriod" startAt="7"/>
            </a:pPr>
            <a:r>
              <a:rPr lang="da-DK" sz="2000" cap="none" dirty="0">
                <a:latin typeface="+mn-lt"/>
              </a:rPr>
              <a:t>Hvad betyder Gadamers pointe om “åbenhed for tekstens fremmedhed”?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da-DK" sz="2000" i="1" dirty="0">
                <a:solidFill>
                  <a:srgbClr val="0000FF"/>
                </a:solidFill>
                <a:latin typeface="+mn-lt"/>
              </a:rPr>
              <a:t>Åbenhed for fremmedhed = villighed til at lade teksten/dialogen ændre ens egen forståelse.</a:t>
            </a:r>
          </a:p>
          <a:p>
            <a:pPr marL="457200" indent="-457200">
              <a:buFont typeface="+mj-lt"/>
              <a:buAutoNum type="arabicPeriod" startAt="7"/>
            </a:pPr>
            <a:r>
              <a:rPr lang="da-DK" sz="2000" cap="none" dirty="0">
                <a:latin typeface="+mn-lt"/>
              </a:rPr>
              <a:t>Hvordan udfordrer Gadamer’s begreb om “horisontsammensmeltning” den klassiske forestilling om, at man kan rekonstruere forfatterens oprindelige mening?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da-DK" sz="2000" i="1" dirty="0">
                <a:solidFill>
                  <a:srgbClr val="0000FF"/>
                </a:solidFill>
                <a:latin typeface="+mn-lt"/>
              </a:rPr>
              <a:t>Hvor klassisk hermeneutik søger fortidens mening, ser Gadamer forståelse som en historisk proces, hvor ny mening hele tiden skabes.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EE25F34D-44DF-2D0D-0D09-D43FC3F34132}"/>
              </a:ext>
            </a:extLst>
          </p:cNvPr>
          <p:cNvSpPr txBox="1">
            <a:spLocks/>
          </p:cNvSpPr>
          <p:nvPr/>
        </p:nvSpPr>
        <p:spPr>
          <a:xfrm>
            <a:off x="0" y="12700"/>
            <a:ext cx="12192000" cy="86051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4400" b="1" noProof="0" dirty="0">
                <a:latin typeface="+mn-lt"/>
              </a:rPr>
              <a:t>10 hurtige på 10 minutter</a:t>
            </a:r>
            <a:r>
              <a:rPr lang="da-DK" sz="4400" b="1" dirty="0"/>
              <a:t> </a:t>
            </a:r>
            <a:r>
              <a:rPr lang="da-DK" sz="4400" b="1" dirty="0">
                <a:latin typeface="+mn-lt"/>
              </a:rPr>
              <a:t>– </a:t>
            </a:r>
            <a:r>
              <a:rPr lang="da-DK" sz="4400" b="1" dirty="0">
                <a:solidFill>
                  <a:srgbClr val="FF0000"/>
                </a:solidFill>
                <a:latin typeface="+mn-lt"/>
              </a:rPr>
              <a:t>LØSNING</a:t>
            </a:r>
            <a:endParaRPr lang="da-DK" sz="4400" b="1" noProof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69846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1432</TotalTime>
  <Words>840</Words>
  <Application>Microsoft Office PowerPoint</Application>
  <PresentationFormat>Widescreen</PresentationFormat>
  <Paragraphs>62</Paragraphs>
  <Slides>6</Slides>
  <Notes>5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Verdana</vt:lpstr>
      <vt:lpstr>Office-tema</vt:lpstr>
      <vt:lpstr>PowerPoint-præsentation</vt:lpstr>
      <vt:lpstr>PowerPoint-præsentation</vt:lpstr>
      <vt:lpstr>PowerPoint-præsentation</vt:lpstr>
      <vt:lpstr>Martin Heidegger (1889-1976)</vt:lpstr>
      <vt:lpstr>Martin Heidegger (1889-1976)</vt:lpstr>
      <vt:lpstr>Martin Heidegger (1889-1976)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Saifullah Jabbar</dc:creator>
  <cp:lastModifiedBy>Saifullah Jabbar</cp:lastModifiedBy>
  <cp:revision>11</cp:revision>
  <dcterms:created xsi:type="dcterms:W3CDTF">2026-02-15T07:26:46Z</dcterms:created>
  <dcterms:modified xsi:type="dcterms:W3CDTF">2026-02-16T08:26:32Z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2026-02-15T15:35:41Z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9aafd452-b819-40a3-a400-f94ff33b0125</vt:lpwstr>
  </property>
  <property fmtid="{D5CDD505-2E9C-101B-9397-08002B2CF9AE}" pid="7" name="MSIP_Label_defa4170-0d19-0005-0004-bc88714345d2_ActionId">
    <vt:lpwstr>d4ce6c8a-41d1-44ac-bd55-cfc3343f74a6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